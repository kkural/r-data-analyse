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9"/>
  </p:notesMasterIdLst>
  <p:handoutMasterIdLst>
    <p:handoutMasterId r:id="rId50"/>
  </p:handoutMasterIdLst>
  <p:sldIdLst>
    <p:sldId id="259" r:id="rId5"/>
    <p:sldId id="1989" r:id="rId6"/>
    <p:sldId id="2115" r:id="rId7"/>
    <p:sldId id="2024" r:id="rId8"/>
    <p:sldId id="2025" r:id="rId9"/>
    <p:sldId id="2145" r:id="rId10"/>
    <p:sldId id="2130" r:id="rId11"/>
    <p:sldId id="2132" r:id="rId12"/>
    <p:sldId id="2141" r:id="rId13"/>
    <p:sldId id="2028" r:id="rId14"/>
    <p:sldId id="2029" r:id="rId15"/>
    <p:sldId id="2147" r:id="rId16"/>
    <p:sldId id="2110" r:id="rId17"/>
    <p:sldId id="2133" r:id="rId18"/>
    <p:sldId id="1659" r:id="rId19"/>
    <p:sldId id="1401" r:id="rId20"/>
    <p:sldId id="1660" r:id="rId21"/>
    <p:sldId id="1752" r:id="rId22"/>
    <p:sldId id="1664" r:id="rId23"/>
    <p:sldId id="1753" r:id="rId24"/>
    <p:sldId id="1754" r:id="rId25"/>
    <p:sldId id="1757" r:id="rId26"/>
    <p:sldId id="1758" r:id="rId27"/>
    <p:sldId id="2112" r:id="rId28"/>
    <p:sldId id="2134" r:id="rId29"/>
    <p:sldId id="2030" r:id="rId30"/>
    <p:sldId id="2135" r:id="rId31"/>
    <p:sldId id="2032" r:id="rId32"/>
    <p:sldId id="2136" r:id="rId33"/>
    <p:sldId id="2033" r:id="rId34"/>
    <p:sldId id="2137" r:id="rId35"/>
    <p:sldId id="2138" r:id="rId36"/>
    <p:sldId id="2139" r:id="rId37"/>
    <p:sldId id="2035" r:id="rId38"/>
    <p:sldId id="2036" r:id="rId39"/>
    <p:sldId id="2037" r:id="rId40"/>
    <p:sldId id="2038" r:id="rId41"/>
    <p:sldId id="2140" r:id="rId42"/>
    <p:sldId id="2039" r:id="rId43"/>
    <p:sldId id="2040" r:id="rId44"/>
    <p:sldId id="2150" r:id="rId45"/>
    <p:sldId id="2151" r:id="rId46"/>
    <p:sldId id="2041" r:id="rId47"/>
    <p:sldId id="2114" r:id="rId48"/>
  </p:sldIdLst>
  <p:sldSz cx="17338675" cy="9753600"/>
  <p:notesSz cx="6797675" cy="9926638"/>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ardsectie" id="{EA587DEF-9784-4EBA-B73E-C86E91F0D1AA}">
          <p14:sldIdLst>
            <p14:sldId id="259"/>
            <p14:sldId id="1989"/>
            <p14:sldId id="2115"/>
            <p14:sldId id="2024"/>
            <p14:sldId id="2025"/>
            <p14:sldId id="2145"/>
            <p14:sldId id="2130"/>
            <p14:sldId id="2132"/>
            <p14:sldId id="2141"/>
            <p14:sldId id="2028"/>
            <p14:sldId id="2029"/>
            <p14:sldId id="2147"/>
            <p14:sldId id="2110"/>
            <p14:sldId id="2133"/>
            <p14:sldId id="1659"/>
            <p14:sldId id="1401"/>
            <p14:sldId id="1660"/>
            <p14:sldId id="1752"/>
            <p14:sldId id="1664"/>
            <p14:sldId id="1753"/>
            <p14:sldId id="1754"/>
            <p14:sldId id="1757"/>
            <p14:sldId id="1758"/>
            <p14:sldId id="2112"/>
            <p14:sldId id="2134"/>
            <p14:sldId id="2030"/>
            <p14:sldId id="2135"/>
            <p14:sldId id="2032"/>
            <p14:sldId id="2136"/>
            <p14:sldId id="2033"/>
            <p14:sldId id="2137"/>
            <p14:sldId id="2138"/>
            <p14:sldId id="2139"/>
            <p14:sldId id="2035"/>
            <p14:sldId id="2036"/>
            <p14:sldId id="2037"/>
            <p14:sldId id="2038"/>
            <p14:sldId id="2140"/>
            <p14:sldId id="2039"/>
            <p14:sldId id="2040"/>
            <p14:sldId id="2150"/>
            <p14:sldId id="2151"/>
            <p14:sldId id="2041"/>
            <p14:sldId id="2114"/>
          </p14:sldIdLst>
        </p14:section>
      </p14:sectionLst>
    </p:ext>
    <p:ext uri="{EFAFB233-063F-42B5-8137-9DF3F51BA10A}">
      <p15:sldGuideLst xmlns:p15="http://schemas.microsoft.com/office/powerpoint/2012/main">
        <p15:guide id="1" orient="horz" pos="3072" userDrawn="1">
          <p15:clr>
            <a:srgbClr val="A4A3A4"/>
          </p15:clr>
        </p15:guide>
        <p15:guide id="2" pos="54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4E28"/>
    <a:srgbClr val="1E64C8"/>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54171" autoAdjust="0"/>
  </p:normalViewPr>
  <p:slideViewPr>
    <p:cSldViewPr snapToGrid="0" showGuides="1">
      <p:cViewPr varScale="1">
        <p:scale>
          <a:sx n="49" d="100"/>
          <a:sy n="49" d="100"/>
        </p:scale>
        <p:origin x="2244" y="60"/>
      </p:cViewPr>
      <p:guideLst>
        <p:guide orient="horz" pos="3072"/>
        <p:guide pos="546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247" cy="498328"/>
          </a:xfrm>
          <a:prstGeom prst="rect">
            <a:avLst/>
          </a:prstGeom>
        </p:spPr>
        <p:txBody>
          <a:bodyPr vert="horz" lIns="92108" tIns="46054" rIns="92108" bIns="46054" rtlCol="0"/>
          <a:lstStyle>
            <a:lvl1pPr algn="l">
              <a:defRPr sz="1200"/>
            </a:lvl1pPr>
          </a:lstStyle>
          <a:p>
            <a:endParaRPr lang="nl-BE"/>
          </a:p>
        </p:txBody>
      </p:sp>
      <p:sp>
        <p:nvSpPr>
          <p:cNvPr id="3" name="Tijdelijke aanduiding voor datum 2"/>
          <p:cNvSpPr>
            <a:spLocks noGrp="1"/>
          </p:cNvSpPr>
          <p:nvPr>
            <p:ph type="dt" sz="quarter" idx="1"/>
          </p:nvPr>
        </p:nvSpPr>
        <p:spPr>
          <a:xfrm>
            <a:off x="3849826" y="0"/>
            <a:ext cx="2946246" cy="498328"/>
          </a:xfrm>
          <a:prstGeom prst="rect">
            <a:avLst/>
          </a:prstGeom>
        </p:spPr>
        <p:txBody>
          <a:bodyPr vert="horz" lIns="92108" tIns="46054" rIns="92108" bIns="46054" rtlCol="0"/>
          <a:lstStyle>
            <a:lvl1pPr algn="r">
              <a:defRPr sz="1200"/>
            </a:lvl1pPr>
          </a:lstStyle>
          <a:p>
            <a:fld id="{DB5F8730-81BC-4B6A-B3A2-55D384A31E58}" type="datetimeFigureOut">
              <a:rPr lang="nl-BE" smtClean="0"/>
              <a:t>10/12/2024</a:t>
            </a:fld>
            <a:endParaRPr lang="nl-BE"/>
          </a:p>
        </p:txBody>
      </p:sp>
      <p:sp>
        <p:nvSpPr>
          <p:cNvPr id="4" name="Tijdelijke aanduiding voor voettekst 3"/>
          <p:cNvSpPr>
            <a:spLocks noGrp="1"/>
          </p:cNvSpPr>
          <p:nvPr>
            <p:ph type="ftr" sz="quarter" idx="2"/>
          </p:nvPr>
        </p:nvSpPr>
        <p:spPr>
          <a:xfrm>
            <a:off x="0" y="9428310"/>
            <a:ext cx="2946247" cy="498328"/>
          </a:xfrm>
          <a:prstGeom prst="rect">
            <a:avLst/>
          </a:prstGeom>
        </p:spPr>
        <p:txBody>
          <a:bodyPr vert="horz" lIns="92108" tIns="46054" rIns="92108" bIns="46054" rtlCol="0" anchor="b"/>
          <a:lstStyle>
            <a:lvl1pPr algn="l">
              <a:defRPr sz="1200"/>
            </a:lvl1pPr>
          </a:lstStyle>
          <a:p>
            <a:endParaRPr lang="nl-BE"/>
          </a:p>
        </p:txBody>
      </p:sp>
      <p:sp>
        <p:nvSpPr>
          <p:cNvPr id="5" name="Tijdelijke aanduiding voor dianummer 4"/>
          <p:cNvSpPr>
            <a:spLocks noGrp="1"/>
          </p:cNvSpPr>
          <p:nvPr>
            <p:ph type="sldNum" sz="quarter" idx="3"/>
          </p:nvPr>
        </p:nvSpPr>
        <p:spPr>
          <a:xfrm>
            <a:off x="3849826" y="9428310"/>
            <a:ext cx="2946246" cy="498328"/>
          </a:xfrm>
          <a:prstGeom prst="rect">
            <a:avLst/>
          </a:prstGeom>
        </p:spPr>
        <p:txBody>
          <a:bodyPr vert="horz" lIns="92108" tIns="46054" rIns="92108" bIns="46054" rtlCol="0" anchor="b"/>
          <a:lstStyle>
            <a:lvl1pPr algn="r">
              <a:defRPr sz="1200"/>
            </a:lvl1pPr>
          </a:lstStyle>
          <a:p>
            <a:fld id="{9DB5A897-5CBA-4CC6-B34B-29A8CAFE8029}" type="slidenum">
              <a:rPr lang="nl-BE" smtClean="0"/>
              <a:t>‹nr.›</a:t>
            </a:fld>
            <a:endParaRPr lang="nl-BE"/>
          </a:p>
        </p:txBody>
      </p:sp>
    </p:spTree>
    <p:extLst>
      <p:ext uri="{BB962C8B-B14F-4D97-AF65-F5344CB8AC3E}">
        <p14:creationId xmlns:p14="http://schemas.microsoft.com/office/powerpoint/2010/main" val="2345326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60" cy="498056"/>
          </a:xfrm>
          <a:prstGeom prst="rect">
            <a:avLst/>
          </a:prstGeom>
        </p:spPr>
        <p:txBody>
          <a:bodyPr vert="horz" lIns="92108" tIns="46054" rIns="92108" bIns="46054" rtlCol="0"/>
          <a:lstStyle>
            <a:lvl1pPr algn="l">
              <a:defRPr sz="1200"/>
            </a:lvl1pPr>
          </a:lstStyle>
          <a:p>
            <a:endParaRPr lang="en-GB"/>
          </a:p>
        </p:txBody>
      </p:sp>
      <p:sp>
        <p:nvSpPr>
          <p:cNvPr id="3" name="Date Placeholder 2"/>
          <p:cNvSpPr>
            <a:spLocks noGrp="1"/>
          </p:cNvSpPr>
          <p:nvPr>
            <p:ph type="dt" idx="1"/>
          </p:nvPr>
        </p:nvSpPr>
        <p:spPr>
          <a:xfrm>
            <a:off x="3850442" y="0"/>
            <a:ext cx="2945660" cy="498056"/>
          </a:xfrm>
          <a:prstGeom prst="rect">
            <a:avLst/>
          </a:prstGeom>
        </p:spPr>
        <p:txBody>
          <a:bodyPr vert="horz" lIns="92108" tIns="46054" rIns="92108" bIns="46054" rtlCol="0"/>
          <a:lstStyle>
            <a:lvl1pPr algn="r">
              <a:defRPr sz="1200"/>
            </a:lvl1pPr>
          </a:lstStyle>
          <a:p>
            <a:fld id="{86680C0C-85DF-417F-8238-DB0D15743621}" type="datetimeFigureOut">
              <a:rPr lang="en-GB" smtClean="0"/>
              <a:t>10/12/2024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2108" tIns="46054" rIns="92108" bIns="46054" rtlCol="0" anchor="ctr"/>
          <a:lstStyle/>
          <a:p>
            <a:endParaRPr lang="en-GB"/>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2108" tIns="46054" rIns="92108" bIns="460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60" cy="498055"/>
          </a:xfrm>
          <a:prstGeom prst="rect">
            <a:avLst/>
          </a:prstGeom>
        </p:spPr>
        <p:txBody>
          <a:bodyPr vert="horz" lIns="92108" tIns="46054" rIns="92108" bIns="46054" rtlCol="0" anchor="b"/>
          <a:lstStyle>
            <a:lvl1pPr algn="l">
              <a:defRPr sz="1200"/>
            </a:lvl1pPr>
          </a:lstStyle>
          <a:p>
            <a:endParaRPr lang="en-GB"/>
          </a:p>
        </p:txBody>
      </p:sp>
      <p:sp>
        <p:nvSpPr>
          <p:cNvPr id="7" name="Slide Number Placeholder 6"/>
          <p:cNvSpPr>
            <a:spLocks noGrp="1"/>
          </p:cNvSpPr>
          <p:nvPr>
            <p:ph type="sldNum" sz="quarter" idx="5"/>
          </p:nvPr>
        </p:nvSpPr>
        <p:spPr>
          <a:xfrm>
            <a:off x="3850442" y="9428584"/>
            <a:ext cx="2945660" cy="498055"/>
          </a:xfrm>
          <a:prstGeom prst="rect">
            <a:avLst/>
          </a:prstGeom>
        </p:spPr>
        <p:txBody>
          <a:bodyPr vert="horz" lIns="92108" tIns="46054" rIns="92108" bIns="46054" rtlCol="0" anchor="b"/>
          <a:lstStyle>
            <a:lvl1pPr algn="r">
              <a:defRPr sz="1200"/>
            </a:lvl1pPr>
          </a:lstStyle>
          <a:p>
            <a:fld id="{539A0A48-EDB1-4AFE-B1B7-10CE2A416496}" type="slidenum">
              <a:rPr lang="en-GB" smtClean="0"/>
              <a:t>‹nr.›</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a:t>
            </a:fld>
            <a:endParaRPr lang="en-GB"/>
          </a:p>
        </p:txBody>
      </p:sp>
    </p:spTree>
    <p:extLst>
      <p:ext uri="{BB962C8B-B14F-4D97-AF65-F5344CB8AC3E}">
        <p14:creationId xmlns:p14="http://schemas.microsoft.com/office/powerpoint/2010/main" val="2154363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2</a:t>
            </a:fld>
            <a:endParaRPr lang="en-GB"/>
          </a:p>
        </p:txBody>
      </p:sp>
    </p:spTree>
    <p:extLst>
      <p:ext uri="{BB962C8B-B14F-4D97-AF65-F5344CB8AC3E}">
        <p14:creationId xmlns:p14="http://schemas.microsoft.com/office/powerpoint/2010/main" val="428089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3</a:t>
            </a:fld>
            <a:endParaRPr lang="en-GB"/>
          </a:p>
        </p:txBody>
      </p:sp>
    </p:spTree>
    <p:extLst>
      <p:ext uri="{BB962C8B-B14F-4D97-AF65-F5344CB8AC3E}">
        <p14:creationId xmlns:p14="http://schemas.microsoft.com/office/powerpoint/2010/main" val="3414655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a:t>
            </a:fld>
            <a:endParaRPr lang="en-GB"/>
          </a:p>
        </p:txBody>
      </p:sp>
    </p:spTree>
    <p:extLst>
      <p:ext uri="{BB962C8B-B14F-4D97-AF65-F5344CB8AC3E}">
        <p14:creationId xmlns:p14="http://schemas.microsoft.com/office/powerpoint/2010/main" val="3898009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a:t>
            </a:fld>
            <a:endParaRPr lang="en-GB"/>
          </a:p>
        </p:txBody>
      </p:sp>
    </p:spTree>
    <p:extLst>
      <p:ext uri="{BB962C8B-B14F-4D97-AF65-F5344CB8AC3E}">
        <p14:creationId xmlns:p14="http://schemas.microsoft.com/office/powerpoint/2010/main" val="2674621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6</a:t>
            </a:fld>
            <a:endParaRPr lang="en-GB"/>
          </a:p>
        </p:txBody>
      </p:sp>
    </p:spTree>
    <p:extLst>
      <p:ext uri="{BB962C8B-B14F-4D97-AF65-F5344CB8AC3E}">
        <p14:creationId xmlns:p14="http://schemas.microsoft.com/office/powerpoint/2010/main" val="3065152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7</a:t>
            </a:fld>
            <a:endParaRPr lang="en-GB"/>
          </a:p>
        </p:txBody>
      </p:sp>
    </p:spTree>
    <p:extLst>
      <p:ext uri="{BB962C8B-B14F-4D97-AF65-F5344CB8AC3E}">
        <p14:creationId xmlns:p14="http://schemas.microsoft.com/office/powerpoint/2010/main" val="3299819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8</a:t>
            </a:fld>
            <a:endParaRPr lang="en-GB"/>
          </a:p>
        </p:txBody>
      </p:sp>
    </p:spTree>
    <p:extLst>
      <p:ext uri="{BB962C8B-B14F-4D97-AF65-F5344CB8AC3E}">
        <p14:creationId xmlns:p14="http://schemas.microsoft.com/office/powerpoint/2010/main" val="3841744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9</a:t>
            </a:fld>
            <a:endParaRPr lang="en-GB"/>
          </a:p>
        </p:txBody>
      </p:sp>
    </p:spTree>
    <p:extLst>
      <p:ext uri="{BB962C8B-B14F-4D97-AF65-F5344CB8AC3E}">
        <p14:creationId xmlns:p14="http://schemas.microsoft.com/office/powerpoint/2010/main" val="2013794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10</a:t>
            </a:fld>
            <a:endParaRPr lang="en-GB"/>
          </a:p>
        </p:txBody>
      </p:sp>
    </p:spTree>
    <p:extLst>
      <p:ext uri="{BB962C8B-B14F-4D97-AF65-F5344CB8AC3E}">
        <p14:creationId xmlns:p14="http://schemas.microsoft.com/office/powerpoint/2010/main" val="158659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11</a:t>
            </a:fld>
            <a:endParaRPr lang="en-GB"/>
          </a:p>
        </p:txBody>
      </p:sp>
    </p:spTree>
    <p:extLst>
      <p:ext uri="{BB962C8B-B14F-4D97-AF65-F5344CB8AC3E}">
        <p14:creationId xmlns:p14="http://schemas.microsoft.com/office/powerpoint/2010/main" val="2235581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12</a:t>
            </a:fld>
            <a:endParaRPr lang="en-GB"/>
          </a:p>
        </p:txBody>
      </p:sp>
    </p:spTree>
    <p:extLst>
      <p:ext uri="{BB962C8B-B14F-4D97-AF65-F5344CB8AC3E}">
        <p14:creationId xmlns:p14="http://schemas.microsoft.com/office/powerpoint/2010/main" val="3688197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13</a:t>
            </a:fld>
            <a:endParaRPr lang="en-GB"/>
          </a:p>
        </p:txBody>
      </p:sp>
    </p:spTree>
    <p:extLst>
      <p:ext uri="{BB962C8B-B14F-4D97-AF65-F5344CB8AC3E}">
        <p14:creationId xmlns:p14="http://schemas.microsoft.com/office/powerpoint/2010/main" val="2483940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14</a:t>
            </a:fld>
            <a:endParaRPr lang="en-GB"/>
          </a:p>
        </p:txBody>
      </p:sp>
    </p:spTree>
    <p:extLst>
      <p:ext uri="{BB962C8B-B14F-4D97-AF65-F5344CB8AC3E}">
        <p14:creationId xmlns:p14="http://schemas.microsoft.com/office/powerpoint/2010/main" val="410803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15</a:t>
            </a:fld>
            <a:endParaRPr lang="en-GB"/>
          </a:p>
        </p:txBody>
      </p:sp>
    </p:spTree>
    <p:extLst>
      <p:ext uri="{BB962C8B-B14F-4D97-AF65-F5344CB8AC3E}">
        <p14:creationId xmlns:p14="http://schemas.microsoft.com/office/powerpoint/2010/main" val="2045492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16</a:t>
            </a:fld>
            <a:endParaRPr lang="en-GB"/>
          </a:p>
        </p:txBody>
      </p:sp>
    </p:spTree>
    <p:extLst>
      <p:ext uri="{BB962C8B-B14F-4D97-AF65-F5344CB8AC3E}">
        <p14:creationId xmlns:p14="http://schemas.microsoft.com/office/powerpoint/2010/main" val="473524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17</a:t>
            </a:fld>
            <a:endParaRPr lang="en-GB"/>
          </a:p>
        </p:txBody>
      </p:sp>
    </p:spTree>
    <p:extLst>
      <p:ext uri="{BB962C8B-B14F-4D97-AF65-F5344CB8AC3E}">
        <p14:creationId xmlns:p14="http://schemas.microsoft.com/office/powerpoint/2010/main" val="3235301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18</a:t>
            </a:fld>
            <a:endParaRPr lang="en-GB"/>
          </a:p>
        </p:txBody>
      </p:sp>
    </p:spTree>
    <p:extLst>
      <p:ext uri="{BB962C8B-B14F-4D97-AF65-F5344CB8AC3E}">
        <p14:creationId xmlns:p14="http://schemas.microsoft.com/office/powerpoint/2010/main" val="1762185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19</a:t>
            </a:fld>
            <a:endParaRPr lang="en-GB"/>
          </a:p>
        </p:txBody>
      </p:sp>
    </p:spTree>
    <p:extLst>
      <p:ext uri="{BB962C8B-B14F-4D97-AF65-F5344CB8AC3E}">
        <p14:creationId xmlns:p14="http://schemas.microsoft.com/office/powerpoint/2010/main" val="3368731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20</a:t>
            </a:fld>
            <a:endParaRPr lang="en-GB"/>
          </a:p>
        </p:txBody>
      </p:sp>
    </p:spTree>
    <p:extLst>
      <p:ext uri="{BB962C8B-B14F-4D97-AF65-F5344CB8AC3E}">
        <p14:creationId xmlns:p14="http://schemas.microsoft.com/office/powerpoint/2010/main" val="1286138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21</a:t>
            </a:fld>
            <a:endParaRPr lang="en-GB"/>
          </a:p>
        </p:txBody>
      </p:sp>
    </p:spTree>
    <p:extLst>
      <p:ext uri="{BB962C8B-B14F-4D97-AF65-F5344CB8AC3E}">
        <p14:creationId xmlns:p14="http://schemas.microsoft.com/office/powerpoint/2010/main" val="2473660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22</a:t>
            </a:fld>
            <a:endParaRPr lang="en-GB"/>
          </a:p>
        </p:txBody>
      </p:sp>
    </p:spTree>
    <p:extLst>
      <p:ext uri="{BB962C8B-B14F-4D97-AF65-F5344CB8AC3E}">
        <p14:creationId xmlns:p14="http://schemas.microsoft.com/office/powerpoint/2010/main" val="3479970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23</a:t>
            </a:fld>
            <a:endParaRPr lang="en-GB"/>
          </a:p>
        </p:txBody>
      </p:sp>
    </p:spTree>
    <p:extLst>
      <p:ext uri="{BB962C8B-B14F-4D97-AF65-F5344CB8AC3E}">
        <p14:creationId xmlns:p14="http://schemas.microsoft.com/office/powerpoint/2010/main" val="2587209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24</a:t>
            </a:fld>
            <a:endParaRPr lang="en-GB"/>
          </a:p>
        </p:txBody>
      </p:sp>
    </p:spTree>
    <p:extLst>
      <p:ext uri="{BB962C8B-B14F-4D97-AF65-F5344CB8AC3E}">
        <p14:creationId xmlns:p14="http://schemas.microsoft.com/office/powerpoint/2010/main" val="1595136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25</a:t>
            </a:fld>
            <a:endParaRPr lang="en-GB"/>
          </a:p>
        </p:txBody>
      </p:sp>
    </p:spTree>
    <p:extLst>
      <p:ext uri="{BB962C8B-B14F-4D97-AF65-F5344CB8AC3E}">
        <p14:creationId xmlns:p14="http://schemas.microsoft.com/office/powerpoint/2010/main" val="3799727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26</a:t>
            </a:fld>
            <a:endParaRPr lang="en-GB"/>
          </a:p>
        </p:txBody>
      </p:sp>
    </p:spTree>
    <p:extLst>
      <p:ext uri="{BB962C8B-B14F-4D97-AF65-F5344CB8AC3E}">
        <p14:creationId xmlns:p14="http://schemas.microsoft.com/office/powerpoint/2010/main" val="1855518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27</a:t>
            </a:fld>
            <a:endParaRPr lang="en-GB"/>
          </a:p>
        </p:txBody>
      </p:sp>
    </p:spTree>
    <p:extLst>
      <p:ext uri="{BB962C8B-B14F-4D97-AF65-F5344CB8AC3E}">
        <p14:creationId xmlns:p14="http://schemas.microsoft.com/office/powerpoint/2010/main" val="12377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28</a:t>
            </a:fld>
            <a:endParaRPr lang="en-GB"/>
          </a:p>
        </p:txBody>
      </p:sp>
    </p:spTree>
    <p:extLst>
      <p:ext uri="{BB962C8B-B14F-4D97-AF65-F5344CB8AC3E}">
        <p14:creationId xmlns:p14="http://schemas.microsoft.com/office/powerpoint/2010/main" val="1009495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Opgelet! Om een betrouwbaarheidsanalyse</a:t>
            </a:r>
            <a:r>
              <a:rPr lang="nl-BE" baseline="0" dirty="0"/>
              <a:t> uit te voeren dien je gebruik te maken van de afzonderlijke items waaruit de schaal zal bestaan! Dus hier is het niet nodig om een schaal te maken (via </a:t>
            </a:r>
            <a:r>
              <a:rPr lang="nl-BE" baseline="0" dirty="0" err="1"/>
              <a:t>Transform</a:t>
            </a:r>
            <a:r>
              <a:rPr lang="nl-BE" baseline="0" dirty="0"/>
              <a:t> – </a:t>
            </a:r>
            <a:r>
              <a:rPr lang="nl-BE" baseline="0" dirty="0" err="1"/>
              <a:t>Compute</a:t>
            </a:r>
            <a:r>
              <a:rPr lang="nl-BE" baseline="0" dirty="0"/>
              <a:t>).</a:t>
            </a:r>
          </a:p>
          <a:p>
            <a:r>
              <a:rPr lang="nl-BE" baseline="0" dirty="0"/>
              <a:t>Zorg er wel voor dat alle items in dezelfde richting geformuleerd staan ! </a:t>
            </a:r>
          </a:p>
          <a:p>
            <a:r>
              <a:rPr lang="nl-BE" baseline="0" dirty="0"/>
              <a:t>Hier in deze dataset, verwijzen hoge scores op de 3 items naar positieve </a:t>
            </a:r>
            <a:r>
              <a:rPr lang="nl-BE" baseline="0" dirty="0" err="1"/>
              <a:t>percepties_groen</a:t>
            </a:r>
            <a:r>
              <a:rPr lang="nl-BE" baseline="0" dirty="0"/>
              <a:t> in de stad (dit zie je door de labels onder </a:t>
            </a:r>
            <a:r>
              <a:rPr lang="nl-BE" baseline="0" dirty="0" err="1"/>
              <a:t>Values</a:t>
            </a:r>
            <a:r>
              <a:rPr lang="nl-BE" baseline="0" dirty="0"/>
              <a:t> in de </a:t>
            </a:r>
            <a:r>
              <a:rPr lang="nl-BE" baseline="0" dirty="0" err="1"/>
              <a:t>variable</a:t>
            </a:r>
            <a:r>
              <a:rPr lang="nl-BE" baseline="0" dirty="0"/>
              <a:t> view te inspecteren) (lage scores op elk item = negatieve perceptie). </a:t>
            </a:r>
          </a:p>
          <a:p>
            <a:endParaRPr lang="nl-BE" dirty="0"/>
          </a:p>
          <a:p>
            <a:r>
              <a:rPr lang="nl-BE" dirty="0"/>
              <a:t>CA = ,86 = goede betrouwbaarheid</a:t>
            </a:r>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29</a:t>
            </a:fld>
            <a:endParaRPr lang="en-GB"/>
          </a:p>
        </p:txBody>
      </p:sp>
    </p:spTree>
    <p:extLst>
      <p:ext uri="{BB962C8B-B14F-4D97-AF65-F5344CB8AC3E}">
        <p14:creationId xmlns:p14="http://schemas.microsoft.com/office/powerpoint/2010/main" val="11168049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30</a:t>
            </a:fld>
            <a:endParaRPr lang="en-GB"/>
          </a:p>
        </p:txBody>
      </p:sp>
    </p:spTree>
    <p:extLst>
      <p:ext uri="{BB962C8B-B14F-4D97-AF65-F5344CB8AC3E}">
        <p14:creationId xmlns:p14="http://schemas.microsoft.com/office/powerpoint/2010/main" val="3103462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31</a:t>
            </a:fld>
            <a:endParaRPr lang="en-GB"/>
          </a:p>
        </p:txBody>
      </p:sp>
    </p:spTree>
    <p:extLst>
      <p:ext uri="{BB962C8B-B14F-4D97-AF65-F5344CB8AC3E}">
        <p14:creationId xmlns:p14="http://schemas.microsoft.com/office/powerpoint/2010/main" val="37742417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32</a:t>
            </a:fld>
            <a:endParaRPr lang="en-GB"/>
          </a:p>
        </p:txBody>
      </p:sp>
    </p:spTree>
    <p:extLst>
      <p:ext uri="{BB962C8B-B14F-4D97-AF65-F5344CB8AC3E}">
        <p14:creationId xmlns:p14="http://schemas.microsoft.com/office/powerpoint/2010/main" val="2081963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33</a:t>
            </a:fld>
            <a:endParaRPr lang="en-GB"/>
          </a:p>
        </p:txBody>
      </p:sp>
    </p:spTree>
    <p:extLst>
      <p:ext uri="{BB962C8B-B14F-4D97-AF65-F5344CB8AC3E}">
        <p14:creationId xmlns:p14="http://schemas.microsoft.com/office/powerpoint/2010/main" val="5709014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defTabSz="921075">
              <a:defRPr/>
            </a:pPr>
            <a:r>
              <a:rPr lang="nl-BE" dirty="0" err="1"/>
              <a:t>Variance</a:t>
            </a:r>
            <a:r>
              <a:rPr lang="nl-BE" dirty="0"/>
              <a:t> </a:t>
            </a:r>
            <a:r>
              <a:rPr lang="nl-BE" dirty="0" err="1"/>
              <a:t>Inflation</a:t>
            </a:r>
            <a:r>
              <a:rPr lang="nl-BE" dirty="0"/>
              <a:t> Factor &gt; 5 = problematisch!!</a:t>
            </a:r>
          </a:p>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34</a:t>
            </a:fld>
            <a:endParaRPr lang="en-GB"/>
          </a:p>
        </p:txBody>
      </p:sp>
    </p:spTree>
    <p:extLst>
      <p:ext uri="{BB962C8B-B14F-4D97-AF65-F5344CB8AC3E}">
        <p14:creationId xmlns:p14="http://schemas.microsoft.com/office/powerpoint/2010/main" val="24919451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35</a:t>
            </a:fld>
            <a:endParaRPr lang="en-GB"/>
          </a:p>
        </p:txBody>
      </p:sp>
    </p:spTree>
    <p:extLst>
      <p:ext uri="{BB962C8B-B14F-4D97-AF65-F5344CB8AC3E}">
        <p14:creationId xmlns:p14="http://schemas.microsoft.com/office/powerpoint/2010/main" val="435239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36</a:t>
            </a:fld>
            <a:endParaRPr lang="en-GB"/>
          </a:p>
        </p:txBody>
      </p:sp>
    </p:spTree>
    <p:extLst>
      <p:ext uri="{BB962C8B-B14F-4D97-AF65-F5344CB8AC3E}">
        <p14:creationId xmlns:p14="http://schemas.microsoft.com/office/powerpoint/2010/main" val="35589232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37</a:t>
            </a:fld>
            <a:endParaRPr lang="en-GB"/>
          </a:p>
        </p:txBody>
      </p:sp>
    </p:spTree>
    <p:extLst>
      <p:ext uri="{BB962C8B-B14F-4D97-AF65-F5344CB8AC3E}">
        <p14:creationId xmlns:p14="http://schemas.microsoft.com/office/powerpoint/2010/main" val="13878946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38</a:t>
            </a:fld>
            <a:endParaRPr lang="en-GB"/>
          </a:p>
        </p:txBody>
      </p:sp>
    </p:spTree>
    <p:extLst>
      <p:ext uri="{BB962C8B-B14F-4D97-AF65-F5344CB8AC3E}">
        <p14:creationId xmlns:p14="http://schemas.microsoft.com/office/powerpoint/2010/main" val="2588813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39</a:t>
            </a:fld>
            <a:endParaRPr lang="en-GB"/>
          </a:p>
        </p:txBody>
      </p:sp>
    </p:spTree>
    <p:extLst>
      <p:ext uri="{BB962C8B-B14F-4D97-AF65-F5344CB8AC3E}">
        <p14:creationId xmlns:p14="http://schemas.microsoft.com/office/powerpoint/2010/main" val="17357699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40</a:t>
            </a:fld>
            <a:endParaRPr lang="en-GB"/>
          </a:p>
        </p:txBody>
      </p:sp>
    </p:spTree>
    <p:extLst>
      <p:ext uri="{BB962C8B-B14F-4D97-AF65-F5344CB8AC3E}">
        <p14:creationId xmlns:p14="http://schemas.microsoft.com/office/powerpoint/2010/main" val="23835506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41</a:t>
            </a:fld>
            <a:endParaRPr lang="en-GB"/>
          </a:p>
        </p:txBody>
      </p:sp>
    </p:spTree>
    <p:extLst>
      <p:ext uri="{BB962C8B-B14F-4D97-AF65-F5344CB8AC3E}">
        <p14:creationId xmlns:p14="http://schemas.microsoft.com/office/powerpoint/2010/main" val="9736182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42</a:t>
            </a:fld>
            <a:endParaRPr lang="en-GB"/>
          </a:p>
        </p:txBody>
      </p:sp>
    </p:spTree>
    <p:extLst>
      <p:ext uri="{BB962C8B-B14F-4D97-AF65-F5344CB8AC3E}">
        <p14:creationId xmlns:p14="http://schemas.microsoft.com/office/powerpoint/2010/main" val="10515827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43</a:t>
            </a:fld>
            <a:endParaRPr lang="en-GB"/>
          </a:p>
        </p:txBody>
      </p:sp>
    </p:spTree>
    <p:extLst>
      <p:ext uri="{BB962C8B-B14F-4D97-AF65-F5344CB8AC3E}">
        <p14:creationId xmlns:p14="http://schemas.microsoft.com/office/powerpoint/2010/main" val="25470630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44</a:t>
            </a:fld>
            <a:endParaRPr lang="en-GB"/>
          </a:p>
        </p:txBody>
      </p:sp>
    </p:spTree>
    <p:extLst>
      <p:ext uri="{BB962C8B-B14F-4D97-AF65-F5344CB8AC3E}">
        <p14:creationId xmlns:p14="http://schemas.microsoft.com/office/powerpoint/2010/main" val="42134585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4147F-ED97-47AF-A1B3-C82A179CF7F3}" type="datetime1">
              <a:rPr lang="nl-NL" smtClean="0"/>
              <a:t>10-12-2024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‹nr.›</a:t>
            </a:fld>
            <a:endParaRPr lang="en-GB"/>
          </a:p>
        </p:txBody>
      </p:sp>
      <p:pic>
        <p:nvPicPr>
          <p:cNvPr id="9" name="Logo Larg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09518" y="2275285"/>
            <a:ext cx="5462027"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dirty="0"/>
          </a:p>
        </p:txBody>
      </p:sp>
      <p:sp>
        <p:nvSpPr>
          <p:cNvPr id="2" name="Title 1"/>
          <p:cNvSpPr>
            <a:spLocks noGrp="1"/>
          </p:cNvSpPr>
          <p:nvPr>
            <p:ph type="ctrTitle"/>
          </p:nvPr>
        </p:nvSpPr>
        <p:spPr bwMode="white">
          <a:xfrm>
            <a:off x="1291074" y="228600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nl-NL" noProof="0"/>
              <a:t>Klik om de stijl te bewerken</a:t>
            </a:r>
            <a:endParaRPr lang="nl-BE"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3000" baseline="0">
                <a:solidFill>
                  <a:srgbClr val="FFD200"/>
                </a:solidFill>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nl-BE" noProof="0" dirty="0"/>
              <a:t>Klik om de ondertitel / presentator / datum [</a:t>
            </a:r>
            <a:r>
              <a:rPr lang="nl-BE" noProof="0" dirty="0" err="1"/>
              <a:t>dd</a:t>
            </a:r>
            <a:r>
              <a:rPr lang="nl-BE" noProof="0" dirty="0"/>
              <a:t>-mm-</a:t>
            </a:r>
            <a:r>
              <a:rPr lang="nl-BE" noProof="0" dirty="0" err="1"/>
              <a:t>yyyy</a:t>
            </a:r>
            <a:r>
              <a:rPr lang="nl-BE" noProof="0" dirty="0"/>
              <a:t>] te maken</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rganisation Placeholder"/>
          <p:cNvSpPr>
            <a:spLocks noGrp="1"/>
          </p:cNvSpPr>
          <p:nvPr>
            <p:ph type="body" sz="quarter" idx="10" hasCustomPrompt="1"/>
          </p:nvPr>
        </p:nvSpPr>
        <p:spPr bwMode="white">
          <a:xfrm>
            <a:off x="8564451" y="388531"/>
            <a:ext cx="8293993" cy="540000"/>
          </a:xfrm>
        </p:spPr>
        <p:txBody>
          <a:bodyPr anchor="b" anchorCtr="0">
            <a:normAutofit/>
          </a:bodyPr>
          <a:lstStyle>
            <a:lvl1pPr marL="0" indent="0">
              <a:lnSpc>
                <a:spcPts val="1700"/>
              </a:lnSpc>
              <a:buNone/>
              <a:defRPr sz="1400" b="1" i="0" u="sng" cap="all" baseline="0">
                <a:solidFill>
                  <a:srgbClr val="1E64C8"/>
                </a:solidFill>
                <a:uFill>
                  <a:solidFill>
                    <a:schemeClr val="bg1"/>
                  </a:solidFill>
                </a:uFill>
              </a:defRPr>
            </a:lvl1pPr>
            <a:lvl2pPr marL="0" indent="0">
              <a:lnSpc>
                <a:spcPts val="1700"/>
              </a:lnSpc>
              <a:buNone/>
              <a:defRPr sz="1400" cap="all" baseline="0">
                <a:solidFill>
                  <a:srgbClr val="1E64C8"/>
                </a:solidFill>
                <a:uFill>
                  <a:solidFill>
                    <a:schemeClr val="bg1"/>
                  </a:solidFill>
                </a:uFill>
              </a:defRPr>
            </a:lvl2pPr>
          </a:lstStyle>
          <a:p>
            <a:pPr lvl="0"/>
            <a:r>
              <a:rPr lang="nl-BE" noProof="0" dirty="0"/>
              <a:t>Klik om de organisatie stijlen te bewerken</a:t>
            </a:r>
          </a:p>
          <a:p>
            <a:pPr lvl="1"/>
            <a:r>
              <a:rPr lang="nl-BE" noProof="0"/>
              <a:t>tweede niveau</a:t>
            </a:r>
            <a:endParaRPr lang="nl-BE" noProof="0" dirty="0"/>
          </a:p>
        </p:txBody>
      </p:sp>
      <p:sp>
        <p:nvSpPr>
          <p:cNvPr id="12" name="Picture Placeholder 11"/>
          <p:cNvSpPr>
            <a:spLocks noGrp="1"/>
          </p:cNvSpPr>
          <p:nvPr>
            <p:ph type="pic" sz="quarter" idx="11" hasCustomPrompt="1"/>
          </p:nvPr>
        </p:nvSpPr>
        <p:spPr>
          <a:xfrm>
            <a:off x="3200400" y="8366400"/>
            <a:ext cx="2286000" cy="928800"/>
          </a:xfrm>
        </p:spPr>
        <p:txBody>
          <a:bodyPr/>
          <a:lstStyle>
            <a:lvl1pPr>
              <a:defRPr sz="1600">
                <a:solidFill>
                  <a:schemeClr val="bg1">
                    <a:lumMod val="50000"/>
                  </a:schemeClr>
                </a:solidFill>
              </a:defRPr>
            </a:lvl1pPr>
          </a:lstStyle>
          <a:p>
            <a:r>
              <a:rPr lang="nl-BE" noProof="0" dirty="0"/>
              <a:t>Partnerlogo 1</a:t>
            </a:r>
          </a:p>
        </p:txBody>
      </p:sp>
      <p:sp>
        <p:nvSpPr>
          <p:cNvPr id="13" name="Picture Placeholder 11"/>
          <p:cNvSpPr>
            <a:spLocks noGrp="1"/>
          </p:cNvSpPr>
          <p:nvPr>
            <p:ph type="pic" sz="quarter" idx="12" hasCustomPrompt="1"/>
          </p:nvPr>
        </p:nvSpPr>
        <p:spPr>
          <a:xfrm>
            <a:off x="5713200" y="8366400"/>
            <a:ext cx="2286000" cy="928800"/>
          </a:xfrm>
        </p:spPr>
        <p:txBody>
          <a:bodyPr/>
          <a:lstStyle>
            <a:lvl1pPr>
              <a:defRPr sz="1600">
                <a:solidFill>
                  <a:schemeClr val="bg1">
                    <a:lumMod val="50000"/>
                  </a:schemeClr>
                </a:solidFill>
              </a:defRPr>
            </a:lvl1pPr>
          </a:lstStyle>
          <a:p>
            <a:r>
              <a:rPr lang="nl-BE" noProof="0" dirty="0"/>
              <a:t>Partnerlogo 2</a:t>
            </a:r>
          </a:p>
        </p:txBody>
      </p:sp>
      <p:sp>
        <p:nvSpPr>
          <p:cNvPr id="14" name="Picture Placeholder 11"/>
          <p:cNvSpPr>
            <a:spLocks noGrp="1"/>
          </p:cNvSpPr>
          <p:nvPr>
            <p:ph type="pic" sz="quarter" idx="13" hasCustomPrompt="1"/>
          </p:nvPr>
        </p:nvSpPr>
        <p:spPr>
          <a:xfrm>
            <a:off x="8229600" y="8366400"/>
            <a:ext cx="2322000" cy="928800"/>
          </a:xfrm>
        </p:spPr>
        <p:txBody>
          <a:bodyPr/>
          <a:lstStyle>
            <a:lvl1pPr>
              <a:defRPr sz="1600">
                <a:solidFill>
                  <a:schemeClr val="bg1">
                    <a:lumMod val="50000"/>
                  </a:schemeClr>
                </a:solidFill>
              </a:defRPr>
            </a:lvl1pPr>
          </a:lstStyle>
          <a:p>
            <a:r>
              <a:rPr lang="nl-BE" noProof="0" dirty="0"/>
              <a:t>Partnerlogo 3</a:t>
            </a:r>
          </a:p>
        </p:txBody>
      </p:sp>
      <p:sp>
        <p:nvSpPr>
          <p:cNvPr id="15" name="Picture Placeholder 11"/>
          <p:cNvSpPr>
            <a:spLocks noGrp="1"/>
          </p:cNvSpPr>
          <p:nvPr>
            <p:ph type="pic" sz="quarter" idx="14" hasCustomPrompt="1"/>
          </p:nvPr>
        </p:nvSpPr>
        <p:spPr>
          <a:xfrm>
            <a:off x="10746000" y="8366400"/>
            <a:ext cx="2322000" cy="928800"/>
          </a:xfrm>
        </p:spPr>
        <p:txBody>
          <a:bodyPr/>
          <a:lstStyle>
            <a:lvl1pPr>
              <a:defRPr sz="1600">
                <a:solidFill>
                  <a:schemeClr val="bg1">
                    <a:lumMod val="50000"/>
                  </a:schemeClr>
                </a:solidFill>
              </a:defRPr>
            </a:lvl1pPr>
          </a:lstStyle>
          <a:p>
            <a:r>
              <a:rPr lang="nl-BE" noProof="0" dirty="0"/>
              <a:t>Partnerlogo 4</a:t>
            </a:r>
          </a:p>
        </p:txBody>
      </p:sp>
      <p:sp>
        <p:nvSpPr>
          <p:cNvPr id="5" name="Rectangle 4" hidden="1"/>
          <p:cNvSpPr/>
          <p:nvPr userDrawn="1"/>
        </p:nvSpPr>
        <p:spPr>
          <a:xfrm>
            <a:off x="914400" y="464400"/>
            <a:ext cx="15560040" cy="464400"/>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26" name="Picture 2" descr="C:\Users\lrbeke\Desktop\RE-naamswijziging\nieuw v3\Faculteit Rechtsgeleerdheid (RE)\icoon_UGent_RE_NL\icoon_UGent_RE_NL_RGB_2400_kleur.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64400" y="0"/>
            <a:ext cx="4182333" cy="139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dirty="0"/>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nl-BE" noProof="0" dirty="0"/>
              <a:t>klik om een hoofdstuktitel te maken.</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‹nr.›</a:t>
            </a:fld>
            <a:endParaRPr lang="nl-BE" noProof="0" dirty="0"/>
          </a:p>
        </p:txBody>
      </p:sp>
      <p:sp>
        <p:nvSpPr>
          <p:cNvPr id="10" name="Rectangle 9" hidden="1"/>
          <p:cNvSpPr/>
          <p:nvPr userDrawn="1"/>
        </p:nvSpPr>
        <p:spPr>
          <a:xfrm>
            <a:off x="914400" y="464400"/>
            <a:ext cx="15560040" cy="464400"/>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noProof="0"/>
              <a:t>Klik om de stijl te bewerken</a:t>
            </a:r>
            <a:endParaRPr lang="nl-BE" noProof="0" dirty="0"/>
          </a:p>
        </p:txBody>
      </p:sp>
      <p:sp>
        <p:nvSpPr>
          <p:cNvPr id="3" name="Content Placeholder 2"/>
          <p:cNvSpPr>
            <a:spLocks noGrp="1"/>
          </p:cNvSpPr>
          <p:nvPr>
            <p:ph idx="1" hasCustomPrompt="1"/>
          </p:nvPr>
        </p:nvSpPr>
        <p:spPr>
          <a:xfrm>
            <a:off x="835825" y="1194364"/>
            <a:ext cx="15699575" cy="6696000"/>
          </a:xfrm>
        </p:spPr>
        <p:txBody>
          <a:bodyPr/>
          <a:lstStyle>
            <a:lvl1pPr defTabSz="457200">
              <a:lnSpc>
                <a:spcPct val="120000"/>
              </a:lnSpc>
              <a:defRPr/>
            </a:lvl1pPr>
            <a:lvl2pPr>
              <a:lnSpc>
                <a:spcPct val="120000"/>
              </a:lnSpc>
              <a:defRPr/>
            </a:lvl2pPr>
            <a:lvl3pPr defTabSz="457200">
              <a:lnSpc>
                <a:spcPct val="120000"/>
              </a:lnSpc>
              <a:defRPr/>
            </a:lvl3pPr>
            <a:lvl4pPr marL="2328863" indent="-550863" defTabSz="1912938">
              <a:lnSpc>
                <a:spcPct val="120000"/>
              </a:lnSpc>
              <a:tabLst/>
              <a:defRPr/>
            </a:lvl4pPr>
            <a:lvl5pPr marL="2962275" indent="-442913" defTabSz="457200">
              <a:lnSpc>
                <a:spcPct val="120000"/>
              </a:lnSpc>
              <a:buFont typeface="Arial" panose="020B0604020202020204" pitchFamily="34" charset="0"/>
              <a:buChar char="̶"/>
              <a:defRPr/>
            </a:lvl5p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a:p>
            <a:pPr lvl="3"/>
            <a:r>
              <a:rPr lang="nl-BE" noProof="0" dirty="0" err="1"/>
              <a:t>Fourth</a:t>
            </a:r>
            <a:r>
              <a:rPr lang="nl-BE" noProof="0" dirty="0"/>
              <a:t> level</a:t>
            </a:r>
          </a:p>
          <a:p>
            <a:pPr lvl="4"/>
            <a:r>
              <a:rPr lang="nl-BE" noProof="0" dirty="0" err="1"/>
              <a:t>Fifth</a:t>
            </a:r>
            <a:r>
              <a:rPr lang="nl-BE" noProof="0" dirty="0"/>
              <a:t> level</a:t>
            </a:r>
          </a:p>
        </p:txBody>
      </p:sp>
      <p:sp>
        <p:nvSpPr>
          <p:cNvPr id="4" name="Date Placeholder 3"/>
          <p:cNvSpPr>
            <a:spLocks noGrp="1"/>
          </p:cNvSpPr>
          <p:nvPr>
            <p:ph type="dt" sz="half" idx="10"/>
          </p:nvPr>
        </p:nvSpPr>
        <p:spPr/>
        <p:txBody>
          <a:bodyPr/>
          <a:lstStyle/>
          <a:p>
            <a:fld id="{25470885-0B31-4E06-AE71-7E16801F2838}" type="datetime1">
              <a:rPr lang="nl-BE" noProof="0" smtClean="0"/>
              <a:t>10/12/2024</a:t>
            </a:fld>
            <a:endParaRPr lang="nl-BE" noProof="0" dirty="0"/>
          </a:p>
        </p:txBody>
      </p:sp>
      <p:sp>
        <p:nvSpPr>
          <p:cNvPr id="5" name="Footer Placeholder 4"/>
          <p:cNvSpPr>
            <a:spLocks noGrp="1"/>
          </p:cNvSpPr>
          <p:nvPr>
            <p:ph type="ftr" sz="quarter" idx="11"/>
          </p:nvPr>
        </p:nvSpPr>
        <p:spPr/>
        <p:txBody>
          <a:bodyPr/>
          <a:lstStyle/>
          <a:p>
            <a:endParaRPr lang="nl-BE" noProof="0" dirty="0"/>
          </a:p>
        </p:txBody>
      </p:sp>
      <p:sp>
        <p:nvSpPr>
          <p:cNvPr id="6" name="Slide Number Placeholder 5"/>
          <p:cNvSpPr>
            <a:spLocks noGrp="1"/>
          </p:cNvSpPr>
          <p:nvPr>
            <p:ph type="sldNum" sz="quarter" idx="12"/>
          </p:nvPr>
        </p:nvSpPr>
        <p:spPr/>
        <p:txBody>
          <a:bodyPr/>
          <a:lstStyle/>
          <a:p>
            <a:fld id="{7AE184E0-0BD4-4705-A12B-9B71DDE63301}" type="slidenum">
              <a:rPr lang="nl-BE" noProof="0" smtClean="0"/>
              <a:t>‹nr.›</a:t>
            </a:fld>
            <a:endParaRPr lang="nl-BE" noProof="0" dirty="0"/>
          </a:p>
        </p:txBody>
      </p:sp>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noProof="0"/>
              <a:t>Klik om de stijl te bewerken</a:t>
            </a:r>
            <a:endParaRPr lang="nl-BE" noProof="0" dirty="0"/>
          </a:p>
        </p:txBody>
      </p:sp>
      <p:sp>
        <p:nvSpPr>
          <p:cNvPr id="4" name="Date Placeholder 3"/>
          <p:cNvSpPr>
            <a:spLocks noGrp="1"/>
          </p:cNvSpPr>
          <p:nvPr>
            <p:ph type="dt" sz="half" idx="10"/>
          </p:nvPr>
        </p:nvSpPr>
        <p:spPr/>
        <p:txBody>
          <a:bodyPr/>
          <a:lstStyle/>
          <a:p>
            <a:fld id="{E7410F60-8C93-4C37-B51A-4DDAE36F7E9B}" type="datetime1">
              <a:rPr lang="nl-BE" noProof="0" smtClean="0"/>
              <a:t>10/12/2024</a:t>
            </a:fld>
            <a:endParaRPr lang="nl-BE" noProof="0" dirty="0"/>
          </a:p>
        </p:txBody>
      </p:sp>
      <p:sp>
        <p:nvSpPr>
          <p:cNvPr id="5" name="Footer Placeholder 4"/>
          <p:cNvSpPr>
            <a:spLocks noGrp="1"/>
          </p:cNvSpPr>
          <p:nvPr>
            <p:ph type="ftr" sz="quarter" idx="11"/>
          </p:nvPr>
        </p:nvSpPr>
        <p:spPr/>
        <p:txBody>
          <a:bodyPr/>
          <a:lstStyle/>
          <a:p>
            <a:endParaRPr lang="nl-BE" noProof="0" dirty="0"/>
          </a:p>
        </p:txBody>
      </p:sp>
      <p:sp>
        <p:nvSpPr>
          <p:cNvPr id="8" name="Picture Placeholder 7"/>
          <p:cNvSpPr>
            <a:spLocks noGrp="1"/>
          </p:cNvSpPr>
          <p:nvPr>
            <p:ph type="pic" sz="quarter" idx="13" hasCustomPrompt="1"/>
          </p:nvPr>
        </p:nvSpPr>
        <p:spPr>
          <a:xfrm>
            <a:off x="10104438" y="1371918"/>
            <a:ext cx="6300000" cy="6498000"/>
          </a:xfrm>
        </p:spPr>
        <p:txBody>
          <a:bodyPr/>
          <a:lstStyle>
            <a:lvl1pPr marL="85725" indent="0">
              <a:buNone/>
              <a:defRPr>
                <a:solidFill>
                  <a:schemeClr val="bg1">
                    <a:lumMod val="50000"/>
                  </a:schemeClr>
                </a:solidFill>
              </a:defRPr>
            </a:lvl1pPr>
          </a:lstStyle>
          <a:p>
            <a:r>
              <a:rPr lang="nl-BE" noProof="0" dirty="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‹nr.›</a:t>
            </a:fld>
            <a:endParaRPr lang="nl-BE" noProof="0" dirty="0"/>
          </a:p>
        </p:txBody>
      </p:sp>
      <p:sp>
        <p:nvSpPr>
          <p:cNvPr id="12" name="Content Placeholder 2"/>
          <p:cNvSpPr>
            <a:spLocks noGrp="1"/>
          </p:cNvSpPr>
          <p:nvPr>
            <p:ph idx="1" hasCustomPrompt="1"/>
          </p:nvPr>
        </p:nvSpPr>
        <p:spPr>
          <a:xfrm>
            <a:off x="835825" y="1194364"/>
            <a:ext cx="8442000" cy="6696000"/>
          </a:xfrm>
        </p:spPr>
        <p:txBody>
          <a:bodyPr/>
          <a:lstStyle>
            <a:lvl1pPr defTabSz="457200">
              <a:lnSpc>
                <a:spcPct val="120000"/>
              </a:lnSpc>
              <a:defRPr/>
            </a:lvl1pPr>
            <a:lvl2pPr>
              <a:lnSpc>
                <a:spcPct val="120000"/>
              </a:lnSpc>
              <a:defRPr/>
            </a:lvl2pPr>
            <a:lvl3pPr defTabSz="457200">
              <a:lnSpc>
                <a:spcPct val="120000"/>
              </a:lnSpc>
              <a:defRPr/>
            </a:lvl3pPr>
            <a:lvl4pPr defTabSz="457200">
              <a:lnSpc>
                <a:spcPct val="120000"/>
              </a:lnSpc>
              <a:defRPr/>
            </a:lvl4pPr>
            <a:lvl5pPr defTabSz="457200">
              <a:lnSpc>
                <a:spcPct val="120000"/>
              </a:lnSpc>
              <a:defRPr/>
            </a:lvl5p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p:txBody>
      </p:sp>
    </p:spTree>
    <p:extLst>
      <p:ext uri="{BB962C8B-B14F-4D97-AF65-F5344CB8AC3E}">
        <p14:creationId xmlns:p14="http://schemas.microsoft.com/office/powerpoint/2010/main" val="131488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noProof="0"/>
              <a:t>Klik om de stijl te bewerken</a:t>
            </a:r>
            <a:endParaRPr lang="nl-BE" noProof="0" dirty="0"/>
          </a:p>
        </p:txBody>
      </p:sp>
      <p:sp>
        <p:nvSpPr>
          <p:cNvPr id="3" name="Date Placeholder 2"/>
          <p:cNvSpPr>
            <a:spLocks noGrp="1"/>
          </p:cNvSpPr>
          <p:nvPr>
            <p:ph type="dt" sz="half" idx="10"/>
          </p:nvPr>
        </p:nvSpPr>
        <p:spPr/>
        <p:txBody>
          <a:bodyPr/>
          <a:lstStyle/>
          <a:p>
            <a:fld id="{656594B6-17DF-4759-A7A5-128AFEA77F2C}" type="datetime1">
              <a:rPr lang="nl-BE" noProof="0" smtClean="0"/>
              <a:t>10/12/2024</a:t>
            </a:fld>
            <a:endParaRPr lang="nl-BE" noProof="0" dirty="0"/>
          </a:p>
        </p:txBody>
      </p:sp>
      <p:sp>
        <p:nvSpPr>
          <p:cNvPr id="4" name="Footer Placeholder 3"/>
          <p:cNvSpPr>
            <a:spLocks noGrp="1"/>
          </p:cNvSpPr>
          <p:nvPr>
            <p:ph type="ftr" sz="quarter" idx="11"/>
          </p:nvPr>
        </p:nvSpPr>
        <p:spPr/>
        <p:txBody>
          <a:bodyPr/>
          <a:lstStyle/>
          <a:p>
            <a:endParaRPr lang="nl-BE" noProof="0" dirty="0"/>
          </a:p>
        </p:txBody>
      </p:sp>
      <p:sp>
        <p:nvSpPr>
          <p:cNvPr id="5" name="Slide Number Placeholder 4"/>
          <p:cNvSpPr>
            <a:spLocks noGrp="1"/>
          </p:cNvSpPr>
          <p:nvPr>
            <p:ph type="sldNum" sz="quarter" idx="12"/>
          </p:nvPr>
        </p:nvSpPr>
        <p:spPr/>
        <p:txBody>
          <a:bodyPr/>
          <a:lstStyle/>
          <a:p>
            <a:fld id="{7AE184E0-0BD4-4705-A12B-9B71DDE63301}" type="slidenum">
              <a:rPr lang="nl-BE" noProof="0" smtClean="0"/>
              <a:t>‹nr.›</a:t>
            </a:fld>
            <a:endParaRPr lang="nl-BE" noProof="0" dirty="0"/>
          </a:p>
        </p:txBody>
      </p:sp>
      <p:sp>
        <p:nvSpPr>
          <p:cNvPr id="7" name="Picture Placeholder 6"/>
          <p:cNvSpPr>
            <a:spLocks noGrp="1"/>
          </p:cNvSpPr>
          <p:nvPr>
            <p:ph type="pic" sz="quarter" idx="13" hasCustomPrompt="1"/>
          </p:nvPr>
        </p:nvSpPr>
        <p:spPr>
          <a:xfrm>
            <a:off x="952038" y="1371600"/>
            <a:ext cx="15480000" cy="6501600"/>
          </a:xfrm>
        </p:spPr>
        <p:txBody>
          <a:bodyPr/>
          <a:lstStyle>
            <a:lvl1pPr marL="0" indent="0">
              <a:buNone/>
              <a:defRPr>
                <a:solidFill>
                  <a:schemeClr val="bg1">
                    <a:lumMod val="50000"/>
                  </a:schemeClr>
                </a:solidFill>
              </a:defRPr>
            </a:lvl1pPr>
          </a:lstStyle>
          <a:p>
            <a:r>
              <a:rPr lang="nl-BE" noProof="0" dirty="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81384-1200-4D40-BEF0-3A17A1F906F4}" type="datetime1">
              <a:rPr lang="nl-NL" noProof="0" smtClean="0"/>
              <a:t>10-12-2024</a:t>
            </a:fld>
            <a:endParaRPr lang="nl-NL" noProof="0" dirty="0"/>
          </a:p>
        </p:txBody>
      </p:sp>
      <p:sp>
        <p:nvSpPr>
          <p:cNvPr id="3" name="Footer Placeholder 2"/>
          <p:cNvSpPr>
            <a:spLocks noGrp="1"/>
          </p:cNvSpPr>
          <p:nvPr>
            <p:ph type="ftr" sz="quarter" idx="11"/>
          </p:nvPr>
        </p:nvSpPr>
        <p:spPr/>
        <p:txBody>
          <a:bodyPr/>
          <a:lstStyle/>
          <a:p>
            <a:endParaRPr lang="nl-NL" noProof="0" dirty="0"/>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6" name="Picture Placeholder 5"/>
          <p:cNvSpPr>
            <a:spLocks noGrp="1"/>
          </p:cNvSpPr>
          <p:nvPr>
            <p:ph type="pic" sz="quarter" idx="12" hasCustomPrompt="1"/>
          </p:nvPr>
        </p:nvSpPr>
        <p:spPr>
          <a:xfrm>
            <a:off x="-1" y="0"/>
            <a:ext cx="17337600" cy="9753600"/>
          </a:xfrm>
        </p:spPr>
        <p:txBody>
          <a:bodyPr/>
          <a:lstStyle>
            <a:lvl1pPr marL="85725" indent="0">
              <a:buNone/>
              <a:defRPr>
                <a:solidFill>
                  <a:schemeClr val="bg1">
                    <a:lumMod val="50000"/>
                  </a:schemeClr>
                </a:solidFill>
              </a:defRPr>
            </a:lvl1pPr>
          </a:lstStyle>
          <a:p>
            <a:r>
              <a:rPr lang="nl-BE" noProof="0" dirty="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dirty="0"/>
          </a:p>
        </p:txBody>
      </p:sp>
      <p:sp>
        <p:nvSpPr>
          <p:cNvPr id="5" name="Tijdelijke aanduiding voor tekst 4"/>
          <p:cNvSpPr>
            <a:spLocks noGrp="1"/>
          </p:cNvSpPr>
          <p:nvPr>
            <p:ph type="body" sz="quarter" idx="10" hasCustomPrompt="1"/>
          </p:nvPr>
        </p:nvSpPr>
        <p:spPr bwMode="white">
          <a:xfrm>
            <a:off x="9215999" y="3095999"/>
            <a:ext cx="7257600" cy="1717969"/>
          </a:xfrm>
        </p:spPr>
        <p:txBody>
          <a:bodyPr>
            <a:normAutofit/>
          </a:bodyPr>
          <a:lstStyle>
            <a:lvl1pPr marL="0" indent="0">
              <a:lnSpc>
                <a:spcPts val="3500"/>
              </a:lnSpc>
              <a:buNone/>
              <a:defRPr sz="2400">
                <a:solidFill>
                  <a:schemeClr val="bg1"/>
                </a:solidFill>
              </a:defRPr>
            </a:lvl1pPr>
          </a:lstStyle>
          <a:p>
            <a:pPr lvl="0"/>
            <a:r>
              <a:rPr lang="nl-NL" dirty="0"/>
              <a:t>Klik om de namen van </a:t>
            </a:r>
            <a:r>
              <a:rPr lang="nl-NL" dirty="0" err="1"/>
              <a:t>social</a:t>
            </a:r>
            <a:r>
              <a:rPr lang="nl-NL" dirty="0"/>
              <a:t> media in te typen</a:t>
            </a:r>
          </a:p>
        </p:txBody>
      </p:sp>
      <p:sp>
        <p:nvSpPr>
          <p:cNvPr id="2" name="Title 1"/>
          <p:cNvSpPr>
            <a:spLocks noGrp="1"/>
          </p:cNvSpPr>
          <p:nvPr>
            <p:ph type="ctrTitle" hasCustomPrompt="1"/>
          </p:nvPr>
        </p:nvSpPr>
        <p:spPr bwMode="white">
          <a:xfrm>
            <a:off x="1291074" y="1743240"/>
            <a:ext cx="7419544" cy="5769600"/>
          </a:xfrm>
        </p:spPr>
        <p:txBody>
          <a:bodyPr anchor="t" anchorCtr="0">
            <a:noAutofit/>
          </a:bodyPr>
          <a:lstStyle>
            <a:lvl1pPr algn="l" defTabSz="542925">
              <a:lnSpc>
                <a:spcPts val="3500"/>
              </a:lnSpc>
              <a:defRPr sz="2500" u="none" cap="none" baseline="0">
                <a:solidFill>
                  <a:schemeClr val="bg1"/>
                </a:solidFill>
                <a:uFill>
                  <a:solidFill>
                    <a:schemeClr val="bg1"/>
                  </a:solidFill>
                </a:uFill>
                <a:latin typeface="+mn-lt"/>
              </a:defRPr>
            </a:lvl1pPr>
          </a:lstStyle>
          <a:p>
            <a:r>
              <a:rPr lang="nl-BE" noProof="0" dirty="0"/>
              <a:t>Klik om de gegevens van de presentator in </a:t>
            </a:r>
            <a:r>
              <a:rPr lang="nl-BE" noProof="0"/>
              <a:t>te typen</a:t>
            </a:r>
            <a:endParaRPr lang="nl-BE" noProof="0" dirty="0"/>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2" descr="C:\Users\lrbeke\Desktop\RE-naamswijziging\nieuw v3\Faculteit Rechtsgeleerdheid (RE)\icoon_UGent_RE_NL\icoon_UGent_RE_NL_RGB_2400_kleur.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64400" y="0"/>
            <a:ext cx="4182333" cy="139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78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Slide">
    <p:spTree>
      <p:nvGrpSpPr>
        <p:cNvPr id="1" name=""/>
        <p:cNvGrpSpPr/>
        <p:nvPr/>
      </p:nvGrpSpPr>
      <p:grpSpPr>
        <a:xfrm>
          <a:off x="0" y="0"/>
          <a:ext cx="0" cy="0"/>
          <a:chOff x="0" y="0"/>
          <a:chExt cx="0" cy="0"/>
        </a:xfrm>
      </p:grpSpPr>
      <p:sp>
        <p:nvSpPr>
          <p:cNvPr id="7" name="Rectangle 6"/>
          <p:cNvSpPr/>
          <p:nvPr userDrawn="1"/>
        </p:nvSpPr>
        <p:spPr>
          <a:xfrm>
            <a:off x="0" y="2295684"/>
            <a:ext cx="17338675" cy="560271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bwMode="white">
          <a:xfrm>
            <a:off x="712340" y="2298145"/>
            <a:ext cx="12742426" cy="2359800"/>
          </a:xfrm>
        </p:spPr>
        <p:txBody>
          <a:bodyPr anchor="b">
            <a:noAutofit/>
          </a:bodyPr>
          <a:lstStyle>
            <a:lvl1pPr algn="l">
              <a:lnSpc>
                <a:spcPts val="11000"/>
              </a:lnSpc>
              <a:defRPr sz="4400" b="1" u="none" baseline="0">
                <a:solidFill>
                  <a:schemeClr val="bg1"/>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2800" b="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en-GB" noProof="0" dirty="0"/>
              <a:t>Click to add subtitle / presenter / date [</a:t>
            </a:r>
            <a:r>
              <a:rPr lang="en-GB" noProof="0" dirty="0" err="1"/>
              <a:t>dd</a:t>
            </a:r>
            <a:r>
              <a:rPr lang="en-GB" noProof="0" dirty="0"/>
              <a:t>-mm-</a:t>
            </a:r>
            <a:r>
              <a:rPr lang="en-GB" noProof="0" dirty="0" err="1"/>
              <a:t>yyyy</a:t>
            </a:r>
            <a:r>
              <a:rPr lang="en-GB" noProof="0" dirty="0"/>
              <a:t>]</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ranisation Placeholder"/>
          <p:cNvSpPr>
            <a:spLocks noGrp="1"/>
          </p:cNvSpPr>
          <p:nvPr>
            <p:ph type="body" sz="quarter" idx="15" hasCustomPrompt="1"/>
          </p:nvPr>
        </p:nvSpPr>
        <p:spPr bwMode="white">
          <a:xfrm>
            <a:off x="4108537" y="350729"/>
            <a:ext cx="12841549" cy="671961"/>
          </a:xfrm>
        </p:spPr>
        <p:txBody>
          <a:bodyPr anchor="b" anchorCtr="0">
            <a:normAutofit/>
          </a:bodyPr>
          <a:lstStyle>
            <a:lvl1pPr>
              <a:lnSpc>
                <a:spcPts val="1700"/>
              </a:lnSpc>
              <a:defRPr sz="3400" b="1" i="0" u="sng" cap="small" baseline="0">
                <a:solidFill>
                  <a:srgbClr val="003366"/>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vl2pPr marL="0" indent="0">
              <a:lnSpc>
                <a:spcPts val="1700"/>
              </a:lnSpc>
              <a:buNone/>
              <a:defRPr sz="1400" cap="all" baseline="0">
                <a:solidFill>
                  <a:srgbClr val="1E64C8"/>
                </a:solidFill>
              </a:defRPr>
            </a:lvl2pPr>
          </a:lstStyle>
          <a:p>
            <a:pPr lvl="0"/>
            <a:r>
              <a:rPr lang="en-GB" noProof="0" dirty="0"/>
              <a:t>Click to edit organisation styles</a:t>
            </a:r>
          </a:p>
        </p:txBody>
      </p:sp>
      <p:pic>
        <p:nvPicPr>
          <p:cNvPr id="9" name="Afbeelding 8">
            <a:extLst>
              <a:ext uri="{FF2B5EF4-FFF2-40B4-BE49-F238E27FC236}">
                <a16:creationId xmlns:a16="http://schemas.microsoft.com/office/drawing/2014/main" id="{9871DE22-9699-4EAF-9087-24565B509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97" y="-1248325"/>
            <a:ext cx="3312270" cy="4676437"/>
          </a:xfrm>
          <a:prstGeom prst="rect">
            <a:avLst/>
          </a:prstGeom>
        </p:spPr>
      </p:pic>
    </p:spTree>
    <p:extLst>
      <p:ext uri="{BB962C8B-B14F-4D97-AF65-F5344CB8AC3E}">
        <p14:creationId xmlns:p14="http://schemas.microsoft.com/office/powerpoint/2010/main" val="191903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Text">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B8233FCF-C78E-47A1-9466-4CB05FC00861}"/>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Logo Large EN">
            <a:extLst>
              <a:ext uri="{FF2B5EF4-FFF2-40B4-BE49-F238E27FC236}">
                <a16:creationId xmlns:a16="http://schemas.microsoft.com/office/drawing/2014/main" id="{DD11DB78-BA8F-4D35-9786-54E14B77F9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327069" y="1816273"/>
            <a:ext cx="16858641" cy="6864264"/>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sp>
        <p:nvSpPr>
          <p:cNvPr id="10" name="Content Placeholder 2"/>
          <p:cNvSpPr>
            <a:spLocks noGrp="1"/>
          </p:cNvSpPr>
          <p:nvPr>
            <p:ph idx="13"/>
          </p:nvPr>
        </p:nvSpPr>
        <p:spPr>
          <a:xfrm>
            <a:off x="2331721" y="8981161"/>
            <a:ext cx="13722366" cy="475989"/>
          </a:xfrm>
        </p:spPr>
        <p:txBody>
          <a:bodyPr>
            <a:normAutofit/>
          </a:bodyPr>
          <a:lstStyle>
            <a:lvl1pPr marL="86400" indent="0" defTabSz="457200">
              <a:lnSpc>
                <a:spcPct val="120000"/>
              </a:lnSpc>
              <a:buFont typeface="Wingdings" panose="05000000000000000000" pitchFamily="2" charset="2"/>
              <a:buNone/>
              <a:defRPr sz="1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cxnSp>
        <p:nvCxnSpPr>
          <p:cNvPr id="5" name="Straight Connector 4">
            <a:extLst>
              <a:ext uri="{FF2B5EF4-FFF2-40B4-BE49-F238E27FC236}">
                <a16:creationId xmlns:a16="http://schemas.microsoft.com/office/drawing/2014/main" id="{4104DC89-525A-4773-B9DF-6BE1A717F802}"/>
              </a:ext>
            </a:extLst>
          </p:cNvPr>
          <p:cNvCxnSpPr>
            <a:cxnSpLocks/>
          </p:cNvCxnSpPr>
          <p:nvPr userDrawn="1"/>
        </p:nvCxnSpPr>
        <p:spPr>
          <a:xfrm>
            <a:off x="327069" y="1445550"/>
            <a:ext cx="167417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Afbeelding 7">
            <a:extLst>
              <a:ext uri="{FF2B5EF4-FFF2-40B4-BE49-F238E27FC236}">
                <a16:creationId xmlns:a16="http://schemas.microsoft.com/office/drawing/2014/main" id="{9811080D-4FB2-4915-B4B2-1D8BF0E329E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3466824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252000"/>
            <a:ext cx="15705282" cy="863693"/>
          </a:xfrm>
          <a:prstGeom prst="rect">
            <a:avLst/>
          </a:prstGeom>
        </p:spPr>
        <p:txBody>
          <a:bodyPr vert="horz" lIns="91440" tIns="45720" rIns="91440" bIns="45720" rtlCol="0" anchor="t" anchorCtr="0">
            <a:noAutofit/>
          </a:bodyPr>
          <a:lstStyle/>
          <a:p>
            <a:r>
              <a:rPr lang="nl-BE" noProof="0" dirty="0"/>
              <a:t>Klik om de stijl te bewerken</a:t>
            </a:r>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FA870D1A-A3AB-4E9F-892E-C45B5A80FDBF}" type="datetime1">
              <a:rPr lang="nl-BE" noProof="0" smtClean="0"/>
              <a:t>10/12/2024</a:t>
            </a:fld>
            <a:endParaRPr lang="nl-BE" noProof="0" dirty="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nl-BE" noProof="0" dirty="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‹nr.›</a:t>
            </a:fld>
            <a:endParaRPr lang="nl-BE" noProof="0" dirty="0"/>
          </a:p>
        </p:txBody>
      </p:sp>
      <p:sp>
        <p:nvSpPr>
          <p:cNvPr id="7" name="Title positioning box" hidden="1"/>
          <p:cNvSpPr/>
          <p:nvPr/>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3617" y="7906160"/>
            <a:ext cx="2308379" cy="1847440"/>
          </a:xfrm>
          <a:prstGeom prst="rect">
            <a:avLst/>
          </a:prstGeom>
        </p:spPr>
      </p:pic>
      <p:sp>
        <p:nvSpPr>
          <p:cNvPr id="12" name="Text positoning box" hidden="1"/>
          <p:cNvSpPr/>
          <p:nvPr/>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74" r:id="rId5"/>
    <p:sldLayoutId id="2147483666" r:id="rId6"/>
    <p:sldLayoutId id="2147483675" r:id="rId7"/>
    <p:sldLayoutId id="2147483676" r:id="rId8"/>
    <p:sldLayoutId id="2147483677" r:id="rId9"/>
    <p:sldLayoutId id="2147483678" r:id="rId10"/>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536575" indent="-45085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69988" indent="-45085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5775" indent="-45000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50863"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17.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17.emf"/></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17.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507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657544" y="2878884"/>
            <a:ext cx="16023586" cy="3400906"/>
          </a:xfrm>
        </p:spPr>
        <p:txBody>
          <a:bodyPr/>
          <a:lstStyle/>
          <a:p>
            <a:r>
              <a:rPr lang="nl-BE" dirty="0"/>
              <a:t>Responsie- en herhalingscollege </a:t>
            </a:r>
            <a:r>
              <a:rPr lang="nl-BE"/>
              <a:t>(10/12</a:t>
            </a:r>
            <a:r>
              <a:rPr lang="nl-BE" dirty="0"/>
              <a:t>)</a:t>
            </a:r>
            <a:br>
              <a:rPr lang="nl-BE" dirty="0"/>
            </a:br>
            <a:r>
              <a:rPr lang="nl-BE" dirty="0"/>
              <a:t>deel ii</a:t>
            </a:r>
            <a:br>
              <a:rPr lang="nl-BE" dirty="0"/>
            </a:br>
            <a:endParaRPr lang="nl-BE" dirty="0"/>
          </a:p>
        </p:txBody>
      </p:sp>
      <p:sp>
        <p:nvSpPr>
          <p:cNvPr id="3" name="Subtitle 2">
            <a:extLst>
              <a:ext uri="{FF2B5EF4-FFF2-40B4-BE49-F238E27FC236}">
                <a16:creationId xmlns:a16="http://schemas.microsoft.com/office/drawing/2014/main" id="{70FE6360-0905-4150-BEDD-4BF877AD22CF}"/>
              </a:ext>
            </a:extLst>
          </p:cNvPr>
          <p:cNvSpPr>
            <a:spLocks noGrp="1"/>
          </p:cNvSpPr>
          <p:nvPr>
            <p:ph type="subTitle" idx="1"/>
          </p:nvPr>
        </p:nvSpPr>
        <p:spPr/>
        <p:txBody>
          <a:bodyPr>
            <a:normAutofit/>
          </a:bodyPr>
          <a:lstStyle/>
          <a:p>
            <a:r>
              <a:rPr lang="nl-BE" dirty="0"/>
              <a:t>dr. Ann De Buck 							AJ 2024-2025</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pPr marL="85725" indent="0">
              <a:buNone/>
            </a:pPr>
            <a:r>
              <a:rPr lang="nl-BE" dirty="0"/>
              <a:t>TOEGEPASTE DATA-ANALYSE EN RAPPORTAGE</a:t>
            </a:r>
          </a:p>
        </p:txBody>
      </p:sp>
    </p:spTree>
    <p:extLst>
      <p:ext uri="{BB962C8B-B14F-4D97-AF65-F5344CB8AC3E}">
        <p14:creationId xmlns:p14="http://schemas.microsoft.com/office/powerpoint/2010/main" val="2840279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11 Voorbeeldexamenvragen</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pPr marL="85725" indent="0">
              <a:buNone/>
            </a:pPr>
            <a:r>
              <a:rPr lang="nl-BE" dirty="0"/>
              <a:t>RESPONSIE- EN HERHALINGSCOLLEGE</a:t>
            </a:r>
          </a:p>
        </p:txBody>
      </p:sp>
    </p:spTree>
    <p:extLst>
      <p:ext uri="{BB962C8B-B14F-4D97-AF65-F5344CB8AC3E}">
        <p14:creationId xmlns:p14="http://schemas.microsoft.com/office/powerpoint/2010/main" val="382324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0BB113-7C1F-490F-89F9-21367164EF61}"/>
              </a:ext>
            </a:extLst>
          </p:cNvPr>
          <p:cNvSpPr>
            <a:spLocks noGrp="1"/>
          </p:cNvSpPr>
          <p:nvPr>
            <p:ph type="title"/>
          </p:nvPr>
        </p:nvSpPr>
        <p:spPr/>
        <p:txBody>
          <a:bodyPr/>
          <a:lstStyle/>
          <a:p>
            <a:r>
              <a:rPr lang="nl-BE" dirty="0"/>
              <a:t>VOORBEELDEXAMENVRAAG 1</a:t>
            </a:r>
          </a:p>
        </p:txBody>
      </p:sp>
      <p:sp>
        <p:nvSpPr>
          <p:cNvPr id="4" name="Tijdelijke aanduiding voor dianummer 3">
            <a:extLst>
              <a:ext uri="{FF2B5EF4-FFF2-40B4-BE49-F238E27FC236}">
                <a16:creationId xmlns:a16="http://schemas.microsoft.com/office/drawing/2014/main" id="{1B417AB7-5B94-434F-8924-32C72669DD4E}"/>
              </a:ext>
            </a:extLst>
          </p:cNvPr>
          <p:cNvSpPr>
            <a:spLocks noGrp="1"/>
          </p:cNvSpPr>
          <p:nvPr>
            <p:ph type="sldNum" sz="quarter" idx="12"/>
          </p:nvPr>
        </p:nvSpPr>
        <p:spPr/>
        <p:txBody>
          <a:bodyPr/>
          <a:lstStyle/>
          <a:p>
            <a:fld id="{7AE184E0-0BD4-4705-A12B-9B71DDE63301}" type="slidenum">
              <a:rPr lang="en-GB" noProof="0" smtClean="0"/>
              <a:t>4</a:t>
            </a:fld>
            <a:endParaRPr lang="en-GB" noProof="0" dirty="0"/>
          </a:p>
        </p:txBody>
      </p:sp>
      <p:sp>
        <p:nvSpPr>
          <p:cNvPr id="5" name="Tijdelijke aanduiding voor inhoud 4">
            <a:extLst>
              <a:ext uri="{FF2B5EF4-FFF2-40B4-BE49-F238E27FC236}">
                <a16:creationId xmlns:a16="http://schemas.microsoft.com/office/drawing/2014/main" id="{554E9708-CD41-460A-845B-C8D0862645F7}"/>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059A6752-7345-415B-84F0-582FFD4A3046}"/>
              </a:ext>
            </a:extLst>
          </p:cNvPr>
          <p:cNvSpPr>
            <a:spLocks noGrp="1"/>
          </p:cNvSpPr>
          <p:nvPr>
            <p:ph idx="1"/>
          </p:nvPr>
        </p:nvSpPr>
        <p:spPr>
          <a:xfrm>
            <a:off x="327025" y="1816100"/>
            <a:ext cx="16859250" cy="6864350"/>
          </a:xfrm>
        </p:spPr>
        <p:txBody>
          <a:bodyPr>
            <a:normAutofit fontScale="85000" lnSpcReduction="20000"/>
          </a:bodyPr>
          <a:lstStyle/>
          <a:p>
            <a:pPr marL="85725" indent="0" algn="just">
              <a:buNone/>
            </a:pPr>
            <a:r>
              <a:rPr lang="nl-BE" sz="4000" b="1" dirty="0">
                <a:solidFill>
                  <a:srgbClr val="002060"/>
                </a:solidFill>
              </a:rPr>
              <a:t>Om het concept “geluk” te meten heeft een onderzoeker een schaal gemaakt met zes items. De totaalscore op deze vragen is de </a:t>
            </a:r>
            <a:r>
              <a:rPr lang="nl-BE" sz="4000" b="1" dirty="0" err="1">
                <a:solidFill>
                  <a:srgbClr val="002060"/>
                </a:solidFill>
              </a:rPr>
              <a:t>geluksscore</a:t>
            </a:r>
            <a:r>
              <a:rPr lang="nl-BE" sz="4000" b="1" dirty="0">
                <a:solidFill>
                  <a:srgbClr val="002060"/>
                </a:solidFill>
              </a:rPr>
              <a:t>. Zij vraagt zich af of de vragen wel allemaal een gelijksoortig concept meten.  </a:t>
            </a:r>
          </a:p>
          <a:p>
            <a:pPr marL="85725" indent="0" algn="just">
              <a:buNone/>
            </a:pPr>
            <a:r>
              <a:rPr lang="nl-BE" sz="4000" b="1" dirty="0">
                <a:solidFill>
                  <a:srgbClr val="002060"/>
                </a:solidFill>
              </a:rPr>
              <a:t>De onderzoeker twijfelt aan de… </a:t>
            </a:r>
          </a:p>
          <a:p>
            <a:pPr marL="85725" indent="0" algn="just">
              <a:buNone/>
            </a:pPr>
            <a:r>
              <a:rPr lang="nl-BE" sz="4000" u="sng" dirty="0">
                <a:solidFill>
                  <a:srgbClr val="002060"/>
                </a:solidFill>
              </a:rPr>
              <a:t>Maak 1 keuze</a:t>
            </a:r>
          </a:p>
          <a:p>
            <a:pPr marL="4551289" lvl="7" indent="0">
              <a:buNone/>
            </a:pPr>
            <a:r>
              <a:rPr lang="nl-BE" sz="4000" dirty="0">
                <a:solidFill>
                  <a:srgbClr val="002060"/>
                </a:solidFill>
              </a:rPr>
              <a:t>1. … validiteit</a:t>
            </a:r>
          </a:p>
          <a:p>
            <a:pPr marL="4551289" lvl="7" indent="0">
              <a:buNone/>
            </a:pPr>
            <a:endParaRPr lang="nl-BE" sz="4000" dirty="0">
              <a:solidFill>
                <a:srgbClr val="002060"/>
              </a:solidFill>
            </a:endParaRPr>
          </a:p>
          <a:p>
            <a:pPr marL="4551289" lvl="7" indent="0">
              <a:buNone/>
            </a:pPr>
            <a:r>
              <a:rPr lang="nl-BE" sz="4000" dirty="0">
                <a:solidFill>
                  <a:srgbClr val="002060"/>
                </a:solidFill>
              </a:rPr>
              <a:t>2. … interne consistentie</a:t>
            </a:r>
          </a:p>
          <a:p>
            <a:pPr marL="4551289" lvl="7" indent="0">
              <a:buNone/>
            </a:pPr>
            <a:endParaRPr lang="nl-BE" sz="4000" dirty="0">
              <a:solidFill>
                <a:srgbClr val="002060"/>
              </a:solidFill>
            </a:endParaRPr>
          </a:p>
          <a:p>
            <a:pPr marL="4551289" lvl="7" indent="0">
              <a:buNone/>
            </a:pPr>
            <a:r>
              <a:rPr lang="nl-BE" sz="4000" dirty="0">
                <a:solidFill>
                  <a:srgbClr val="002060"/>
                </a:solidFill>
              </a:rPr>
              <a:t>3. … stabiliteit</a:t>
            </a:r>
          </a:p>
          <a:p>
            <a:pPr marL="4551289" lvl="7" indent="0">
              <a:buNone/>
            </a:pPr>
            <a:endParaRPr lang="nl-BE" sz="4000" dirty="0">
              <a:solidFill>
                <a:srgbClr val="002060"/>
              </a:solidFill>
            </a:endParaRPr>
          </a:p>
          <a:p>
            <a:pPr marL="4551289" lvl="7" indent="0">
              <a:buNone/>
            </a:pPr>
            <a:r>
              <a:rPr lang="nl-BE" sz="4000" dirty="0">
                <a:solidFill>
                  <a:srgbClr val="002060"/>
                </a:solidFill>
              </a:rPr>
              <a:t>4. … factorstructuur</a:t>
            </a:r>
          </a:p>
          <a:p>
            <a:pPr>
              <a:buFont typeface="Arial" panose="020B0604020202020204" pitchFamily="34" charset="0"/>
              <a:buChar char="•"/>
            </a:pPr>
            <a:endParaRPr lang="nl-BE" dirty="0"/>
          </a:p>
        </p:txBody>
      </p:sp>
    </p:spTree>
    <p:extLst>
      <p:ext uri="{BB962C8B-B14F-4D97-AF65-F5344CB8AC3E}">
        <p14:creationId xmlns:p14="http://schemas.microsoft.com/office/powerpoint/2010/main" val="282485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0BB113-7C1F-490F-89F9-21367164EF61}"/>
              </a:ext>
            </a:extLst>
          </p:cNvPr>
          <p:cNvSpPr>
            <a:spLocks noGrp="1"/>
          </p:cNvSpPr>
          <p:nvPr>
            <p:ph type="title"/>
          </p:nvPr>
        </p:nvSpPr>
        <p:spPr/>
        <p:txBody>
          <a:bodyPr/>
          <a:lstStyle/>
          <a:p>
            <a:r>
              <a:rPr lang="nl-BE" dirty="0"/>
              <a:t>VOORBEELDEXAMENVRAAG 1</a:t>
            </a:r>
          </a:p>
        </p:txBody>
      </p:sp>
      <p:sp>
        <p:nvSpPr>
          <p:cNvPr id="4" name="Tijdelijke aanduiding voor dianummer 3">
            <a:extLst>
              <a:ext uri="{FF2B5EF4-FFF2-40B4-BE49-F238E27FC236}">
                <a16:creationId xmlns:a16="http://schemas.microsoft.com/office/drawing/2014/main" id="{1B417AB7-5B94-434F-8924-32C72669DD4E}"/>
              </a:ext>
            </a:extLst>
          </p:cNvPr>
          <p:cNvSpPr>
            <a:spLocks noGrp="1"/>
          </p:cNvSpPr>
          <p:nvPr>
            <p:ph type="sldNum" sz="quarter" idx="12"/>
          </p:nvPr>
        </p:nvSpPr>
        <p:spPr/>
        <p:txBody>
          <a:bodyPr/>
          <a:lstStyle/>
          <a:p>
            <a:fld id="{7AE184E0-0BD4-4705-A12B-9B71DDE63301}" type="slidenum">
              <a:rPr lang="en-GB" noProof="0" smtClean="0"/>
              <a:t>5</a:t>
            </a:fld>
            <a:endParaRPr lang="en-GB" noProof="0" dirty="0"/>
          </a:p>
        </p:txBody>
      </p:sp>
      <p:sp>
        <p:nvSpPr>
          <p:cNvPr id="5" name="Tijdelijke aanduiding voor inhoud 4">
            <a:extLst>
              <a:ext uri="{FF2B5EF4-FFF2-40B4-BE49-F238E27FC236}">
                <a16:creationId xmlns:a16="http://schemas.microsoft.com/office/drawing/2014/main" id="{554E9708-CD41-460A-845B-C8D0862645F7}"/>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059A6752-7345-415B-84F0-582FFD4A3046}"/>
              </a:ext>
            </a:extLst>
          </p:cNvPr>
          <p:cNvSpPr>
            <a:spLocks noGrp="1"/>
          </p:cNvSpPr>
          <p:nvPr>
            <p:ph idx="1"/>
          </p:nvPr>
        </p:nvSpPr>
        <p:spPr>
          <a:xfrm>
            <a:off x="327025" y="1816100"/>
            <a:ext cx="16859250" cy="6864350"/>
          </a:xfrm>
        </p:spPr>
        <p:txBody>
          <a:bodyPr>
            <a:normAutofit fontScale="85000" lnSpcReduction="20000"/>
          </a:bodyPr>
          <a:lstStyle/>
          <a:p>
            <a:pPr marL="85725" indent="0" algn="just">
              <a:buNone/>
            </a:pPr>
            <a:r>
              <a:rPr lang="nl-BE" sz="4000" b="1" dirty="0">
                <a:solidFill>
                  <a:srgbClr val="002060"/>
                </a:solidFill>
              </a:rPr>
              <a:t>Om het concept “geluk” te meten heeft een onderzoeker een schaal gemaakt met zes items. De totaalscore op deze vragen is de </a:t>
            </a:r>
            <a:r>
              <a:rPr lang="nl-BE" sz="4000" b="1" dirty="0" err="1">
                <a:solidFill>
                  <a:srgbClr val="002060"/>
                </a:solidFill>
              </a:rPr>
              <a:t>geluksscore</a:t>
            </a:r>
            <a:r>
              <a:rPr lang="nl-BE" sz="4000" b="1" dirty="0">
                <a:solidFill>
                  <a:srgbClr val="002060"/>
                </a:solidFill>
              </a:rPr>
              <a:t>. Zij vraagt zich af of de vragen wel allemaal een gelijksoortig concept meten.  </a:t>
            </a:r>
          </a:p>
          <a:p>
            <a:pPr marL="85725" indent="0" algn="just">
              <a:buNone/>
            </a:pPr>
            <a:r>
              <a:rPr lang="nl-BE" sz="4000" b="1" dirty="0">
                <a:solidFill>
                  <a:srgbClr val="002060"/>
                </a:solidFill>
              </a:rPr>
              <a:t>De onderzoeker twijfelt aan de… </a:t>
            </a:r>
          </a:p>
          <a:p>
            <a:pPr marL="85725" indent="0" algn="just">
              <a:buNone/>
            </a:pPr>
            <a:r>
              <a:rPr lang="nl-BE" sz="4000" u="sng" dirty="0">
                <a:solidFill>
                  <a:srgbClr val="002060"/>
                </a:solidFill>
              </a:rPr>
              <a:t>Maak 1 keuze</a:t>
            </a:r>
          </a:p>
          <a:p>
            <a:pPr marL="4551289" lvl="7" indent="0">
              <a:buNone/>
            </a:pPr>
            <a:r>
              <a:rPr lang="nl-BE" sz="4000" dirty="0">
                <a:solidFill>
                  <a:srgbClr val="002060"/>
                </a:solidFill>
              </a:rPr>
              <a:t>1. … validiteit</a:t>
            </a:r>
          </a:p>
          <a:p>
            <a:pPr marL="4551289" lvl="7" indent="0">
              <a:buNone/>
            </a:pPr>
            <a:endParaRPr lang="nl-BE" sz="4000" dirty="0">
              <a:solidFill>
                <a:srgbClr val="002060"/>
              </a:solidFill>
            </a:endParaRPr>
          </a:p>
          <a:p>
            <a:pPr marL="4551289" lvl="7" indent="0">
              <a:buNone/>
            </a:pPr>
            <a:r>
              <a:rPr lang="nl-BE" sz="4000" b="1" dirty="0">
                <a:solidFill>
                  <a:srgbClr val="C00000"/>
                </a:solidFill>
                <a:highlight>
                  <a:srgbClr val="FFFF00"/>
                </a:highlight>
              </a:rPr>
              <a:t>2. … interne consistentie</a:t>
            </a:r>
          </a:p>
          <a:p>
            <a:pPr marL="4551289" lvl="7" indent="0">
              <a:buNone/>
            </a:pPr>
            <a:endParaRPr lang="nl-BE" sz="4000" dirty="0">
              <a:solidFill>
                <a:srgbClr val="002060"/>
              </a:solidFill>
            </a:endParaRPr>
          </a:p>
          <a:p>
            <a:pPr marL="4551289" lvl="7" indent="0">
              <a:buNone/>
            </a:pPr>
            <a:r>
              <a:rPr lang="nl-BE" sz="4000" dirty="0">
                <a:solidFill>
                  <a:srgbClr val="002060"/>
                </a:solidFill>
              </a:rPr>
              <a:t>3. … stabiliteit</a:t>
            </a:r>
          </a:p>
          <a:p>
            <a:pPr marL="4551289" lvl="7" indent="0">
              <a:buNone/>
            </a:pPr>
            <a:endParaRPr lang="nl-BE" sz="4000" dirty="0">
              <a:solidFill>
                <a:srgbClr val="002060"/>
              </a:solidFill>
            </a:endParaRPr>
          </a:p>
          <a:p>
            <a:pPr marL="4551289" lvl="7" indent="0">
              <a:buNone/>
            </a:pPr>
            <a:r>
              <a:rPr lang="nl-BE" sz="4000" dirty="0">
                <a:solidFill>
                  <a:srgbClr val="002060"/>
                </a:solidFill>
              </a:rPr>
              <a:t>4. … factorstructuur</a:t>
            </a:r>
          </a:p>
          <a:p>
            <a:pPr marL="4551289" lvl="7" indent="0">
              <a:buNone/>
            </a:pPr>
            <a:endParaRPr lang="nl-BE" sz="4000" dirty="0">
              <a:solidFill>
                <a:srgbClr val="002060"/>
              </a:solidFill>
            </a:endParaRPr>
          </a:p>
          <a:p>
            <a:pPr>
              <a:buFont typeface="Arial" panose="020B0604020202020204" pitchFamily="34" charset="0"/>
              <a:buChar char="•"/>
            </a:pPr>
            <a:endParaRPr lang="nl-BE" dirty="0"/>
          </a:p>
        </p:txBody>
      </p:sp>
      <p:pic>
        <p:nvPicPr>
          <p:cNvPr id="3" name="Afbeelding 2">
            <a:extLst>
              <a:ext uri="{FF2B5EF4-FFF2-40B4-BE49-F238E27FC236}">
                <a16:creationId xmlns:a16="http://schemas.microsoft.com/office/drawing/2014/main" id="{122371D4-1E71-4C2C-9DF1-3E1D32FB1E9E}"/>
              </a:ext>
            </a:extLst>
          </p:cNvPr>
          <p:cNvPicPr>
            <a:picLocks noChangeAspect="1"/>
          </p:cNvPicPr>
          <p:nvPr/>
        </p:nvPicPr>
        <p:blipFill>
          <a:blip r:embed="rId3"/>
          <a:stretch>
            <a:fillRect/>
          </a:stretch>
        </p:blipFill>
        <p:spPr>
          <a:xfrm>
            <a:off x="11264677" y="4876800"/>
            <a:ext cx="4999153" cy="3560373"/>
          </a:xfrm>
          <a:prstGeom prst="rect">
            <a:avLst/>
          </a:prstGeom>
        </p:spPr>
      </p:pic>
    </p:spTree>
    <p:extLst>
      <p:ext uri="{BB962C8B-B14F-4D97-AF65-F5344CB8AC3E}">
        <p14:creationId xmlns:p14="http://schemas.microsoft.com/office/powerpoint/2010/main" val="213205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BA2A4A6-943A-BB77-2467-7E804C2117EC}"/>
              </a:ext>
            </a:extLst>
          </p:cNvPr>
          <p:cNvSpPr>
            <a:spLocks noGrp="1"/>
          </p:cNvSpPr>
          <p:nvPr>
            <p:ph idx="1"/>
          </p:nvPr>
        </p:nvSpPr>
        <p:spPr/>
        <p:txBody>
          <a:bodyPr>
            <a:normAutofit fontScale="77500" lnSpcReduction="20000"/>
          </a:bodyPr>
          <a:lstStyle/>
          <a:p>
            <a:r>
              <a:rPr lang="nl-BE" b="1" dirty="0">
                <a:solidFill>
                  <a:srgbClr val="C00000"/>
                </a:solidFill>
                <a:highlight>
                  <a:srgbClr val="FFFF00"/>
                </a:highlight>
              </a:rPr>
              <a:t>Correcte antwoord = Interne consistentie   </a:t>
            </a:r>
          </a:p>
          <a:p>
            <a:r>
              <a:rPr lang="nl-BE" dirty="0">
                <a:solidFill>
                  <a:srgbClr val="002060"/>
                </a:solidFill>
                <a:highlight>
                  <a:srgbClr val="FFFF00"/>
                </a:highlight>
              </a:rPr>
              <a:t>Betreft de mate waarin items </a:t>
            </a:r>
            <a:r>
              <a:rPr lang="nl-BE" dirty="0" err="1">
                <a:solidFill>
                  <a:srgbClr val="002060"/>
                </a:solidFill>
                <a:highlight>
                  <a:srgbClr val="FFFF00"/>
                </a:highlight>
              </a:rPr>
              <a:t>inter</a:t>
            </a:r>
            <a:r>
              <a:rPr lang="nl-BE" dirty="0">
                <a:solidFill>
                  <a:srgbClr val="002060"/>
                </a:solidFill>
                <a:highlight>
                  <a:srgbClr val="FFFF00"/>
                </a:highlight>
              </a:rPr>
              <a:t>-gerelateerd zijn met elkaar</a:t>
            </a:r>
          </a:p>
          <a:p>
            <a:r>
              <a:rPr lang="nl-BE" dirty="0">
                <a:solidFill>
                  <a:srgbClr val="002060"/>
                </a:solidFill>
              </a:rPr>
              <a:t>Meten de items die een schaal maken een gelijksoortig construct?</a:t>
            </a:r>
          </a:p>
          <a:p>
            <a:r>
              <a:rPr lang="nl-BE" dirty="0">
                <a:solidFill>
                  <a:srgbClr val="002060"/>
                </a:solidFill>
              </a:rPr>
              <a:t>De interne consistentie wordt uitgedrukt aan de hand van </a:t>
            </a:r>
            <a:r>
              <a:rPr lang="nl-BE" dirty="0" err="1">
                <a:solidFill>
                  <a:srgbClr val="002060"/>
                </a:solidFill>
              </a:rPr>
              <a:t>Cronbach’s</a:t>
            </a:r>
            <a:r>
              <a:rPr lang="nl-BE" dirty="0">
                <a:solidFill>
                  <a:srgbClr val="002060"/>
                </a:solidFill>
              </a:rPr>
              <a:t> </a:t>
            </a:r>
            <a:r>
              <a:rPr lang="nl-BE" dirty="0" err="1">
                <a:solidFill>
                  <a:srgbClr val="002060"/>
                </a:solidFill>
              </a:rPr>
              <a:t>alpha</a:t>
            </a:r>
            <a:r>
              <a:rPr lang="nl-BE" dirty="0">
                <a:solidFill>
                  <a:srgbClr val="002060"/>
                </a:solidFill>
              </a:rPr>
              <a:t> (CA), </a:t>
            </a:r>
          </a:p>
          <a:p>
            <a:r>
              <a:rPr lang="nl-BE" dirty="0">
                <a:solidFill>
                  <a:srgbClr val="002060"/>
                </a:solidFill>
              </a:rPr>
              <a:t>een waarde van ,80 of hoger veronderstelt goede interne consistentie</a:t>
            </a:r>
          </a:p>
          <a:p>
            <a:endParaRPr lang="nl-BE" dirty="0">
              <a:solidFill>
                <a:srgbClr val="002060"/>
              </a:solidFill>
            </a:endParaRPr>
          </a:p>
          <a:p>
            <a:r>
              <a:rPr lang="nl-BE" dirty="0">
                <a:solidFill>
                  <a:srgbClr val="002060"/>
                </a:solidFill>
              </a:rPr>
              <a:t>OPMERKING: </a:t>
            </a:r>
            <a:r>
              <a:rPr lang="nl-BE" b="1" u="sng" dirty="0">
                <a:solidFill>
                  <a:srgbClr val="002060"/>
                </a:solidFill>
              </a:rPr>
              <a:t>interne consistentie is niet gelijk aan homogeniteit </a:t>
            </a:r>
            <a:r>
              <a:rPr lang="nl-BE" dirty="0">
                <a:solidFill>
                  <a:srgbClr val="002060"/>
                </a:solidFill>
              </a:rPr>
              <a:t>(beide termen worden soms als synoniemen gebruikt en dit is niet juist)</a:t>
            </a:r>
          </a:p>
          <a:p>
            <a:r>
              <a:rPr lang="nl-BE" dirty="0">
                <a:solidFill>
                  <a:srgbClr val="002060"/>
                </a:solidFill>
              </a:rPr>
              <a:t>Een homogene schaal betreft een </a:t>
            </a:r>
            <a:r>
              <a:rPr lang="nl-BE" dirty="0" err="1">
                <a:solidFill>
                  <a:srgbClr val="002060"/>
                </a:solidFill>
              </a:rPr>
              <a:t>unidimensionele</a:t>
            </a:r>
            <a:r>
              <a:rPr lang="nl-BE" dirty="0">
                <a:solidFill>
                  <a:srgbClr val="002060"/>
                </a:solidFill>
              </a:rPr>
              <a:t> schaal. </a:t>
            </a:r>
          </a:p>
          <a:p>
            <a:r>
              <a:rPr lang="nl-BE" dirty="0">
                <a:solidFill>
                  <a:srgbClr val="002060"/>
                </a:solidFill>
              </a:rPr>
              <a:t>We hebben in de oefeningen gezien dat schalen een goede CA kunnen hebben en bestaan uit meerdere dimensies (</a:t>
            </a:r>
            <a:r>
              <a:rPr lang="nl-BE" dirty="0" err="1">
                <a:solidFill>
                  <a:srgbClr val="002060"/>
                </a:solidFill>
              </a:rPr>
              <a:t>subschalen</a:t>
            </a:r>
            <a:r>
              <a:rPr lang="nl-BE" dirty="0">
                <a:solidFill>
                  <a:srgbClr val="002060"/>
                </a:solidFill>
              </a:rPr>
              <a:t>).</a:t>
            </a:r>
          </a:p>
          <a:p>
            <a:endParaRPr lang="nl-BE" dirty="0">
              <a:solidFill>
                <a:srgbClr val="002060"/>
              </a:solidFill>
            </a:endParaRPr>
          </a:p>
          <a:p>
            <a:r>
              <a:rPr lang="nl-BE" b="1" dirty="0">
                <a:solidFill>
                  <a:srgbClr val="002060"/>
                </a:solidFill>
                <a:highlight>
                  <a:srgbClr val="FFFF00"/>
                </a:highlight>
              </a:rPr>
              <a:t>Validiteit =  geldigheid</a:t>
            </a:r>
          </a:p>
          <a:p>
            <a:r>
              <a:rPr lang="nl-BE" dirty="0">
                <a:solidFill>
                  <a:srgbClr val="002060"/>
                </a:solidFill>
              </a:rPr>
              <a:t>Meten we datgene waarvoor het instrument bedoeld is om te meten</a:t>
            </a:r>
          </a:p>
          <a:p>
            <a:r>
              <a:rPr lang="nl-BE" dirty="0">
                <a:solidFill>
                  <a:srgbClr val="002060"/>
                </a:solidFill>
              </a:rPr>
              <a:t>Is het nauwkeurig?</a:t>
            </a:r>
          </a:p>
          <a:p>
            <a:endParaRPr lang="nl-BE" dirty="0">
              <a:solidFill>
                <a:srgbClr val="002060"/>
              </a:solidFill>
            </a:endParaRPr>
          </a:p>
          <a:p>
            <a:r>
              <a:rPr lang="nl-BE" sz="2800" b="1" kern="1200" dirty="0">
                <a:solidFill>
                  <a:srgbClr val="002060"/>
                </a:solidFill>
                <a:effectLst/>
                <a:highlight>
                  <a:srgbClr val="FFFF00"/>
                </a:highlight>
                <a:cs typeface="+mn-cs"/>
              </a:rPr>
              <a:t>De factorstructuur is de onderliggende latente structuur in de data.</a:t>
            </a:r>
          </a:p>
          <a:p>
            <a:r>
              <a:rPr lang="nl-BE" b="1" dirty="0">
                <a:solidFill>
                  <a:srgbClr val="002060"/>
                </a:solidFill>
                <a:highlight>
                  <a:srgbClr val="FFFF00"/>
                </a:highlight>
                <a:cs typeface="+mn-cs"/>
              </a:rPr>
              <a:t>De stabiliteit van een schaal betreft de consistentie in de testresultaten over tijd.</a:t>
            </a:r>
            <a:endParaRPr lang="nl-BE" sz="2800" b="1" kern="1200" dirty="0">
              <a:solidFill>
                <a:srgbClr val="002060"/>
              </a:solidFill>
              <a:effectLst/>
              <a:highlight>
                <a:srgbClr val="FFFF00"/>
              </a:highlight>
              <a:cs typeface="+mn-cs"/>
            </a:endParaRPr>
          </a:p>
        </p:txBody>
      </p:sp>
      <p:sp>
        <p:nvSpPr>
          <p:cNvPr id="4" name="Tijdelijke aanduiding voor dianummer 3">
            <a:extLst>
              <a:ext uri="{FF2B5EF4-FFF2-40B4-BE49-F238E27FC236}">
                <a16:creationId xmlns:a16="http://schemas.microsoft.com/office/drawing/2014/main" id="{CD6714ED-3717-E195-15DC-BD0D41DB653A}"/>
              </a:ext>
            </a:extLst>
          </p:cNvPr>
          <p:cNvSpPr>
            <a:spLocks noGrp="1"/>
          </p:cNvSpPr>
          <p:nvPr>
            <p:ph type="sldNum" sz="quarter" idx="12"/>
          </p:nvPr>
        </p:nvSpPr>
        <p:spPr/>
        <p:txBody>
          <a:bodyPr/>
          <a:lstStyle/>
          <a:p>
            <a:fld id="{7AE184E0-0BD4-4705-A12B-9B71DDE63301}" type="slidenum">
              <a:rPr lang="en-GB" noProof="0" smtClean="0"/>
              <a:t>6</a:t>
            </a:fld>
            <a:endParaRPr lang="en-GB" noProof="0" dirty="0"/>
          </a:p>
        </p:txBody>
      </p:sp>
      <p:sp>
        <p:nvSpPr>
          <p:cNvPr id="5" name="Tijdelijke aanduiding voor inhoud 4">
            <a:extLst>
              <a:ext uri="{FF2B5EF4-FFF2-40B4-BE49-F238E27FC236}">
                <a16:creationId xmlns:a16="http://schemas.microsoft.com/office/drawing/2014/main" id="{9C059A14-BDB0-A725-7ACD-8E9A092C1A3E}"/>
              </a:ext>
            </a:extLst>
          </p:cNvPr>
          <p:cNvSpPr>
            <a:spLocks noGrp="1"/>
          </p:cNvSpPr>
          <p:nvPr>
            <p:ph idx="13"/>
          </p:nvPr>
        </p:nvSpPr>
        <p:spPr/>
        <p:txBody>
          <a:bodyPr/>
          <a:lstStyle/>
          <a:p>
            <a:endParaRPr lang="nl-NL"/>
          </a:p>
        </p:txBody>
      </p:sp>
      <p:sp>
        <p:nvSpPr>
          <p:cNvPr id="8" name="Titel 1">
            <a:extLst>
              <a:ext uri="{FF2B5EF4-FFF2-40B4-BE49-F238E27FC236}">
                <a16:creationId xmlns:a16="http://schemas.microsoft.com/office/drawing/2014/main" id="{B71E8DF6-CF2E-6945-6D80-355A3ACA82D0}"/>
              </a:ext>
            </a:extLst>
          </p:cNvPr>
          <p:cNvSpPr>
            <a:spLocks noGrp="1"/>
          </p:cNvSpPr>
          <p:nvPr>
            <p:ph type="title"/>
          </p:nvPr>
        </p:nvSpPr>
        <p:spPr>
          <a:xfrm>
            <a:off x="2060575" y="123825"/>
            <a:ext cx="14951075" cy="949325"/>
          </a:xfrm>
        </p:spPr>
        <p:txBody>
          <a:bodyPr/>
          <a:lstStyle/>
          <a:p>
            <a:r>
              <a:rPr lang="nl-BE" dirty="0"/>
              <a:t>VOORBEELDEXAMENVRAAG 1</a:t>
            </a:r>
          </a:p>
        </p:txBody>
      </p:sp>
    </p:spTree>
    <p:extLst>
      <p:ext uri="{BB962C8B-B14F-4D97-AF65-F5344CB8AC3E}">
        <p14:creationId xmlns:p14="http://schemas.microsoft.com/office/powerpoint/2010/main" val="73430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C38675-2E47-4821-9A2D-99DBEAD668E9}"/>
              </a:ext>
            </a:extLst>
          </p:cNvPr>
          <p:cNvSpPr>
            <a:spLocks noGrp="1"/>
          </p:cNvSpPr>
          <p:nvPr>
            <p:ph type="title"/>
          </p:nvPr>
        </p:nvSpPr>
        <p:spPr/>
        <p:txBody>
          <a:bodyPr/>
          <a:lstStyle/>
          <a:p>
            <a:r>
              <a:rPr lang="nl-BE" dirty="0"/>
              <a:t>VOORBEELDEXAMENVRAAG 2</a:t>
            </a:r>
          </a:p>
        </p:txBody>
      </p:sp>
      <p:sp>
        <p:nvSpPr>
          <p:cNvPr id="4" name="Tijdelijke aanduiding voor dianummer 3">
            <a:extLst>
              <a:ext uri="{FF2B5EF4-FFF2-40B4-BE49-F238E27FC236}">
                <a16:creationId xmlns:a16="http://schemas.microsoft.com/office/drawing/2014/main" id="{28C4F546-E013-4DDB-8B3A-F214F1E33CE4}"/>
              </a:ext>
            </a:extLst>
          </p:cNvPr>
          <p:cNvSpPr>
            <a:spLocks noGrp="1"/>
          </p:cNvSpPr>
          <p:nvPr>
            <p:ph type="sldNum" sz="quarter" idx="12"/>
          </p:nvPr>
        </p:nvSpPr>
        <p:spPr/>
        <p:txBody>
          <a:bodyPr/>
          <a:lstStyle/>
          <a:p>
            <a:fld id="{7AE184E0-0BD4-4705-A12B-9B71DDE63301}" type="slidenum">
              <a:rPr lang="en-GB" noProof="0" smtClean="0"/>
              <a:t>7</a:t>
            </a:fld>
            <a:endParaRPr lang="en-GB" noProof="0" dirty="0"/>
          </a:p>
        </p:txBody>
      </p:sp>
      <p:sp>
        <p:nvSpPr>
          <p:cNvPr id="5" name="Tijdelijke aanduiding voor inhoud 4">
            <a:extLst>
              <a:ext uri="{FF2B5EF4-FFF2-40B4-BE49-F238E27FC236}">
                <a16:creationId xmlns:a16="http://schemas.microsoft.com/office/drawing/2014/main" id="{B259B091-4189-4F8E-AA58-BB779EA6F973}"/>
              </a:ext>
            </a:extLst>
          </p:cNvPr>
          <p:cNvSpPr>
            <a:spLocks noGrp="1"/>
          </p:cNvSpPr>
          <p:nvPr>
            <p:ph idx="13"/>
          </p:nvPr>
        </p:nvSpPr>
        <p:spPr/>
        <p:txBody>
          <a:bodyPr/>
          <a:lstStyle/>
          <a:p>
            <a:endParaRPr lang="nl-BE"/>
          </a:p>
        </p:txBody>
      </p:sp>
      <p:sp>
        <p:nvSpPr>
          <p:cNvPr id="6" name="Content Placeholder 2">
            <a:extLst>
              <a:ext uri="{FF2B5EF4-FFF2-40B4-BE49-F238E27FC236}">
                <a16:creationId xmlns:a16="http://schemas.microsoft.com/office/drawing/2014/main" id="{EF647CD7-73E9-477D-91DC-7E422F37CC4D}"/>
              </a:ext>
            </a:extLst>
          </p:cNvPr>
          <p:cNvSpPr>
            <a:spLocks noGrp="1"/>
          </p:cNvSpPr>
          <p:nvPr>
            <p:ph idx="1"/>
          </p:nvPr>
        </p:nvSpPr>
        <p:spPr>
          <a:xfrm>
            <a:off x="327025" y="1816100"/>
            <a:ext cx="16859250" cy="6864350"/>
          </a:xfrm>
        </p:spPr>
        <p:txBody>
          <a:bodyPr>
            <a:normAutofit/>
          </a:bodyPr>
          <a:lstStyle/>
          <a:p>
            <a:pPr marL="85725" indent="0">
              <a:buNone/>
            </a:pPr>
            <a:r>
              <a:rPr lang="en-US" b="1" i="1" dirty="0">
                <a:solidFill>
                  <a:srgbClr val="002060"/>
                </a:solidFill>
              </a:rPr>
              <a:t>PROMAX </a:t>
            </a:r>
            <a:r>
              <a:rPr lang="en-US" b="1" i="1" dirty="0" err="1">
                <a:solidFill>
                  <a:srgbClr val="002060"/>
                </a:solidFill>
              </a:rPr>
              <a:t>rotatie-methode</a:t>
            </a:r>
            <a:r>
              <a:rPr lang="en-US" b="1" i="1" dirty="0">
                <a:solidFill>
                  <a:srgbClr val="002060"/>
                </a:solidFill>
              </a:rPr>
              <a:t> is ….</a:t>
            </a:r>
          </a:p>
          <a:p>
            <a:pPr marL="85725" indent="0">
              <a:buNone/>
            </a:pPr>
            <a:endParaRPr lang="en-US" dirty="0">
              <a:solidFill>
                <a:srgbClr val="002060"/>
              </a:solidFill>
            </a:endParaRPr>
          </a:p>
          <a:p>
            <a:pPr marL="85725" indent="0">
              <a:buNone/>
            </a:pPr>
            <a:r>
              <a:rPr lang="en-US" u="sng" dirty="0" err="1">
                <a:solidFill>
                  <a:srgbClr val="002060"/>
                </a:solidFill>
              </a:rPr>
              <a:t>Maak</a:t>
            </a:r>
            <a:r>
              <a:rPr lang="en-US" u="sng" dirty="0">
                <a:solidFill>
                  <a:srgbClr val="002060"/>
                </a:solidFill>
              </a:rPr>
              <a:t> 1 </a:t>
            </a:r>
            <a:r>
              <a:rPr lang="en-US" u="sng" dirty="0" err="1">
                <a:solidFill>
                  <a:srgbClr val="002060"/>
                </a:solidFill>
              </a:rPr>
              <a:t>keuze</a:t>
            </a:r>
            <a:endParaRPr lang="en-US" u="sng" dirty="0">
              <a:solidFill>
                <a:srgbClr val="002060"/>
              </a:solidFill>
            </a:endParaRPr>
          </a:p>
          <a:p>
            <a:pPr marL="85725" indent="0">
              <a:buNone/>
            </a:pPr>
            <a:endParaRPr lang="en-US" u="sng"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oblique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a:t>
            </a:r>
            <a:r>
              <a:rPr lang="en-US" dirty="0" err="1">
                <a:solidFill>
                  <a:srgbClr val="002060"/>
                </a:solidFill>
              </a:rPr>
              <a:t>orthogonale</a:t>
            </a:r>
            <a:r>
              <a:rPr lang="en-US" dirty="0">
                <a:solidFill>
                  <a:srgbClr val="002060"/>
                </a:solidFill>
              </a:rPr>
              <a:t>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oblique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niet</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a:t>
            </a:r>
            <a:r>
              <a:rPr lang="en-US" dirty="0" err="1">
                <a:solidFill>
                  <a:srgbClr val="002060"/>
                </a:solidFill>
              </a:rPr>
              <a:t>orthogonale</a:t>
            </a:r>
            <a:r>
              <a:rPr lang="en-US" dirty="0">
                <a:solidFill>
                  <a:srgbClr val="002060"/>
                </a:solidFill>
              </a:rPr>
              <a:t>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niet</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nl-BE" dirty="0"/>
          </a:p>
        </p:txBody>
      </p:sp>
    </p:spTree>
    <p:extLst>
      <p:ext uri="{BB962C8B-B14F-4D97-AF65-F5344CB8AC3E}">
        <p14:creationId xmlns:p14="http://schemas.microsoft.com/office/powerpoint/2010/main" val="1579623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C38675-2E47-4821-9A2D-99DBEAD668E9}"/>
              </a:ext>
            </a:extLst>
          </p:cNvPr>
          <p:cNvSpPr>
            <a:spLocks noGrp="1"/>
          </p:cNvSpPr>
          <p:nvPr>
            <p:ph type="title"/>
          </p:nvPr>
        </p:nvSpPr>
        <p:spPr/>
        <p:txBody>
          <a:bodyPr/>
          <a:lstStyle/>
          <a:p>
            <a:r>
              <a:rPr lang="nl-BE" dirty="0"/>
              <a:t>VOORBEELDEXAMENVRAAG 2</a:t>
            </a:r>
          </a:p>
        </p:txBody>
      </p:sp>
      <p:sp>
        <p:nvSpPr>
          <p:cNvPr id="4" name="Tijdelijke aanduiding voor dianummer 3">
            <a:extLst>
              <a:ext uri="{FF2B5EF4-FFF2-40B4-BE49-F238E27FC236}">
                <a16:creationId xmlns:a16="http://schemas.microsoft.com/office/drawing/2014/main" id="{28C4F546-E013-4DDB-8B3A-F214F1E33CE4}"/>
              </a:ext>
            </a:extLst>
          </p:cNvPr>
          <p:cNvSpPr>
            <a:spLocks noGrp="1"/>
          </p:cNvSpPr>
          <p:nvPr>
            <p:ph type="sldNum" sz="quarter" idx="12"/>
          </p:nvPr>
        </p:nvSpPr>
        <p:spPr/>
        <p:txBody>
          <a:bodyPr/>
          <a:lstStyle/>
          <a:p>
            <a:fld id="{7AE184E0-0BD4-4705-A12B-9B71DDE63301}" type="slidenum">
              <a:rPr lang="en-GB" noProof="0" smtClean="0"/>
              <a:t>8</a:t>
            </a:fld>
            <a:endParaRPr lang="en-GB" noProof="0" dirty="0"/>
          </a:p>
        </p:txBody>
      </p:sp>
      <p:sp>
        <p:nvSpPr>
          <p:cNvPr id="5" name="Tijdelijke aanduiding voor inhoud 4">
            <a:extLst>
              <a:ext uri="{FF2B5EF4-FFF2-40B4-BE49-F238E27FC236}">
                <a16:creationId xmlns:a16="http://schemas.microsoft.com/office/drawing/2014/main" id="{B259B091-4189-4F8E-AA58-BB779EA6F973}"/>
              </a:ext>
            </a:extLst>
          </p:cNvPr>
          <p:cNvSpPr>
            <a:spLocks noGrp="1"/>
          </p:cNvSpPr>
          <p:nvPr>
            <p:ph idx="13"/>
          </p:nvPr>
        </p:nvSpPr>
        <p:spPr/>
        <p:txBody>
          <a:bodyPr/>
          <a:lstStyle/>
          <a:p>
            <a:endParaRPr lang="nl-BE"/>
          </a:p>
        </p:txBody>
      </p:sp>
      <p:sp>
        <p:nvSpPr>
          <p:cNvPr id="6" name="Content Placeholder 2">
            <a:extLst>
              <a:ext uri="{FF2B5EF4-FFF2-40B4-BE49-F238E27FC236}">
                <a16:creationId xmlns:a16="http://schemas.microsoft.com/office/drawing/2014/main" id="{EF647CD7-73E9-477D-91DC-7E422F37CC4D}"/>
              </a:ext>
            </a:extLst>
          </p:cNvPr>
          <p:cNvSpPr>
            <a:spLocks noGrp="1"/>
          </p:cNvSpPr>
          <p:nvPr>
            <p:ph idx="1"/>
          </p:nvPr>
        </p:nvSpPr>
        <p:spPr>
          <a:xfrm>
            <a:off x="327025" y="1816100"/>
            <a:ext cx="16859250" cy="6864350"/>
          </a:xfrm>
        </p:spPr>
        <p:txBody>
          <a:bodyPr>
            <a:normAutofit/>
          </a:bodyPr>
          <a:lstStyle/>
          <a:p>
            <a:pPr marL="85725" indent="0">
              <a:buNone/>
            </a:pPr>
            <a:r>
              <a:rPr lang="en-US" b="1" i="1" dirty="0">
                <a:solidFill>
                  <a:srgbClr val="002060"/>
                </a:solidFill>
              </a:rPr>
              <a:t>PROMAX </a:t>
            </a:r>
            <a:r>
              <a:rPr lang="en-US" b="1" i="1" dirty="0" err="1">
                <a:solidFill>
                  <a:srgbClr val="002060"/>
                </a:solidFill>
              </a:rPr>
              <a:t>rotatie-methode</a:t>
            </a:r>
            <a:r>
              <a:rPr lang="en-US" b="1" i="1" dirty="0">
                <a:solidFill>
                  <a:srgbClr val="002060"/>
                </a:solidFill>
              </a:rPr>
              <a:t> is ….</a:t>
            </a:r>
          </a:p>
          <a:p>
            <a:pPr marL="85725" indent="0">
              <a:buNone/>
            </a:pPr>
            <a:endParaRPr lang="en-US" dirty="0">
              <a:solidFill>
                <a:srgbClr val="002060"/>
              </a:solidFill>
            </a:endParaRPr>
          </a:p>
          <a:p>
            <a:pPr marL="85725" indent="0">
              <a:buNone/>
            </a:pPr>
            <a:r>
              <a:rPr lang="en-US" u="sng" dirty="0">
                <a:solidFill>
                  <a:srgbClr val="002060"/>
                </a:solidFill>
              </a:rPr>
              <a:t>Maak 1 </a:t>
            </a:r>
            <a:r>
              <a:rPr lang="en-US" u="sng" dirty="0" err="1">
                <a:solidFill>
                  <a:srgbClr val="002060"/>
                </a:solidFill>
              </a:rPr>
              <a:t>keuze</a:t>
            </a:r>
            <a:endParaRPr lang="en-US" u="sng" dirty="0">
              <a:solidFill>
                <a:srgbClr val="002060"/>
              </a:solidFill>
            </a:endParaRPr>
          </a:p>
          <a:p>
            <a:pPr marL="85725" indent="0">
              <a:buNone/>
            </a:pPr>
            <a:endParaRPr lang="en-US" u="sng" dirty="0">
              <a:solidFill>
                <a:srgbClr val="002060"/>
              </a:solidFill>
            </a:endParaRPr>
          </a:p>
          <a:p>
            <a:pPr>
              <a:buFont typeface="Arial" panose="020B0604020202020204" pitchFamily="34" charset="0"/>
              <a:buChar char="•"/>
            </a:pPr>
            <a:r>
              <a:rPr lang="en-US" b="1" dirty="0">
                <a:solidFill>
                  <a:srgbClr val="C00000"/>
                </a:solidFill>
                <a:highlight>
                  <a:srgbClr val="FFFF00"/>
                </a:highlight>
              </a:rPr>
              <a:t>… </a:t>
            </a:r>
            <a:r>
              <a:rPr lang="en-US" b="1" dirty="0" err="1">
                <a:solidFill>
                  <a:srgbClr val="C00000"/>
                </a:solidFill>
                <a:highlight>
                  <a:srgbClr val="FFFF00"/>
                </a:highlight>
              </a:rPr>
              <a:t>een</a:t>
            </a:r>
            <a:r>
              <a:rPr lang="en-US" b="1" dirty="0">
                <a:solidFill>
                  <a:srgbClr val="C00000"/>
                </a:solidFill>
                <a:highlight>
                  <a:srgbClr val="FFFF00"/>
                </a:highlight>
              </a:rPr>
              <a:t> oblique </a:t>
            </a:r>
            <a:r>
              <a:rPr lang="en-US" b="1" dirty="0" err="1">
                <a:solidFill>
                  <a:srgbClr val="C00000"/>
                </a:solidFill>
                <a:highlight>
                  <a:srgbClr val="FFFF00"/>
                </a:highlight>
              </a:rPr>
              <a:t>rotatie</a:t>
            </a:r>
            <a:r>
              <a:rPr lang="en-US" b="1" dirty="0">
                <a:solidFill>
                  <a:srgbClr val="C00000"/>
                </a:solidFill>
                <a:highlight>
                  <a:srgbClr val="FFFF00"/>
                </a:highlight>
              </a:rPr>
              <a:t>: de </a:t>
            </a:r>
            <a:r>
              <a:rPr lang="en-US" b="1" dirty="0" err="1">
                <a:solidFill>
                  <a:srgbClr val="C00000"/>
                </a:solidFill>
                <a:highlight>
                  <a:srgbClr val="FFFF00"/>
                </a:highlight>
              </a:rPr>
              <a:t>weerhouden</a:t>
            </a:r>
            <a:r>
              <a:rPr lang="en-US" b="1" dirty="0">
                <a:solidFill>
                  <a:srgbClr val="C00000"/>
                </a:solidFill>
                <a:highlight>
                  <a:srgbClr val="FFFF00"/>
                </a:highlight>
              </a:rPr>
              <a:t> </a:t>
            </a:r>
            <a:r>
              <a:rPr lang="en-US" b="1" dirty="0" err="1">
                <a:solidFill>
                  <a:srgbClr val="C00000"/>
                </a:solidFill>
                <a:highlight>
                  <a:srgbClr val="FFFF00"/>
                </a:highlight>
              </a:rPr>
              <a:t>factoren</a:t>
            </a:r>
            <a:r>
              <a:rPr lang="en-US" b="1" dirty="0">
                <a:solidFill>
                  <a:srgbClr val="C00000"/>
                </a:solidFill>
                <a:highlight>
                  <a:srgbClr val="FFFF00"/>
                </a:highlight>
              </a:rPr>
              <a:t> </a:t>
            </a:r>
            <a:r>
              <a:rPr lang="en-US" b="1" dirty="0" err="1">
                <a:solidFill>
                  <a:srgbClr val="C00000"/>
                </a:solidFill>
                <a:highlight>
                  <a:srgbClr val="FFFF00"/>
                </a:highlight>
              </a:rPr>
              <a:t>kunnen</a:t>
            </a:r>
            <a:r>
              <a:rPr lang="en-US" b="1" dirty="0">
                <a:solidFill>
                  <a:srgbClr val="C00000"/>
                </a:solidFill>
                <a:highlight>
                  <a:srgbClr val="FFFF00"/>
                </a:highlight>
              </a:rPr>
              <a:t> </a:t>
            </a:r>
            <a:r>
              <a:rPr lang="en-US" b="1" dirty="0" err="1">
                <a:solidFill>
                  <a:srgbClr val="C00000"/>
                </a:solidFill>
                <a:highlight>
                  <a:srgbClr val="FFFF00"/>
                </a:highlight>
              </a:rPr>
              <a:t>correleren</a:t>
            </a:r>
            <a:r>
              <a:rPr lang="en-US" b="1" dirty="0">
                <a:solidFill>
                  <a:srgbClr val="C00000"/>
                </a:solidFill>
                <a:highlight>
                  <a:srgbClr val="FFFF00"/>
                </a:highlight>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a:t>
            </a:r>
            <a:r>
              <a:rPr lang="en-US" dirty="0" err="1">
                <a:solidFill>
                  <a:srgbClr val="002060"/>
                </a:solidFill>
              </a:rPr>
              <a:t>orthogonale</a:t>
            </a:r>
            <a:r>
              <a:rPr lang="en-US" dirty="0">
                <a:solidFill>
                  <a:srgbClr val="002060"/>
                </a:solidFill>
              </a:rPr>
              <a:t>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oblique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niet</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en-US" dirty="0">
              <a:solidFill>
                <a:srgbClr val="002060"/>
              </a:solidFill>
            </a:endParaRPr>
          </a:p>
          <a:p>
            <a:pPr>
              <a:buFont typeface="Arial" panose="020B0604020202020204" pitchFamily="34" charset="0"/>
              <a:buChar char="•"/>
            </a:pPr>
            <a:r>
              <a:rPr lang="en-US" dirty="0">
                <a:solidFill>
                  <a:srgbClr val="002060"/>
                </a:solidFill>
              </a:rPr>
              <a:t>… </a:t>
            </a:r>
            <a:r>
              <a:rPr lang="en-US" dirty="0" err="1">
                <a:solidFill>
                  <a:srgbClr val="002060"/>
                </a:solidFill>
              </a:rPr>
              <a:t>een</a:t>
            </a:r>
            <a:r>
              <a:rPr lang="en-US" dirty="0">
                <a:solidFill>
                  <a:srgbClr val="002060"/>
                </a:solidFill>
              </a:rPr>
              <a:t> </a:t>
            </a:r>
            <a:r>
              <a:rPr lang="en-US" dirty="0" err="1">
                <a:solidFill>
                  <a:srgbClr val="002060"/>
                </a:solidFill>
              </a:rPr>
              <a:t>orthogonale</a:t>
            </a:r>
            <a:r>
              <a:rPr lang="en-US" dirty="0">
                <a:solidFill>
                  <a:srgbClr val="002060"/>
                </a:solidFill>
              </a:rPr>
              <a:t> </a:t>
            </a:r>
            <a:r>
              <a:rPr lang="en-US" dirty="0" err="1">
                <a:solidFill>
                  <a:srgbClr val="002060"/>
                </a:solidFill>
              </a:rPr>
              <a:t>rotatie</a:t>
            </a:r>
            <a:r>
              <a:rPr lang="en-US" dirty="0">
                <a:solidFill>
                  <a:srgbClr val="002060"/>
                </a:solidFill>
              </a:rPr>
              <a:t>: de </a:t>
            </a:r>
            <a:r>
              <a:rPr lang="en-US" dirty="0" err="1">
                <a:solidFill>
                  <a:srgbClr val="002060"/>
                </a:solidFill>
              </a:rPr>
              <a:t>weerhouden</a:t>
            </a:r>
            <a:r>
              <a:rPr lang="en-US" dirty="0">
                <a:solidFill>
                  <a:srgbClr val="002060"/>
                </a:solidFill>
              </a:rPr>
              <a:t> </a:t>
            </a:r>
            <a:r>
              <a:rPr lang="en-US" dirty="0" err="1">
                <a:solidFill>
                  <a:srgbClr val="002060"/>
                </a:solidFill>
              </a:rPr>
              <a:t>factoren</a:t>
            </a:r>
            <a:r>
              <a:rPr lang="en-US" dirty="0">
                <a:solidFill>
                  <a:srgbClr val="002060"/>
                </a:solidFill>
              </a:rPr>
              <a:t> </a:t>
            </a:r>
            <a:r>
              <a:rPr lang="en-US" dirty="0" err="1">
                <a:solidFill>
                  <a:srgbClr val="002060"/>
                </a:solidFill>
              </a:rPr>
              <a:t>kunnen</a:t>
            </a:r>
            <a:r>
              <a:rPr lang="en-US" dirty="0">
                <a:solidFill>
                  <a:srgbClr val="002060"/>
                </a:solidFill>
              </a:rPr>
              <a:t> </a:t>
            </a:r>
            <a:r>
              <a:rPr lang="en-US" dirty="0" err="1">
                <a:solidFill>
                  <a:srgbClr val="002060"/>
                </a:solidFill>
              </a:rPr>
              <a:t>niet</a:t>
            </a:r>
            <a:r>
              <a:rPr lang="en-US" dirty="0">
                <a:solidFill>
                  <a:srgbClr val="002060"/>
                </a:solidFill>
              </a:rPr>
              <a:t> </a:t>
            </a:r>
            <a:r>
              <a:rPr lang="en-US" dirty="0" err="1">
                <a:solidFill>
                  <a:srgbClr val="002060"/>
                </a:solidFill>
              </a:rPr>
              <a:t>correleren</a:t>
            </a:r>
            <a:r>
              <a:rPr lang="en-US" dirty="0">
                <a:solidFill>
                  <a:srgbClr val="002060"/>
                </a:solidFill>
              </a:rPr>
              <a:t>.</a:t>
            </a:r>
          </a:p>
          <a:p>
            <a:pPr marL="85725" indent="0">
              <a:buNone/>
            </a:pPr>
            <a:endParaRPr lang="nl-BE" dirty="0"/>
          </a:p>
        </p:txBody>
      </p:sp>
    </p:spTree>
    <p:extLst>
      <p:ext uri="{BB962C8B-B14F-4D97-AF65-F5344CB8AC3E}">
        <p14:creationId xmlns:p14="http://schemas.microsoft.com/office/powerpoint/2010/main" val="237464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C38675-2E47-4821-9A2D-99DBEAD668E9}"/>
              </a:ext>
            </a:extLst>
          </p:cNvPr>
          <p:cNvSpPr>
            <a:spLocks noGrp="1"/>
          </p:cNvSpPr>
          <p:nvPr>
            <p:ph type="title"/>
          </p:nvPr>
        </p:nvSpPr>
        <p:spPr/>
        <p:txBody>
          <a:bodyPr/>
          <a:lstStyle/>
          <a:p>
            <a:r>
              <a:rPr lang="nl-BE" dirty="0"/>
              <a:t>VOORBEELDEXAMENVRAAG 2</a:t>
            </a:r>
          </a:p>
        </p:txBody>
      </p:sp>
      <p:sp>
        <p:nvSpPr>
          <p:cNvPr id="4" name="Tijdelijke aanduiding voor dianummer 3">
            <a:extLst>
              <a:ext uri="{FF2B5EF4-FFF2-40B4-BE49-F238E27FC236}">
                <a16:creationId xmlns:a16="http://schemas.microsoft.com/office/drawing/2014/main" id="{28C4F546-E013-4DDB-8B3A-F214F1E33CE4}"/>
              </a:ext>
            </a:extLst>
          </p:cNvPr>
          <p:cNvSpPr>
            <a:spLocks noGrp="1"/>
          </p:cNvSpPr>
          <p:nvPr>
            <p:ph type="sldNum" sz="quarter" idx="12"/>
          </p:nvPr>
        </p:nvSpPr>
        <p:spPr/>
        <p:txBody>
          <a:bodyPr/>
          <a:lstStyle/>
          <a:p>
            <a:fld id="{7AE184E0-0BD4-4705-A12B-9B71DDE63301}" type="slidenum">
              <a:rPr lang="en-GB" noProof="0" smtClean="0"/>
              <a:t>9</a:t>
            </a:fld>
            <a:endParaRPr lang="en-GB" noProof="0" dirty="0"/>
          </a:p>
        </p:txBody>
      </p:sp>
      <p:sp>
        <p:nvSpPr>
          <p:cNvPr id="5" name="Tijdelijke aanduiding voor inhoud 4">
            <a:extLst>
              <a:ext uri="{FF2B5EF4-FFF2-40B4-BE49-F238E27FC236}">
                <a16:creationId xmlns:a16="http://schemas.microsoft.com/office/drawing/2014/main" id="{B259B091-4189-4F8E-AA58-BB779EA6F973}"/>
              </a:ext>
            </a:extLst>
          </p:cNvPr>
          <p:cNvSpPr>
            <a:spLocks noGrp="1"/>
          </p:cNvSpPr>
          <p:nvPr>
            <p:ph idx="13"/>
          </p:nvPr>
        </p:nvSpPr>
        <p:spPr/>
        <p:txBody>
          <a:bodyPr/>
          <a:lstStyle/>
          <a:p>
            <a:endParaRPr lang="nl-BE"/>
          </a:p>
        </p:txBody>
      </p:sp>
      <p:sp>
        <p:nvSpPr>
          <p:cNvPr id="6" name="Content Placeholder 2">
            <a:extLst>
              <a:ext uri="{FF2B5EF4-FFF2-40B4-BE49-F238E27FC236}">
                <a16:creationId xmlns:a16="http://schemas.microsoft.com/office/drawing/2014/main" id="{EF647CD7-73E9-477D-91DC-7E422F37CC4D}"/>
              </a:ext>
            </a:extLst>
          </p:cNvPr>
          <p:cNvSpPr>
            <a:spLocks noGrp="1"/>
          </p:cNvSpPr>
          <p:nvPr>
            <p:ph idx="1"/>
          </p:nvPr>
        </p:nvSpPr>
        <p:spPr>
          <a:xfrm>
            <a:off x="327025" y="1816100"/>
            <a:ext cx="6216650" cy="6864350"/>
          </a:xfrm>
        </p:spPr>
        <p:txBody>
          <a:bodyPr>
            <a:normAutofit/>
          </a:bodyPr>
          <a:lstStyle/>
          <a:p>
            <a:pPr marL="85725" indent="0">
              <a:buNone/>
            </a:pPr>
            <a:r>
              <a:rPr lang="en-US" b="1" i="1" dirty="0">
                <a:solidFill>
                  <a:srgbClr val="002060"/>
                </a:solidFill>
              </a:rPr>
              <a:t>PROMAX </a:t>
            </a:r>
            <a:r>
              <a:rPr lang="en-US" b="1" i="1" dirty="0" err="1">
                <a:solidFill>
                  <a:srgbClr val="002060"/>
                </a:solidFill>
              </a:rPr>
              <a:t>rotatie-methode</a:t>
            </a:r>
            <a:r>
              <a:rPr lang="en-US" b="1" i="1" dirty="0">
                <a:solidFill>
                  <a:srgbClr val="002060"/>
                </a:solidFill>
              </a:rPr>
              <a:t> is ….</a:t>
            </a:r>
          </a:p>
          <a:p>
            <a:pPr marL="85725" indent="0">
              <a:buNone/>
            </a:pPr>
            <a:endParaRPr lang="en-US" dirty="0">
              <a:solidFill>
                <a:srgbClr val="002060"/>
              </a:solidFill>
            </a:endParaRPr>
          </a:p>
          <a:p>
            <a:pPr marL="85725" indent="0">
              <a:buNone/>
            </a:pPr>
            <a:r>
              <a:rPr lang="en-US" u="sng" dirty="0">
                <a:solidFill>
                  <a:srgbClr val="002060"/>
                </a:solidFill>
              </a:rPr>
              <a:t>Maak 1 </a:t>
            </a:r>
            <a:r>
              <a:rPr lang="en-US" u="sng" dirty="0" err="1">
                <a:solidFill>
                  <a:srgbClr val="002060"/>
                </a:solidFill>
              </a:rPr>
              <a:t>keuze</a:t>
            </a:r>
            <a:endParaRPr lang="en-US" u="sng" dirty="0">
              <a:solidFill>
                <a:srgbClr val="002060"/>
              </a:solidFill>
            </a:endParaRPr>
          </a:p>
          <a:p>
            <a:pPr marL="85725" indent="0">
              <a:buNone/>
            </a:pPr>
            <a:endParaRPr lang="en-US" u="sng" dirty="0">
              <a:solidFill>
                <a:srgbClr val="002060"/>
              </a:solidFill>
            </a:endParaRPr>
          </a:p>
          <a:p>
            <a:pPr>
              <a:buFont typeface="Arial" panose="020B0604020202020204" pitchFamily="34" charset="0"/>
              <a:buChar char="•"/>
            </a:pPr>
            <a:r>
              <a:rPr lang="en-US" dirty="0">
                <a:solidFill>
                  <a:srgbClr val="002060"/>
                </a:solidFill>
                <a:highlight>
                  <a:srgbClr val="FFFF00"/>
                </a:highlight>
              </a:rPr>
              <a:t>… </a:t>
            </a:r>
            <a:r>
              <a:rPr lang="en-US" dirty="0" err="1">
                <a:solidFill>
                  <a:srgbClr val="002060"/>
                </a:solidFill>
                <a:highlight>
                  <a:srgbClr val="FFFF00"/>
                </a:highlight>
              </a:rPr>
              <a:t>een</a:t>
            </a:r>
            <a:r>
              <a:rPr lang="en-US" dirty="0">
                <a:solidFill>
                  <a:srgbClr val="002060"/>
                </a:solidFill>
                <a:highlight>
                  <a:srgbClr val="FFFF00"/>
                </a:highlight>
              </a:rPr>
              <a:t> oblique </a:t>
            </a:r>
            <a:r>
              <a:rPr lang="en-US" dirty="0" err="1">
                <a:solidFill>
                  <a:srgbClr val="002060"/>
                </a:solidFill>
                <a:highlight>
                  <a:srgbClr val="FFFF00"/>
                </a:highlight>
              </a:rPr>
              <a:t>rotatie</a:t>
            </a:r>
            <a:r>
              <a:rPr lang="en-US" dirty="0">
                <a:solidFill>
                  <a:srgbClr val="002060"/>
                </a:solidFill>
                <a:highlight>
                  <a:srgbClr val="FFFF00"/>
                </a:highlight>
              </a:rPr>
              <a:t>: de </a:t>
            </a:r>
            <a:r>
              <a:rPr lang="en-US" dirty="0" err="1">
                <a:solidFill>
                  <a:srgbClr val="002060"/>
                </a:solidFill>
                <a:highlight>
                  <a:srgbClr val="FFFF00"/>
                </a:highlight>
              </a:rPr>
              <a:t>weerhouden</a:t>
            </a:r>
            <a:r>
              <a:rPr lang="en-US" dirty="0">
                <a:solidFill>
                  <a:srgbClr val="002060"/>
                </a:solidFill>
                <a:highlight>
                  <a:srgbClr val="FFFF00"/>
                </a:highlight>
              </a:rPr>
              <a:t> </a:t>
            </a:r>
            <a:r>
              <a:rPr lang="en-US" dirty="0" err="1">
                <a:solidFill>
                  <a:srgbClr val="002060"/>
                </a:solidFill>
                <a:highlight>
                  <a:srgbClr val="FFFF00"/>
                </a:highlight>
              </a:rPr>
              <a:t>factoren</a:t>
            </a:r>
            <a:r>
              <a:rPr lang="en-US" dirty="0">
                <a:solidFill>
                  <a:srgbClr val="002060"/>
                </a:solidFill>
                <a:highlight>
                  <a:srgbClr val="FFFF00"/>
                </a:highlight>
              </a:rPr>
              <a:t> </a:t>
            </a:r>
            <a:r>
              <a:rPr lang="en-US" dirty="0" err="1">
                <a:solidFill>
                  <a:srgbClr val="002060"/>
                </a:solidFill>
                <a:highlight>
                  <a:srgbClr val="FFFF00"/>
                </a:highlight>
              </a:rPr>
              <a:t>kunnen</a:t>
            </a:r>
            <a:r>
              <a:rPr lang="en-US" dirty="0">
                <a:solidFill>
                  <a:srgbClr val="002060"/>
                </a:solidFill>
                <a:highlight>
                  <a:srgbClr val="FFFF00"/>
                </a:highlight>
              </a:rPr>
              <a:t> </a:t>
            </a:r>
            <a:r>
              <a:rPr lang="en-US" dirty="0" err="1">
                <a:solidFill>
                  <a:srgbClr val="002060"/>
                </a:solidFill>
                <a:highlight>
                  <a:srgbClr val="FFFF00"/>
                </a:highlight>
              </a:rPr>
              <a:t>correleren</a:t>
            </a:r>
            <a:r>
              <a:rPr lang="en-US" dirty="0">
                <a:solidFill>
                  <a:srgbClr val="002060"/>
                </a:solidFill>
                <a:highlight>
                  <a:srgbClr val="FFFF00"/>
                </a:highlight>
              </a:rPr>
              <a:t>.</a:t>
            </a:r>
          </a:p>
          <a:p>
            <a:pPr marL="85725" indent="0">
              <a:buNone/>
            </a:pPr>
            <a:endParaRPr lang="en-US" dirty="0">
              <a:solidFill>
                <a:srgbClr val="002060"/>
              </a:solidFill>
            </a:endParaRPr>
          </a:p>
          <a:p>
            <a:pPr marL="85725" indent="0">
              <a:buNone/>
            </a:pPr>
            <a:endParaRPr lang="nl-BE" dirty="0"/>
          </a:p>
        </p:txBody>
      </p:sp>
      <p:sp>
        <p:nvSpPr>
          <p:cNvPr id="7" name="Tekstvak 6">
            <a:extLst>
              <a:ext uri="{FF2B5EF4-FFF2-40B4-BE49-F238E27FC236}">
                <a16:creationId xmlns:a16="http://schemas.microsoft.com/office/drawing/2014/main" id="{D9906CB2-DD2B-3CAD-0555-0DAC572970A7}"/>
              </a:ext>
            </a:extLst>
          </p:cNvPr>
          <p:cNvSpPr txBox="1"/>
          <p:nvPr/>
        </p:nvSpPr>
        <p:spPr>
          <a:xfrm>
            <a:off x="6915150" y="2247453"/>
            <a:ext cx="9800095" cy="6001643"/>
          </a:xfrm>
          <a:prstGeom prst="rect">
            <a:avLst/>
          </a:prstGeom>
          <a:noFill/>
        </p:spPr>
        <p:txBody>
          <a:bodyPr wrap="square">
            <a:spAutoFit/>
          </a:bodyPr>
          <a:lstStyle/>
          <a:p>
            <a:r>
              <a:rPr lang="nl-BE" b="1" dirty="0">
                <a:solidFill>
                  <a:srgbClr val="C00000"/>
                </a:solidFill>
              </a:rPr>
              <a:t>PROMAX rotatiemethode is een </a:t>
            </a:r>
            <a:r>
              <a:rPr lang="nl-BE" b="1" dirty="0" err="1">
                <a:solidFill>
                  <a:srgbClr val="C00000"/>
                </a:solidFill>
              </a:rPr>
              <a:t>oblique</a:t>
            </a:r>
            <a:r>
              <a:rPr lang="nl-BE" b="1" dirty="0">
                <a:solidFill>
                  <a:srgbClr val="C00000"/>
                </a:solidFill>
              </a:rPr>
              <a:t> methode : de weerhouden factoren kunnen correleren.</a:t>
            </a:r>
          </a:p>
          <a:p>
            <a:endParaRPr lang="nl-BE" b="1" dirty="0">
              <a:solidFill>
                <a:srgbClr val="C00000"/>
              </a:solidFill>
            </a:endParaRPr>
          </a:p>
          <a:p>
            <a:r>
              <a:rPr lang="nl-BE" b="1" dirty="0">
                <a:solidFill>
                  <a:srgbClr val="C00000"/>
                </a:solidFill>
              </a:rPr>
              <a:t>Een orthogonale rotatiemethode is bijvoorbeeld VARIMAX: de weerhouden factoren kunnen niet correleren</a:t>
            </a:r>
          </a:p>
          <a:p>
            <a:endParaRPr lang="nl-BE" b="1" dirty="0">
              <a:solidFill>
                <a:srgbClr val="C00000"/>
              </a:solidFill>
            </a:endParaRPr>
          </a:p>
          <a:p>
            <a:r>
              <a:rPr lang="nl-BE" b="1" u="sng" dirty="0">
                <a:solidFill>
                  <a:srgbClr val="C00000"/>
                </a:solidFill>
              </a:rPr>
              <a:t>Ter herinnering: </a:t>
            </a:r>
            <a:r>
              <a:rPr lang="nl-BE" b="1" dirty="0">
                <a:solidFill>
                  <a:srgbClr val="C00000"/>
                </a:solidFill>
              </a:rPr>
              <a:t>Rotatie optimaliseert een factorstructuur en vergemakkelijkt de interpretatie ervan.</a:t>
            </a:r>
          </a:p>
          <a:p>
            <a:r>
              <a:rPr lang="nl-BE" b="1" dirty="0">
                <a:solidFill>
                  <a:srgbClr val="C00000"/>
                </a:solidFill>
              </a:rPr>
              <a:t>Er zijn twee soorten : orthogonaal en </a:t>
            </a:r>
            <a:r>
              <a:rPr lang="nl-BE" b="1" dirty="0" err="1">
                <a:solidFill>
                  <a:srgbClr val="C00000"/>
                </a:solidFill>
              </a:rPr>
              <a:t>oblique</a:t>
            </a:r>
            <a:endParaRPr lang="nl-BE" b="1" dirty="0">
              <a:solidFill>
                <a:srgbClr val="C00000"/>
              </a:solidFill>
            </a:endParaRPr>
          </a:p>
          <a:p>
            <a:r>
              <a:rPr lang="nl-BE" b="1" dirty="0">
                <a:solidFill>
                  <a:srgbClr val="C00000"/>
                </a:solidFill>
              </a:rPr>
              <a:t>We werken met </a:t>
            </a:r>
            <a:r>
              <a:rPr lang="nl-BE" b="1" dirty="0" err="1">
                <a:solidFill>
                  <a:srgbClr val="C00000"/>
                </a:solidFill>
              </a:rPr>
              <a:t>oblique</a:t>
            </a:r>
            <a:r>
              <a:rPr lang="nl-BE" b="1" dirty="0">
                <a:solidFill>
                  <a:srgbClr val="C00000"/>
                </a:solidFill>
              </a:rPr>
              <a:t> rotatie, interpreteren in de output de </a:t>
            </a:r>
            <a:r>
              <a:rPr lang="nl-BE" b="1" dirty="0" err="1">
                <a:solidFill>
                  <a:srgbClr val="C00000"/>
                </a:solidFill>
              </a:rPr>
              <a:t>pattern</a:t>
            </a:r>
            <a:r>
              <a:rPr lang="nl-BE" b="1" dirty="0">
                <a:solidFill>
                  <a:srgbClr val="C00000"/>
                </a:solidFill>
              </a:rPr>
              <a:t> matrix die de factorladingen weergeeft.</a:t>
            </a:r>
          </a:p>
          <a:p>
            <a:r>
              <a:rPr lang="nl-BE" b="1" dirty="0">
                <a:solidFill>
                  <a:srgbClr val="C00000"/>
                </a:solidFill>
              </a:rPr>
              <a:t>Factorladingen zijn de gestandaardiseerde coëfficiënten die de mate van samenhang weergeven tussen manifeste variabelen en factor.</a:t>
            </a:r>
          </a:p>
          <a:p>
            <a:endParaRPr lang="nl-BE" dirty="0"/>
          </a:p>
        </p:txBody>
      </p:sp>
    </p:spTree>
    <p:extLst>
      <p:ext uri="{BB962C8B-B14F-4D97-AF65-F5344CB8AC3E}">
        <p14:creationId xmlns:p14="http://schemas.microsoft.com/office/powerpoint/2010/main" val="4002092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40915C-3A24-462D-B229-53ED6DB5251F}"/>
              </a:ext>
            </a:extLst>
          </p:cNvPr>
          <p:cNvSpPr>
            <a:spLocks noGrp="1"/>
          </p:cNvSpPr>
          <p:nvPr>
            <p:ph type="title"/>
          </p:nvPr>
        </p:nvSpPr>
        <p:spPr/>
        <p:txBody>
          <a:bodyPr/>
          <a:lstStyle/>
          <a:p>
            <a:r>
              <a:rPr lang="nl-BE" dirty="0"/>
              <a:t>VOORBEELDEXAMENVRAAG 3</a:t>
            </a:r>
          </a:p>
        </p:txBody>
      </p:sp>
      <p:sp>
        <p:nvSpPr>
          <p:cNvPr id="4" name="Tijdelijke aanduiding voor dianummer 3">
            <a:extLst>
              <a:ext uri="{FF2B5EF4-FFF2-40B4-BE49-F238E27FC236}">
                <a16:creationId xmlns:a16="http://schemas.microsoft.com/office/drawing/2014/main" id="{F2D3F55E-6769-4490-9D75-A7F2BE5CFE26}"/>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sp>
        <p:nvSpPr>
          <p:cNvPr id="5" name="Tijdelijke aanduiding voor inhoud 4">
            <a:extLst>
              <a:ext uri="{FF2B5EF4-FFF2-40B4-BE49-F238E27FC236}">
                <a16:creationId xmlns:a16="http://schemas.microsoft.com/office/drawing/2014/main" id="{3B281017-4631-4F79-BB4B-593CB5653870}"/>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EDD2696F-DA0F-4716-B699-BD101ED574B3}"/>
              </a:ext>
            </a:extLst>
          </p:cNvPr>
          <p:cNvSpPr>
            <a:spLocks noGrp="1"/>
          </p:cNvSpPr>
          <p:nvPr>
            <p:ph idx="1"/>
          </p:nvPr>
        </p:nvSpPr>
        <p:spPr>
          <a:xfrm>
            <a:off x="327025" y="1816100"/>
            <a:ext cx="16859250" cy="6864350"/>
          </a:xfrm>
        </p:spPr>
        <p:txBody>
          <a:bodyPr>
            <a:normAutofit fontScale="92500" lnSpcReduction="20000"/>
          </a:bodyPr>
          <a:lstStyle/>
          <a:p>
            <a:pPr marL="85725" indent="0" algn="just">
              <a:buNone/>
            </a:pPr>
            <a:r>
              <a:rPr lang="nl-BE" sz="3600" b="1" i="1" dirty="0">
                <a:solidFill>
                  <a:srgbClr val="002060"/>
                </a:solidFill>
              </a:rPr>
              <a:t>Een docent wil weten wat de relatie is tussen het aantal uren dat studenten gestudeerd hebben voor een test en hun leeftijd (twee metrische variabelen). Hij wil weten of oudere studenten meer gestudeerd hebben.  Hij heeft de gegevens van 98 studenten.  Welke statistische maat/toets gebruikt hij </a:t>
            </a:r>
            <a:r>
              <a:rPr lang="nl-BE" sz="3600" b="1" i="1" u="sng" dirty="0">
                <a:solidFill>
                  <a:srgbClr val="002060"/>
                </a:solidFill>
              </a:rPr>
              <a:t>best</a:t>
            </a:r>
            <a:r>
              <a:rPr lang="nl-BE" sz="3600" b="1" i="1" dirty="0">
                <a:solidFill>
                  <a:srgbClr val="002060"/>
                </a:solidFill>
              </a:rPr>
              <a:t> om de samenhang te berekenen ?</a:t>
            </a:r>
          </a:p>
          <a:p>
            <a:pPr marL="85725" indent="0" algn="just">
              <a:buNone/>
            </a:pPr>
            <a:r>
              <a:rPr lang="nl-BE" sz="3600" u="sng" dirty="0">
                <a:solidFill>
                  <a:srgbClr val="002060"/>
                </a:solidFill>
              </a:rPr>
              <a:t>Maak 1 keuze.</a:t>
            </a:r>
          </a:p>
          <a:p>
            <a:pPr lvl="5" algn="just"/>
            <a:r>
              <a:rPr lang="nl-BE" sz="3600" dirty="0">
                <a:solidFill>
                  <a:srgbClr val="002060"/>
                </a:solidFill>
              </a:rPr>
              <a:t>Chi-kwadraat</a:t>
            </a:r>
          </a:p>
          <a:p>
            <a:pPr marL="3250921" lvl="5" indent="0" algn="just">
              <a:buNone/>
            </a:pPr>
            <a:endParaRPr lang="nl-BE" sz="3600" dirty="0">
              <a:solidFill>
                <a:srgbClr val="002060"/>
              </a:solidFill>
            </a:endParaRPr>
          </a:p>
          <a:p>
            <a:pPr lvl="5" algn="just"/>
            <a:r>
              <a:rPr lang="nl-BE" sz="3600" dirty="0">
                <a:solidFill>
                  <a:srgbClr val="002060"/>
                </a:solidFill>
              </a:rPr>
              <a:t>Onafhankelijke t-toets</a:t>
            </a:r>
          </a:p>
          <a:p>
            <a:pPr marL="3250921" lvl="5" indent="0" algn="just">
              <a:buNone/>
            </a:pPr>
            <a:endParaRPr lang="nl-BE" sz="3600" dirty="0">
              <a:solidFill>
                <a:srgbClr val="002060"/>
              </a:solidFill>
            </a:endParaRPr>
          </a:p>
          <a:p>
            <a:pPr lvl="5" algn="just"/>
            <a:r>
              <a:rPr lang="nl-BE" sz="3600" dirty="0" err="1">
                <a:solidFill>
                  <a:srgbClr val="002060"/>
                </a:solidFill>
              </a:rPr>
              <a:t>Pearson’s</a:t>
            </a:r>
            <a:r>
              <a:rPr lang="nl-BE" sz="3600" dirty="0">
                <a:solidFill>
                  <a:srgbClr val="002060"/>
                </a:solidFill>
              </a:rPr>
              <a:t> product-momentcorrelatiecoëfficiënt</a:t>
            </a:r>
          </a:p>
          <a:p>
            <a:pPr marL="3250921" lvl="5" indent="0" algn="just">
              <a:buNone/>
            </a:pPr>
            <a:endParaRPr lang="nl-BE" sz="3600" dirty="0">
              <a:solidFill>
                <a:srgbClr val="002060"/>
              </a:solidFill>
            </a:endParaRPr>
          </a:p>
          <a:p>
            <a:pPr lvl="5" algn="just"/>
            <a:r>
              <a:rPr lang="nl-BE" sz="3600" dirty="0">
                <a:solidFill>
                  <a:srgbClr val="002060"/>
                </a:solidFill>
              </a:rPr>
              <a:t>Cramers V</a:t>
            </a:r>
          </a:p>
          <a:p>
            <a:pPr marL="85725" indent="0" algn="just">
              <a:buNone/>
            </a:pPr>
            <a:endParaRPr lang="nl-BE" dirty="0">
              <a:solidFill>
                <a:srgbClr val="0070C0"/>
              </a:solidFill>
            </a:endParaRPr>
          </a:p>
        </p:txBody>
      </p:sp>
    </p:spTree>
    <p:extLst>
      <p:ext uri="{BB962C8B-B14F-4D97-AF65-F5344CB8AC3E}">
        <p14:creationId xmlns:p14="http://schemas.microsoft.com/office/powerpoint/2010/main" val="1544491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40915C-3A24-462D-B229-53ED6DB5251F}"/>
              </a:ext>
            </a:extLst>
          </p:cNvPr>
          <p:cNvSpPr>
            <a:spLocks noGrp="1"/>
          </p:cNvSpPr>
          <p:nvPr>
            <p:ph type="title"/>
          </p:nvPr>
        </p:nvSpPr>
        <p:spPr/>
        <p:txBody>
          <a:bodyPr/>
          <a:lstStyle/>
          <a:p>
            <a:r>
              <a:rPr lang="nl-BE" dirty="0"/>
              <a:t>VOORBEELDEXAMENVRAAG 3</a:t>
            </a:r>
          </a:p>
        </p:txBody>
      </p:sp>
      <p:sp>
        <p:nvSpPr>
          <p:cNvPr id="4" name="Tijdelijke aanduiding voor dianummer 3">
            <a:extLst>
              <a:ext uri="{FF2B5EF4-FFF2-40B4-BE49-F238E27FC236}">
                <a16:creationId xmlns:a16="http://schemas.microsoft.com/office/drawing/2014/main" id="{F2D3F55E-6769-4490-9D75-A7F2BE5CFE26}"/>
              </a:ext>
            </a:extLst>
          </p:cNvPr>
          <p:cNvSpPr>
            <a:spLocks noGrp="1"/>
          </p:cNvSpPr>
          <p:nvPr>
            <p:ph type="sldNum" sz="quarter" idx="12"/>
          </p:nvPr>
        </p:nvSpPr>
        <p:spPr/>
        <p:txBody>
          <a:bodyPr/>
          <a:lstStyle/>
          <a:p>
            <a:fld id="{7AE184E0-0BD4-4705-A12B-9B71DDE63301}" type="slidenum">
              <a:rPr lang="en-GB" noProof="0" smtClean="0"/>
              <a:t>11</a:t>
            </a:fld>
            <a:endParaRPr lang="en-GB" noProof="0" dirty="0"/>
          </a:p>
        </p:txBody>
      </p:sp>
      <p:sp>
        <p:nvSpPr>
          <p:cNvPr id="5" name="Tijdelijke aanduiding voor inhoud 4">
            <a:extLst>
              <a:ext uri="{FF2B5EF4-FFF2-40B4-BE49-F238E27FC236}">
                <a16:creationId xmlns:a16="http://schemas.microsoft.com/office/drawing/2014/main" id="{3B281017-4631-4F79-BB4B-593CB5653870}"/>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EDD2696F-DA0F-4716-B699-BD101ED574B3}"/>
              </a:ext>
            </a:extLst>
          </p:cNvPr>
          <p:cNvSpPr>
            <a:spLocks noGrp="1"/>
          </p:cNvSpPr>
          <p:nvPr>
            <p:ph idx="1"/>
          </p:nvPr>
        </p:nvSpPr>
        <p:spPr>
          <a:xfrm>
            <a:off x="326460" y="1594937"/>
            <a:ext cx="16859250" cy="6864350"/>
          </a:xfrm>
        </p:spPr>
        <p:txBody>
          <a:bodyPr>
            <a:normAutofit fontScale="77500" lnSpcReduction="20000"/>
          </a:bodyPr>
          <a:lstStyle/>
          <a:p>
            <a:pPr marL="85725" indent="0" algn="just">
              <a:buNone/>
            </a:pPr>
            <a:r>
              <a:rPr lang="nl-BE" sz="3600" b="1" i="1" dirty="0">
                <a:solidFill>
                  <a:srgbClr val="002060"/>
                </a:solidFill>
              </a:rPr>
              <a:t>Een docent wil weten wat de relatie is tussen het aantal uren dat studenten gestudeerd hebben voor een test en hun leeftijd (twee metrische variabelen).  Hij wil weten of oudere studenten meer gestudeerd hebben.  Hij heeft de gegevens van 98 studenten.  Welke statistische maat/toets gebruikt hij </a:t>
            </a:r>
            <a:r>
              <a:rPr lang="nl-BE" sz="3600" b="1" i="1" u="sng" dirty="0">
                <a:solidFill>
                  <a:srgbClr val="002060"/>
                </a:solidFill>
              </a:rPr>
              <a:t>best</a:t>
            </a:r>
            <a:r>
              <a:rPr lang="nl-BE" sz="3600" b="1" i="1" dirty="0">
                <a:solidFill>
                  <a:srgbClr val="002060"/>
                </a:solidFill>
              </a:rPr>
              <a:t> om de samenhang te berekenen ?</a:t>
            </a:r>
          </a:p>
          <a:p>
            <a:pPr marL="85725" indent="0" algn="just">
              <a:buNone/>
            </a:pPr>
            <a:r>
              <a:rPr lang="nl-BE" sz="3600" u="sng" dirty="0">
                <a:solidFill>
                  <a:srgbClr val="002060"/>
                </a:solidFill>
              </a:rPr>
              <a:t>Maak 1 keuze.</a:t>
            </a:r>
          </a:p>
          <a:p>
            <a:pPr marL="85725" indent="0" algn="just">
              <a:buNone/>
            </a:pPr>
            <a:endParaRPr lang="nl-BE" sz="3600" b="1" dirty="0">
              <a:solidFill>
                <a:srgbClr val="002060"/>
              </a:solidFill>
            </a:endParaRPr>
          </a:p>
          <a:p>
            <a:pPr lvl="5" algn="just"/>
            <a:r>
              <a:rPr lang="nl-BE" sz="3600" dirty="0">
                <a:solidFill>
                  <a:srgbClr val="002060"/>
                </a:solidFill>
              </a:rPr>
              <a:t>Chi-kwadraat</a:t>
            </a:r>
          </a:p>
          <a:p>
            <a:pPr marL="3250921" lvl="5" indent="0" algn="just">
              <a:buNone/>
            </a:pPr>
            <a:endParaRPr lang="nl-BE" sz="3600" dirty="0">
              <a:solidFill>
                <a:srgbClr val="002060"/>
              </a:solidFill>
            </a:endParaRPr>
          </a:p>
          <a:p>
            <a:pPr lvl="5" algn="just"/>
            <a:r>
              <a:rPr lang="nl-BE" sz="3600" dirty="0">
                <a:solidFill>
                  <a:srgbClr val="002060"/>
                </a:solidFill>
              </a:rPr>
              <a:t>Onafhankelijke t-toets</a:t>
            </a:r>
          </a:p>
          <a:p>
            <a:pPr marL="3250921" lvl="5" indent="0" algn="just">
              <a:buNone/>
            </a:pPr>
            <a:endParaRPr lang="nl-BE" sz="3600" dirty="0">
              <a:solidFill>
                <a:srgbClr val="002060"/>
              </a:solidFill>
            </a:endParaRPr>
          </a:p>
          <a:p>
            <a:pPr lvl="5" algn="just"/>
            <a:r>
              <a:rPr lang="nl-BE" sz="3600" b="1" dirty="0" err="1">
                <a:solidFill>
                  <a:srgbClr val="C00000"/>
                </a:solidFill>
                <a:highlight>
                  <a:srgbClr val="FFFF00"/>
                </a:highlight>
              </a:rPr>
              <a:t>Pearson’s</a:t>
            </a:r>
            <a:r>
              <a:rPr lang="nl-BE" sz="3600" b="1" dirty="0">
                <a:solidFill>
                  <a:srgbClr val="C00000"/>
                </a:solidFill>
                <a:highlight>
                  <a:srgbClr val="FFFF00"/>
                </a:highlight>
              </a:rPr>
              <a:t> product-momentcorrelatiecoëfficiënt</a:t>
            </a:r>
          </a:p>
          <a:p>
            <a:pPr lvl="5" algn="just"/>
            <a:r>
              <a:rPr lang="nl-BE" sz="3600" b="1" dirty="0">
                <a:solidFill>
                  <a:srgbClr val="C00000"/>
                </a:solidFill>
                <a:highlight>
                  <a:srgbClr val="FFFF00"/>
                </a:highlight>
                <a:sym typeface="Wingdings" panose="05000000000000000000" pitchFamily="2" charset="2"/>
              </a:rPr>
              <a:t> </a:t>
            </a:r>
            <a:r>
              <a:rPr lang="nl-BE" sz="3600" b="1" dirty="0" err="1">
                <a:solidFill>
                  <a:srgbClr val="C00000"/>
                </a:solidFill>
                <a:highlight>
                  <a:srgbClr val="FFFF00"/>
                </a:highlight>
                <a:sym typeface="Wingdings" panose="05000000000000000000" pitchFamily="2" charset="2"/>
              </a:rPr>
              <a:t>bivariate</a:t>
            </a:r>
            <a:r>
              <a:rPr lang="nl-BE" sz="3600" b="1" dirty="0">
                <a:solidFill>
                  <a:srgbClr val="C00000"/>
                </a:solidFill>
                <a:highlight>
                  <a:srgbClr val="FFFF00"/>
                </a:highlight>
                <a:sym typeface="Wingdings" panose="05000000000000000000" pitchFamily="2" charset="2"/>
              </a:rPr>
              <a:t> associatiemaat, drukt het lineaire verband uit tussen twee metrische variabelen</a:t>
            </a:r>
            <a:endParaRPr lang="nl-BE" sz="3600" b="1" dirty="0">
              <a:solidFill>
                <a:srgbClr val="C00000"/>
              </a:solidFill>
              <a:highlight>
                <a:srgbClr val="FFFF00"/>
              </a:highlight>
            </a:endParaRPr>
          </a:p>
          <a:p>
            <a:pPr marL="3250921" lvl="5" indent="0" algn="just">
              <a:buNone/>
            </a:pPr>
            <a:endParaRPr lang="nl-BE" sz="3600" dirty="0">
              <a:solidFill>
                <a:srgbClr val="002060"/>
              </a:solidFill>
            </a:endParaRPr>
          </a:p>
          <a:p>
            <a:pPr lvl="5" algn="just"/>
            <a:r>
              <a:rPr lang="nl-BE" sz="3600" dirty="0">
                <a:solidFill>
                  <a:srgbClr val="002060"/>
                </a:solidFill>
              </a:rPr>
              <a:t>Cramers’ V</a:t>
            </a:r>
          </a:p>
          <a:p>
            <a:pPr marL="85725" indent="0" algn="just">
              <a:buNone/>
            </a:pPr>
            <a:endParaRPr lang="nl-BE" dirty="0">
              <a:solidFill>
                <a:srgbClr val="0070C0"/>
              </a:solidFill>
            </a:endParaRPr>
          </a:p>
        </p:txBody>
      </p:sp>
    </p:spTree>
    <p:extLst>
      <p:ext uri="{BB962C8B-B14F-4D97-AF65-F5344CB8AC3E}">
        <p14:creationId xmlns:p14="http://schemas.microsoft.com/office/powerpoint/2010/main" val="2087834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40915C-3A24-462D-B229-53ED6DB5251F}"/>
              </a:ext>
            </a:extLst>
          </p:cNvPr>
          <p:cNvSpPr>
            <a:spLocks noGrp="1"/>
          </p:cNvSpPr>
          <p:nvPr>
            <p:ph type="title"/>
          </p:nvPr>
        </p:nvSpPr>
        <p:spPr/>
        <p:txBody>
          <a:bodyPr/>
          <a:lstStyle/>
          <a:p>
            <a:r>
              <a:rPr lang="nl-BE" dirty="0"/>
              <a:t>VOORBEELDEXAMENVRAAG 3</a:t>
            </a:r>
          </a:p>
        </p:txBody>
      </p:sp>
      <p:sp>
        <p:nvSpPr>
          <p:cNvPr id="4" name="Tijdelijke aanduiding voor dianummer 3">
            <a:extLst>
              <a:ext uri="{FF2B5EF4-FFF2-40B4-BE49-F238E27FC236}">
                <a16:creationId xmlns:a16="http://schemas.microsoft.com/office/drawing/2014/main" id="{F2D3F55E-6769-4490-9D75-A7F2BE5CFE26}"/>
              </a:ext>
            </a:extLst>
          </p:cNvPr>
          <p:cNvSpPr>
            <a:spLocks noGrp="1"/>
          </p:cNvSpPr>
          <p:nvPr>
            <p:ph type="sldNum" sz="quarter" idx="12"/>
          </p:nvPr>
        </p:nvSpPr>
        <p:spPr/>
        <p:txBody>
          <a:bodyPr/>
          <a:lstStyle/>
          <a:p>
            <a:fld id="{7AE184E0-0BD4-4705-A12B-9B71DDE63301}" type="slidenum">
              <a:rPr lang="en-GB" noProof="0" smtClean="0"/>
              <a:t>12</a:t>
            </a:fld>
            <a:endParaRPr lang="en-GB" noProof="0" dirty="0"/>
          </a:p>
        </p:txBody>
      </p:sp>
      <p:sp>
        <p:nvSpPr>
          <p:cNvPr id="5" name="Tijdelijke aanduiding voor inhoud 4">
            <a:extLst>
              <a:ext uri="{FF2B5EF4-FFF2-40B4-BE49-F238E27FC236}">
                <a16:creationId xmlns:a16="http://schemas.microsoft.com/office/drawing/2014/main" id="{3B281017-4631-4F79-BB4B-593CB5653870}"/>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EDD2696F-DA0F-4716-B699-BD101ED574B3}"/>
              </a:ext>
            </a:extLst>
          </p:cNvPr>
          <p:cNvSpPr>
            <a:spLocks noGrp="1"/>
          </p:cNvSpPr>
          <p:nvPr>
            <p:ph idx="1"/>
          </p:nvPr>
        </p:nvSpPr>
        <p:spPr>
          <a:xfrm>
            <a:off x="326460" y="1594937"/>
            <a:ext cx="16859250" cy="6864350"/>
          </a:xfrm>
        </p:spPr>
        <p:txBody>
          <a:bodyPr>
            <a:normAutofit fontScale="62500" lnSpcReduction="20000"/>
          </a:bodyPr>
          <a:lstStyle/>
          <a:p>
            <a:pPr marL="85725" indent="0" algn="just">
              <a:buNone/>
            </a:pPr>
            <a:r>
              <a:rPr lang="nl-BE" sz="3600" b="1" i="1" dirty="0">
                <a:solidFill>
                  <a:srgbClr val="002060"/>
                </a:solidFill>
              </a:rPr>
              <a:t>Een docent wil weten wat de relatie is tussen het aantal uren dat studenten gestudeerd hebben voor een test en hun leeftijd (twee metrische variabelen).  Hij wil weten of oudere studenten meer gestudeerd hebben.  Hij heeft de gegevens van 98 studenten.  Welke statistische maat/toets gebruikt hij </a:t>
            </a:r>
            <a:r>
              <a:rPr lang="nl-BE" sz="3600" b="1" i="1" u="sng" dirty="0">
                <a:solidFill>
                  <a:srgbClr val="002060"/>
                </a:solidFill>
              </a:rPr>
              <a:t>best</a:t>
            </a:r>
            <a:r>
              <a:rPr lang="nl-BE" sz="3600" b="1" i="1" dirty="0">
                <a:solidFill>
                  <a:srgbClr val="002060"/>
                </a:solidFill>
              </a:rPr>
              <a:t> om de samenhang te berekenen ?</a:t>
            </a:r>
          </a:p>
          <a:p>
            <a:pPr marL="85725" indent="0" algn="just">
              <a:buNone/>
            </a:pPr>
            <a:r>
              <a:rPr lang="nl-BE" sz="3600" u="sng" dirty="0">
                <a:solidFill>
                  <a:srgbClr val="002060"/>
                </a:solidFill>
              </a:rPr>
              <a:t>Maak 1 keuze.</a:t>
            </a:r>
          </a:p>
          <a:p>
            <a:pPr marL="85725" indent="0" algn="just">
              <a:buNone/>
            </a:pPr>
            <a:endParaRPr lang="nl-BE" sz="3600" b="1" dirty="0">
              <a:solidFill>
                <a:srgbClr val="002060"/>
              </a:solidFill>
            </a:endParaRPr>
          </a:p>
          <a:p>
            <a:pPr lvl="5" algn="just"/>
            <a:r>
              <a:rPr lang="nl-BE" sz="3600" dirty="0">
                <a:solidFill>
                  <a:srgbClr val="002060"/>
                </a:solidFill>
              </a:rPr>
              <a:t>Chi-kwadraat</a:t>
            </a:r>
          </a:p>
          <a:p>
            <a:pPr lvl="5" algn="just">
              <a:buFont typeface="Wingdings" panose="05000000000000000000" pitchFamily="2" charset="2"/>
              <a:buChar char="è"/>
            </a:pPr>
            <a:r>
              <a:rPr lang="nl-BE" sz="3600" b="1" dirty="0">
                <a:solidFill>
                  <a:srgbClr val="002060"/>
                </a:solidFill>
                <a:sym typeface="Wingdings" panose="05000000000000000000" pitchFamily="2" charset="2"/>
              </a:rPr>
              <a:t>Toetst of er een significant verband is tussen twee of meer groepen op een categorische</a:t>
            </a:r>
          </a:p>
          <a:p>
            <a:pPr marL="3250921" lvl="5" indent="0" algn="just">
              <a:buNone/>
            </a:pPr>
            <a:r>
              <a:rPr lang="nl-BE" sz="3600" b="1" dirty="0">
                <a:solidFill>
                  <a:srgbClr val="002060"/>
                </a:solidFill>
                <a:sym typeface="Wingdings" panose="05000000000000000000" pitchFamily="2" charset="2"/>
              </a:rPr>
              <a:t>    variabele</a:t>
            </a:r>
            <a:endParaRPr lang="nl-BE" sz="3600" b="1" dirty="0">
              <a:solidFill>
                <a:srgbClr val="002060"/>
              </a:solidFill>
            </a:endParaRPr>
          </a:p>
          <a:p>
            <a:pPr marL="3250921" lvl="5" indent="0" algn="just">
              <a:buNone/>
            </a:pPr>
            <a:endParaRPr lang="nl-BE" sz="3600" dirty="0">
              <a:solidFill>
                <a:srgbClr val="002060"/>
              </a:solidFill>
            </a:endParaRPr>
          </a:p>
          <a:p>
            <a:pPr lvl="5" algn="just"/>
            <a:r>
              <a:rPr lang="nl-BE" sz="3600" dirty="0">
                <a:solidFill>
                  <a:srgbClr val="002060"/>
                </a:solidFill>
              </a:rPr>
              <a:t>Onafhankelijke t-toets</a:t>
            </a:r>
          </a:p>
          <a:p>
            <a:pPr lvl="5" algn="just"/>
            <a:r>
              <a:rPr lang="nl-BE" sz="3600" b="1" dirty="0">
                <a:solidFill>
                  <a:srgbClr val="002060"/>
                </a:solidFill>
                <a:sym typeface="Wingdings" panose="05000000000000000000" pitchFamily="2" charset="2"/>
              </a:rPr>
              <a:t> toetst of twee onafhankelijke groepen gemiddeld significant verschillen op een metrische testvariabele</a:t>
            </a:r>
            <a:endParaRPr lang="nl-BE" sz="3600" b="1" dirty="0">
              <a:solidFill>
                <a:srgbClr val="002060"/>
              </a:solidFill>
            </a:endParaRPr>
          </a:p>
          <a:p>
            <a:pPr marL="3250921" lvl="5" indent="0" algn="just">
              <a:buNone/>
            </a:pPr>
            <a:endParaRPr lang="nl-BE" sz="3600" dirty="0">
              <a:solidFill>
                <a:srgbClr val="002060"/>
              </a:solidFill>
            </a:endParaRPr>
          </a:p>
          <a:p>
            <a:pPr lvl="5" algn="just"/>
            <a:r>
              <a:rPr lang="nl-BE" sz="3600" b="1" dirty="0" err="1">
                <a:solidFill>
                  <a:srgbClr val="C00000"/>
                </a:solidFill>
                <a:highlight>
                  <a:srgbClr val="FFFF00"/>
                </a:highlight>
              </a:rPr>
              <a:t>Pearson’s</a:t>
            </a:r>
            <a:r>
              <a:rPr lang="nl-BE" sz="3600" b="1" dirty="0">
                <a:solidFill>
                  <a:srgbClr val="C00000"/>
                </a:solidFill>
                <a:highlight>
                  <a:srgbClr val="FFFF00"/>
                </a:highlight>
              </a:rPr>
              <a:t> product-momentcorrelatiecoëfficiënt</a:t>
            </a:r>
          </a:p>
          <a:p>
            <a:pPr lvl="5" algn="just"/>
            <a:r>
              <a:rPr lang="nl-BE" sz="3600" b="1" dirty="0">
                <a:solidFill>
                  <a:srgbClr val="C00000"/>
                </a:solidFill>
                <a:highlight>
                  <a:srgbClr val="FFFF00"/>
                </a:highlight>
                <a:sym typeface="Wingdings" panose="05000000000000000000" pitchFamily="2" charset="2"/>
              </a:rPr>
              <a:t> </a:t>
            </a:r>
            <a:r>
              <a:rPr lang="nl-BE" sz="3600" b="1" dirty="0" err="1">
                <a:solidFill>
                  <a:srgbClr val="C00000"/>
                </a:solidFill>
                <a:highlight>
                  <a:srgbClr val="FFFF00"/>
                </a:highlight>
                <a:sym typeface="Wingdings" panose="05000000000000000000" pitchFamily="2" charset="2"/>
              </a:rPr>
              <a:t>bivariate</a:t>
            </a:r>
            <a:r>
              <a:rPr lang="nl-BE" sz="3600" b="1" dirty="0">
                <a:solidFill>
                  <a:srgbClr val="C00000"/>
                </a:solidFill>
                <a:highlight>
                  <a:srgbClr val="FFFF00"/>
                </a:highlight>
                <a:sym typeface="Wingdings" panose="05000000000000000000" pitchFamily="2" charset="2"/>
              </a:rPr>
              <a:t> associatiemaat, drukt het lineaire verband uit tussen twee metrische variabelen</a:t>
            </a:r>
            <a:endParaRPr lang="nl-BE" sz="3600" b="1" dirty="0">
              <a:solidFill>
                <a:srgbClr val="C00000"/>
              </a:solidFill>
              <a:highlight>
                <a:srgbClr val="FFFF00"/>
              </a:highlight>
            </a:endParaRPr>
          </a:p>
          <a:p>
            <a:pPr marL="3250921" lvl="5" indent="0" algn="just">
              <a:buNone/>
            </a:pPr>
            <a:endParaRPr lang="nl-BE" sz="3600" dirty="0">
              <a:solidFill>
                <a:srgbClr val="002060"/>
              </a:solidFill>
            </a:endParaRPr>
          </a:p>
          <a:p>
            <a:pPr lvl="5" algn="just"/>
            <a:r>
              <a:rPr lang="nl-BE" sz="3600" dirty="0">
                <a:solidFill>
                  <a:srgbClr val="002060"/>
                </a:solidFill>
              </a:rPr>
              <a:t>Cramers’ V</a:t>
            </a:r>
          </a:p>
          <a:p>
            <a:pPr lvl="5" algn="just"/>
            <a:r>
              <a:rPr lang="nl-BE" sz="3600" b="1" dirty="0">
                <a:solidFill>
                  <a:srgbClr val="002060"/>
                </a:solidFill>
                <a:sym typeface="Wingdings" panose="05000000000000000000" pitchFamily="2" charset="2"/>
              </a:rPr>
              <a:t> associatiemaat op categorisch meetniveau, varieert van 0 tot 1 en geeft indicatie van de sterkte van een samenhang tussen twee categorische variabelen</a:t>
            </a:r>
            <a:endParaRPr lang="nl-BE" sz="3600" b="1" dirty="0">
              <a:solidFill>
                <a:srgbClr val="002060"/>
              </a:solidFill>
            </a:endParaRPr>
          </a:p>
          <a:p>
            <a:pPr marL="85725" indent="0" algn="just">
              <a:buNone/>
            </a:pPr>
            <a:endParaRPr lang="nl-BE" dirty="0">
              <a:solidFill>
                <a:srgbClr val="0070C0"/>
              </a:solidFill>
            </a:endParaRPr>
          </a:p>
        </p:txBody>
      </p:sp>
    </p:spTree>
    <p:extLst>
      <p:ext uri="{BB962C8B-B14F-4D97-AF65-F5344CB8AC3E}">
        <p14:creationId xmlns:p14="http://schemas.microsoft.com/office/powerpoint/2010/main" val="284559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DD7D90-3304-4A7B-BB4A-B42D74201853}"/>
              </a:ext>
            </a:extLst>
          </p:cNvPr>
          <p:cNvSpPr>
            <a:spLocks noGrp="1"/>
          </p:cNvSpPr>
          <p:nvPr>
            <p:ph type="title"/>
          </p:nvPr>
        </p:nvSpPr>
        <p:spPr/>
        <p:txBody>
          <a:bodyPr/>
          <a:lstStyle/>
          <a:p>
            <a:r>
              <a:rPr lang="nl-BE" dirty="0"/>
              <a:t>VOORBEELDEXAMENVRAAG 4</a:t>
            </a:r>
          </a:p>
        </p:txBody>
      </p:sp>
      <p:sp>
        <p:nvSpPr>
          <p:cNvPr id="3" name="Tijdelijke aanduiding voor inhoud 2">
            <a:extLst>
              <a:ext uri="{FF2B5EF4-FFF2-40B4-BE49-F238E27FC236}">
                <a16:creationId xmlns:a16="http://schemas.microsoft.com/office/drawing/2014/main" id="{3C5159D4-1F55-4B7C-8A39-F13086D20463}"/>
              </a:ext>
            </a:extLst>
          </p:cNvPr>
          <p:cNvSpPr>
            <a:spLocks noGrp="1"/>
          </p:cNvSpPr>
          <p:nvPr>
            <p:ph idx="1"/>
          </p:nvPr>
        </p:nvSpPr>
        <p:spPr/>
        <p:txBody>
          <a:bodyPr>
            <a:normAutofit lnSpcReduction="10000"/>
          </a:bodyPr>
          <a:lstStyle/>
          <a:p>
            <a:pPr algn="just"/>
            <a:r>
              <a:rPr lang="nl-BE" b="1" dirty="0"/>
              <a:t>Gebruik het databestand: </a:t>
            </a:r>
            <a:r>
              <a:rPr lang="nl-BE" b="1" dirty="0">
                <a:highlight>
                  <a:srgbClr val="FFFF00"/>
                </a:highlight>
              </a:rPr>
              <a:t>WAPENBEZIT EN POLITIEKE </a:t>
            </a:r>
            <a:r>
              <a:rPr lang="nl-BE" b="1" dirty="0" err="1">
                <a:highlight>
                  <a:srgbClr val="FFFF00"/>
                </a:highlight>
              </a:rPr>
              <a:t>PARTIJ.sav</a:t>
            </a:r>
            <a:endParaRPr lang="nl-BE" b="1" i="1" dirty="0"/>
          </a:p>
          <a:p>
            <a:pPr lvl="0" algn="just"/>
            <a:endParaRPr lang="nl-BE" b="1" i="1" dirty="0"/>
          </a:p>
          <a:p>
            <a:pPr lvl="0" algn="just"/>
            <a:r>
              <a:rPr lang="nl-BE" b="1" i="1" dirty="0"/>
              <a:t>Een onderzoekster wil nagaan of er een samenhang is tussen lidmaatschap van een politieke partij en attitude t.o.v. persoonlijk wapenbezit.  Zij neemt een enquête af (op basis van een aselecte steekproef) bij 950 respondenten en vraagt hen of zij voor- of tegenstander zijn van persoonlijk wapenbezit.  Uit de resultaten blijkt dat van de 500 Democraten 353 zich uitspreken tegen wapenbezit en 147 voor.  Van de 450 Republikeinen zijn er 125 tegenstander en 325 voorstander van wapenbezit.  </a:t>
            </a:r>
            <a:endParaRPr lang="nl-BE" i="1" dirty="0"/>
          </a:p>
          <a:p>
            <a:pPr algn="just"/>
            <a:endParaRPr lang="nl-BE" b="1" dirty="0"/>
          </a:p>
          <a:p>
            <a:pPr algn="just"/>
            <a:r>
              <a:rPr lang="nl-BE" b="1" dirty="0"/>
              <a:t>We berekenden een statistische associatiemaat om na te gaan in welke mate er een statistisch significante samenhang is tussen </a:t>
            </a:r>
            <a:r>
              <a:rPr lang="nl-BE" b="1" i="1" dirty="0"/>
              <a:t>politiek lidmaatschap </a:t>
            </a:r>
            <a:r>
              <a:rPr lang="nl-BE" b="1" dirty="0"/>
              <a:t>en </a:t>
            </a:r>
            <a:r>
              <a:rPr lang="nl-BE" b="1" i="1" dirty="0"/>
              <a:t>attitude </a:t>
            </a:r>
            <a:r>
              <a:rPr lang="nl-BE" b="1" i="1" dirty="0" err="1"/>
              <a:t>tov</a:t>
            </a:r>
            <a:r>
              <a:rPr lang="nl-BE" b="1" i="1" dirty="0"/>
              <a:t> wapenbezit.</a:t>
            </a:r>
          </a:p>
          <a:p>
            <a:pPr algn="just"/>
            <a:r>
              <a:rPr lang="nl-BE" b="1" i="1" dirty="0"/>
              <a:t>Welke van de onderstaande uitspraken is FOUT? </a:t>
            </a:r>
            <a:r>
              <a:rPr lang="nl-BE" b="1" dirty="0"/>
              <a:t>(</a:t>
            </a:r>
            <a:r>
              <a:rPr lang="nl-BE" u="sng" dirty="0"/>
              <a:t>MAAK 1 KEUZE</a:t>
            </a:r>
            <a:r>
              <a:rPr lang="nl-BE" b="1" dirty="0"/>
              <a:t>)</a:t>
            </a:r>
          </a:p>
          <a:p>
            <a:endParaRPr lang="nl-BE" dirty="0"/>
          </a:p>
        </p:txBody>
      </p:sp>
      <p:sp>
        <p:nvSpPr>
          <p:cNvPr id="4" name="Tijdelijke aanduiding voor dianummer 3">
            <a:extLst>
              <a:ext uri="{FF2B5EF4-FFF2-40B4-BE49-F238E27FC236}">
                <a16:creationId xmlns:a16="http://schemas.microsoft.com/office/drawing/2014/main" id="{A6AF4854-AC40-4BD1-B5EB-FAF90A05DB63}"/>
              </a:ext>
            </a:extLst>
          </p:cNvPr>
          <p:cNvSpPr>
            <a:spLocks noGrp="1"/>
          </p:cNvSpPr>
          <p:nvPr>
            <p:ph type="sldNum" sz="quarter" idx="12"/>
          </p:nvPr>
        </p:nvSpPr>
        <p:spPr/>
        <p:txBody>
          <a:bodyPr/>
          <a:lstStyle/>
          <a:p>
            <a:fld id="{7AE184E0-0BD4-4705-A12B-9B71DDE63301}" type="slidenum">
              <a:rPr lang="en-GB" noProof="0" smtClean="0"/>
              <a:t>13</a:t>
            </a:fld>
            <a:endParaRPr lang="en-GB" noProof="0" dirty="0"/>
          </a:p>
        </p:txBody>
      </p:sp>
      <p:sp>
        <p:nvSpPr>
          <p:cNvPr id="5" name="Tijdelijke aanduiding voor inhoud 4">
            <a:extLst>
              <a:ext uri="{FF2B5EF4-FFF2-40B4-BE49-F238E27FC236}">
                <a16:creationId xmlns:a16="http://schemas.microsoft.com/office/drawing/2014/main" id="{7609E6AD-CF27-44C8-88CB-03944D358FC8}"/>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2835808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DD7D90-3304-4A7B-BB4A-B42D74201853}"/>
              </a:ext>
            </a:extLst>
          </p:cNvPr>
          <p:cNvSpPr>
            <a:spLocks noGrp="1"/>
          </p:cNvSpPr>
          <p:nvPr>
            <p:ph type="title"/>
          </p:nvPr>
        </p:nvSpPr>
        <p:spPr/>
        <p:txBody>
          <a:bodyPr/>
          <a:lstStyle/>
          <a:p>
            <a:r>
              <a:rPr lang="nl-BE" dirty="0"/>
              <a:t>VOORBEELDEXAMENVRAAG 4</a:t>
            </a:r>
          </a:p>
        </p:txBody>
      </p:sp>
      <p:sp>
        <p:nvSpPr>
          <p:cNvPr id="3" name="Tijdelijke aanduiding voor inhoud 2">
            <a:extLst>
              <a:ext uri="{FF2B5EF4-FFF2-40B4-BE49-F238E27FC236}">
                <a16:creationId xmlns:a16="http://schemas.microsoft.com/office/drawing/2014/main" id="{3C5159D4-1F55-4B7C-8A39-F13086D20463}"/>
              </a:ext>
            </a:extLst>
          </p:cNvPr>
          <p:cNvSpPr>
            <a:spLocks noGrp="1"/>
          </p:cNvSpPr>
          <p:nvPr>
            <p:ph idx="1"/>
          </p:nvPr>
        </p:nvSpPr>
        <p:spPr/>
        <p:txBody>
          <a:bodyPr>
            <a:normAutofit/>
          </a:bodyPr>
          <a:lstStyle/>
          <a:p>
            <a:pPr algn="just"/>
            <a:r>
              <a:rPr lang="nl-BE" b="1" dirty="0"/>
              <a:t>Welke van de onderstaande uitspraken is FOUT?</a:t>
            </a:r>
          </a:p>
          <a:p>
            <a:pPr marL="86400" indent="0" algn="just">
              <a:buNone/>
            </a:pPr>
            <a:r>
              <a:rPr lang="nl-BE" u="sng" dirty="0"/>
              <a:t>MAAK 1 KEUZE</a:t>
            </a:r>
          </a:p>
          <a:p>
            <a:pPr marL="86400" indent="0" algn="just">
              <a:buNone/>
            </a:pPr>
            <a:endParaRPr lang="nl-BE" b="1" dirty="0"/>
          </a:p>
          <a:p>
            <a:pPr marL="600750" indent="-514350" algn="just">
              <a:buAutoNum type="arabicPeriod"/>
            </a:pPr>
            <a:r>
              <a:rPr lang="nl-BE" dirty="0"/>
              <a:t>De relevante maat van effectgrootte bedraagt ,428 en wijst op een medium verband tussen politieke lidmaatschap en attitude persoonlijk wapenbezit.</a:t>
            </a:r>
          </a:p>
          <a:p>
            <a:pPr marL="600750" indent="-514350" algn="just">
              <a:buAutoNum type="arabicPeriod"/>
            </a:pPr>
            <a:r>
              <a:rPr lang="nl-BE" dirty="0"/>
              <a:t>Er is een statistisch significante samenhang tussen politieke lidmaatschap en attitude persoonlijk wapenbezit. De relevante toetsingsgrootheid bedraagt 173,730 met een bijhorende </a:t>
            </a:r>
            <a:r>
              <a:rPr lang="nl-BE" i="1" dirty="0"/>
              <a:t>p</a:t>
            </a:r>
            <a:r>
              <a:rPr lang="nl-BE" dirty="0"/>
              <a:t>-waarde &lt;,001. </a:t>
            </a:r>
          </a:p>
          <a:p>
            <a:pPr marL="600750" indent="-514350" algn="just">
              <a:buAutoNum type="arabicPeriod"/>
            </a:pPr>
            <a:r>
              <a:rPr lang="nl-BE" dirty="0"/>
              <a:t>Van de ondervraagde Republikeinen rapporteert 72,2% een positieve attitude </a:t>
            </a:r>
            <a:r>
              <a:rPr lang="nl-BE" dirty="0" err="1"/>
              <a:t>tav</a:t>
            </a:r>
            <a:r>
              <a:rPr lang="nl-BE" dirty="0"/>
              <a:t> persoonlijk wapenbezit, tegenover 29,4% van de ondervraagde Democraten. Het verschil tussen beide groepen is statistisch significant.</a:t>
            </a:r>
          </a:p>
          <a:p>
            <a:pPr marL="600750" indent="-514350" algn="just">
              <a:buFont typeface="Wingdings" panose="05000000000000000000" pitchFamily="2" charset="2"/>
              <a:buAutoNum type="arabicPeriod"/>
            </a:pPr>
            <a:r>
              <a:rPr lang="nl-BE" dirty="0"/>
              <a:t>Er is niet voldaan aan de assumpties om de relevante toetsingsgrootheid te berekenen.</a:t>
            </a:r>
          </a:p>
          <a:p>
            <a:pPr marL="600750" indent="-514350" algn="just">
              <a:buAutoNum type="arabicPeriod"/>
            </a:pPr>
            <a:endParaRPr lang="nl-BE" b="1" dirty="0"/>
          </a:p>
          <a:p>
            <a:pPr lvl="0" algn="just"/>
            <a:endParaRPr lang="nl-BE" b="1" i="1" dirty="0"/>
          </a:p>
          <a:p>
            <a:endParaRPr lang="nl-BE" dirty="0"/>
          </a:p>
        </p:txBody>
      </p:sp>
      <p:sp>
        <p:nvSpPr>
          <p:cNvPr id="4" name="Tijdelijke aanduiding voor dianummer 3">
            <a:extLst>
              <a:ext uri="{FF2B5EF4-FFF2-40B4-BE49-F238E27FC236}">
                <a16:creationId xmlns:a16="http://schemas.microsoft.com/office/drawing/2014/main" id="{A6AF4854-AC40-4BD1-B5EB-FAF90A05DB63}"/>
              </a:ext>
            </a:extLst>
          </p:cNvPr>
          <p:cNvSpPr>
            <a:spLocks noGrp="1"/>
          </p:cNvSpPr>
          <p:nvPr>
            <p:ph type="sldNum" sz="quarter" idx="12"/>
          </p:nvPr>
        </p:nvSpPr>
        <p:spPr/>
        <p:txBody>
          <a:bodyPr/>
          <a:lstStyle/>
          <a:p>
            <a:fld id="{7AE184E0-0BD4-4705-A12B-9B71DDE63301}" type="slidenum">
              <a:rPr lang="en-GB" noProof="0" smtClean="0"/>
              <a:t>14</a:t>
            </a:fld>
            <a:endParaRPr lang="en-GB" noProof="0" dirty="0"/>
          </a:p>
        </p:txBody>
      </p:sp>
      <p:sp>
        <p:nvSpPr>
          <p:cNvPr id="5" name="Tijdelijke aanduiding voor inhoud 4">
            <a:extLst>
              <a:ext uri="{FF2B5EF4-FFF2-40B4-BE49-F238E27FC236}">
                <a16:creationId xmlns:a16="http://schemas.microsoft.com/office/drawing/2014/main" id="{7609E6AD-CF27-44C8-88CB-03944D358FC8}"/>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2808602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FD84EA-65E5-4D3B-A97D-D5BFCA711816}"/>
              </a:ext>
            </a:extLst>
          </p:cNvPr>
          <p:cNvSpPr>
            <a:spLocks noGrp="1"/>
          </p:cNvSpPr>
          <p:nvPr>
            <p:ph type="title"/>
          </p:nvPr>
        </p:nvSpPr>
        <p:spPr/>
        <p:txBody>
          <a:bodyPr/>
          <a:lstStyle/>
          <a:p>
            <a:r>
              <a:rPr lang="nl-BE" dirty="0"/>
              <a:t>VOORBEELDEXAMENVRAAG 4</a:t>
            </a:r>
          </a:p>
        </p:txBody>
      </p:sp>
      <p:sp>
        <p:nvSpPr>
          <p:cNvPr id="4" name="Tijdelijke aanduiding voor dianummer 3">
            <a:extLst>
              <a:ext uri="{FF2B5EF4-FFF2-40B4-BE49-F238E27FC236}">
                <a16:creationId xmlns:a16="http://schemas.microsoft.com/office/drawing/2014/main" id="{CAD7EB85-A5B1-4478-B2A0-690BBF25C22F}"/>
              </a:ext>
            </a:extLst>
          </p:cNvPr>
          <p:cNvSpPr>
            <a:spLocks noGrp="1"/>
          </p:cNvSpPr>
          <p:nvPr>
            <p:ph type="sldNum" sz="quarter" idx="12"/>
          </p:nvPr>
        </p:nvSpPr>
        <p:spPr/>
        <p:txBody>
          <a:bodyPr/>
          <a:lstStyle/>
          <a:p>
            <a:fld id="{7AE184E0-0BD4-4705-A12B-9B71DDE63301}" type="slidenum">
              <a:rPr lang="en-GB" noProof="0" smtClean="0"/>
              <a:t>15</a:t>
            </a:fld>
            <a:endParaRPr lang="en-GB" noProof="0" dirty="0"/>
          </a:p>
        </p:txBody>
      </p:sp>
      <p:sp>
        <p:nvSpPr>
          <p:cNvPr id="5" name="Tijdelijke aanduiding voor inhoud 4">
            <a:extLst>
              <a:ext uri="{FF2B5EF4-FFF2-40B4-BE49-F238E27FC236}">
                <a16:creationId xmlns:a16="http://schemas.microsoft.com/office/drawing/2014/main" id="{2EBBC405-887B-4726-829D-B15EE66EE68C}"/>
              </a:ext>
            </a:extLst>
          </p:cNvPr>
          <p:cNvSpPr>
            <a:spLocks noGrp="1"/>
          </p:cNvSpPr>
          <p:nvPr>
            <p:ph idx="13"/>
          </p:nvPr>
        </p:nvSpPr>
        <p:spPr/>
        <p:txBody>
          <a:bodyPr/>
          <a:lstStyle/>
          <a:p>
            <a:endParaRPr lang="nl-BE"/>
          </a:p>
        </p:txBody>
      </p:sp>
      <p:sp>
        <p:nvSpPr>
          <p:cNvPr id="3" name="Tijdelijke aanduiding voor inhoud 2">
            <a:extLst>
              <a:ext uri="{FF2B5EF4-FFF2-40B4-BE49-F238E27FC236}">
                <a16:creationId xmlns:a16="http://schemas.microsoft.com/office/drawing/2014/main" id="{3BE7A5A1-E7E7-43C6-9C7C-991AA9241244}"/>
              </a:ext>
            </a:extLst>
          </p:cNvPr>
          <p:cNvSpPr>
            <a:spLocks noGrp="1"/>
          </p:cNvSpPr>
          <p:nvPr>
            <p:ph idx="1"/>
          </p:nvPr>
        </p:nvSpPr>
        <p:spPr>
          <a:xfrm>
            <a:off x="327069" y="1816273"/>
            <a:ext cx="16858641" cy="6864264"/>
          </a:xfrm>
        </p:spPr>
        <p:txBody>
          <a:bodyPr>
            <a:normAutofit lnSpcReduction="10000"/>
          </a:bodyPr>
          <a:lstStyle/>
          <a:p>
            <a:pPr algn="just"/>
            <a:r>
              <a:rPr lang="nl-BE" b="1" dirty="0"/>
              <a:t>Welke statistische associatiemaat zou jij berekenen om na te gaan in welke mate er een statistisch significante samenhang is tussen </a:t>
            </a:r>
            <a:r>
              <a:rPr lang="nl-BE" b="1" i="1" dirty="0"/>
              <a:t>politiek lidmaatschap </a:t>
            </a:r>
            <a:r>
              <a:rPr lang="nl-BE" b="1" dirty="0"/>
              <a:t>en </a:t>
            </a:r>
            <a:r>
              <a:rPr lang="nl-BE" b="1" i="1" dirty="0"/>
              <a:t>attitude </a:t>
            </a:r>
            <a:r>
              <a:rPr lang="nl-BE" b="1" i="1" dirty="0" err="1"/>
              <a:t>tov</a:t>
            </a:r>
            <a:r>
              <a:rPr lang="nl-BE" b="1" i="1" dirty="0"/>
              <a:t> wapenbezit.</a:t>
            </a:r>
          </a:p>
          <a:p>
            <a:r>
              <a:rPr lang="nl-BE" b="1" dirty="0"/>
              <a:t>Stap 1. </a:t>
            </a:r>
            <a:r>
              <a:rPr lang="nl-BE" dirty="0"/>
              <a:t>Kiezen van juiste analysemethode</a:t>
            </a:r>
          </a:p>
          <a:p>
            <a:pPr marL="1234350" lvl="1" indent="-514350">
              <a:buFont typeface="+mj-lt"/>
              <a:buAutoNum type="arabicPeriod"/>
            </a:pPr>
            <a:r>
              <a:rPr lang="nl-BE" b="1" dirty="0"/>
              <a:t>Hoeveel variabelen?</a:t>
            </a:r>
            <a:endParaRPr lang="nl-BE" dirty="0"/>
          </a:p>
          <a:p>
            <a:pPr lvl="2"/>
            <a:r>
              <a:rPr lang="nl-BE" dirty="0">
                <a:highlight>
                  <a:srgbClr val="FFFF00"/>
                </a:highlight>
              </a:rPr>
              <a:t>Twee variabelen</a:t>
            </a:r>
          </a:p>
          <a:p>
            <a:pPr marL="1234350" lvl="1" indent="-514350">
              <a:buFont typeface="+mj-lt"/>
              <a:buAutoNum type="arabicPeriod"/>
            </a:pPr>
            <a:r>
              <a:rPr lang="nl-BE" b="1" dirty="0"/>
              <a:t>Welk meetniveau?</a:t>
            </a:r>
            <a:endParaRPr lang="nl-BE" dirty="0"/>
          </a:p>
          <a:p>
            <a:pPr lvl="2"/>
            <a:r>
              <a:rPr lang="nl-BE" dirty="0">
                <a:highlight>
                  <a:srgbClr val="FFFF00"/>
                </a:highlight>
              </a:rPr>
              <a:t>Politiek lidmaatschap: nominaal, twee categorieën</a:t>
            </a:r>
          </a:p>
          <a:p>
            <a:pPr lvl="2"/>
            <a:r>
              <a:rPr lang="nl-BE" dirty="0">
                <a:highlight>
                  <a:srgbClr val="FFFF00"/>
                </a:highlight>
              </a:rPr>
              <a:t>Attitude </a:t>
            </a:r>
            <a:r>
              <a:rPr lang="nl-BE" dirty="0" err="1">
                <a:highlight>
                  <a:srgbClr val="FFFF00"/>
                </a:highlight>
              </a:rPr>
              <a:t>tov</a:t>
            </a:r>
            <a:r>
              <a:rPr lang="nl-BE" dirty="0">
                <a:highlight>
                  <a:srgbClr val="FFFF00"/>
                </a:highlight>
              </a:rPr>
              <a:t> wapenbezit: nominaal, twee categorieën</a:t>
            </a:r>
          </a:p>
          <a:p>
            <a:pPr marL="1234350" lvl="1" indent="-514350">
              <a:buFont typeface="+mj-lt"/>
              <a:buAutoNum type="arabicPeriod"/>
            </a:pPr>
            <a:r>
              <a:rPr lang="nl-BE" b="1" dirty="0"/>
              <a:t>Welke rol?</a:t>
            </a:r>
            <a:endParaRPr lang="nl-BE" dirty="0"/>
          </a:p>
          <a:p>
            <a:pPr lvl="2"/>
            <a:r>
              <a:rPr lang="nl-BE" dirty="0">
                <a:highlight>
                  <a:srgbClr val="FFFF00"/>
                </a:highlight>
              </a:rPr>
              <a:t>Politiek lidmaatschap: onafhankelijke variabele</a:t>
            </a:r>
          </a:p>
          <a:p>
            <a:pPr lvl="2"/>
            <a:r>
              <a:rPr lang="nl-BE" dirty="0">
                <a:highlight>
                  <a:srgbClr val="FFFF00"/>
                </a:highlight>
              </a:rPr>
              <a:t>Attitude </a:t>
            </a:r>
            <a:r>
              <a:rPr lang="nl-BE" dirty="0" err="1">
                <a:highlight>
                  <a:srgbClr val="FFFF00"/>
                </a:highlight>
              </a:rPr>
              <a:t>tov</a:t>
            </a:r>
            <a:r>
              <a:rPr lang="nl-BE" dirty="0">
                <a:highlight>
                  <a:srgbClr val="FFFF00"/>
                </a:highlight>
              </a:rPr>
              <a:t> wapenbezit: afhankelijke variabele</a:t>
            </a:r>
          </a:p>
          <a:p>
            <a:pPr lvl="2"/>
            <a:r>
              <a:rPr lang="nl-BE" b="1" dirty="0">
                <a:solidFill>
                  <a:srgbClr val="C00000"/>
                </a:solidFill>
              </a:rPr>
              <a:t>Noot: rollen kunnen ook omgedraaid worden! </a:t>
            </a:r>
          </a:p>
          <a:p>
            <a:endParaRPr lang="nl-BE" dirty="0"/>
          </a:p>
          <a:p>
            <a:pPr marL="86400" indent="0">
              <a:buNone/>
            </a:pPr>
            <a:endParaRPr lang="nl-BE" b="1" dirty="0"/>
          </a:p>
        </p:txBody>
      </p:sp>
    </p:spTree>
    <p:extLst>
      <p:ext uri="{BB962C8B-B14F-4D97-AF65-F5344CB8AC3E}">
        <p14:creationId xmlns:p14="http://schemas.microsoft.com/office/powerpoint/2010/main" val="427175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89">
            <a:extLst>
              <a:ext uri="{FF2B5EF4-FFF2-40B4-BE49-F238E27FC236}">
                <a16:creationId xmlns:a16="http://schemas.microsoft.com/office/drawing/2014/main" id="{8F08DB32-3106-4977-857B-5BD70495575B}"/>
              </a:ext>
            </a:extLst>
          </p:cNvPr>
          <p:cNvSpPr txBox="1"/>
          <p:nvPr/>
        </p:nvSpPr>
        <p:spPr>
          <a:xfrm>
            <a:off x="10371171" y="195357"/>
            <a:ext cx="1651930" cy="67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Bij categorische OV: gelijkaardige of verschillende respondenten in verschillende categorieën??</a:t>
            </a:r>
          </a:p>
        </p:txBody>
      </p:sp>
      <p:sp>
        <p:nvSpPr>
          <p:cNvPr id="245" name="Title 1">
            <a:extLst>
              <a:ext uri="{FF2B5EF4-FFF2-40B4-BE49-F238E27FC236}">
                <a16:creationId xmlns:a16="http://schemas.microsoft.com/office/drawing/2014/main" id="{18FC5625-A36C-4539-B58D-A6C810CAD8CC}"/>
              </a:ext>
            </a:extLst>
          </p:cNvPr>
          <p:cNvSpPr>
            <a:spLocks noGrp="1"/>
          </p:cNvSpPr>
          <p:nvPr>
            <p:ph type="title"/>
          </p:nvPr>
        </p:nvSpPr>
        <p:spPr>
          <a:xfrm>
            <a:off x="2656227" y="9026885"/>
            <a:ext cx="12026222" cy="747445"/>
          </a:xfrm>
        </p:spPr>
        <p:txBody>
          <a:bodyPr/>
          <a:lstStyle/>
          <a:p>
            <a:pPr algn="ctr"/>
            <a:r>
              <a:rPr lang="nl-BE" dirty="0">
                <a:solidFill>
                  <a:srgbClr val="002060"/>
                </a:solidFill>
              </a:rPr>
              <a:t>Welke analysetechniek gebruik ik?</a:t>
            </a:r>
          </a:p>
        </p:txBody>
      </p:sp>
      <p:sp>
        <p:nvSpPr>
          <p:cNvPr id="4" name="Slide Number Placeholder 3">
            <a:extLst>
              <a:ext uri="{FF2B5EF4-FFF2-40B4-BE49-F238E27FC236}">
                <a16:creationId xmlns:a16="http://schemas.microsoft.com/office/drawing/2014/main" id="{4B964762-09BF-4771-95D5-61DE9B768E24}"/>
              </a:ext>
            </a:extLst>
          </p:cNvPr>
          <p:cNvSpPr>
            <a:spLocks noGrp="1"/>
          </p:cNvSpPr>
          <p:nvPr>
            <p:ph type="sldNum" sz="quarter" idx="12"/>
          </p:nvPr>
        </p:nvSpPr>
        <p:spPr>
          <a:xfrm>
            <a:off x="14669331" y="8161967"/>
            <a:ext cx="797801" cy="449396"/>
          </a:xfrm>
        </p:spPr>
        <p:txBody>
          <a:bodyPr/>
          <a:lstStyle/>
          <a:p>
            <a:pPr defTabSz="476448"/>
            <a:fld id="{7AE184E0-0BD4-4705-A12B-9B71DDE63301}" type="slidenum">
              <a:rPr lang="en-GB">
                <a:solidFill>
                  <a:prstClr val="black">
                    <a:tint val="75000"/>
                  </a:prstClr>
                </a:solidFill>
                <a:latin typeface="Calibri" panose="020F0502020204030204"/>
              </a:rPr>
              <a:pPr defTabSz="476448"/>
              <a:t>16</a:t>
            </a:fld>
            <a:endParaRPr lang="en-GB" dirty="0">
              <a:solidFill>
                <a:prstClr val="black">
                  <a:tint val="75000"/>
                </a:prstClr>
              </a:solidFill>
              <a:latin typeface="Calibri" panose="020F0502020204030204"/>
            </a:endParaRPr>
          </a:p>
        </p:txBody>
      </p:sp>
      <p:sp>
        <p:nvSpPr>
          <p:cNvPr id="6" name="TextBox 5">
            <a:extLst>
              <a:ext uri="{FF2B5EF4-FFF2-40B4-BE49-F238E27FC236}">
                <a16:creationId xmlns:a16="http://schemas.microsoft.com/office/drawing/2014/main" id="{5081C82A-D336-47CA-AEFF-D561E49493D1}"/>
              </a:ext>
            </a:extLst>
          </p:cNvPr>
          <p:cNvSpPr txBox="1"/>
          <p:nvPr/>
        </p:nvSpPr>
        <p:spPr>
          <a:xfrm>
            <a:off x="1342991" y="435145"/>
            <a:ext cx="1347127"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Aantal </a:t>
            </a:r>
          </a:p>
          <a:p>
            <a:pPr algn="ctr" defTabSz="476448"/>
            <a:r>
              <a:rPr lang="nl-BE" sz="940" dirty="0">
                <a:solidFill>
                  <a:prstClr val="black"/>
                </a:solidFill>
                <a:latin typeface="Calibri" panose="020F0502020204030204"/>
              </a:rPr>
              <a:t>afhankelijke variabelen</a:t>
            </a:r>
          </a:p>
        </p:txBody>
      </p:sp>
      <p:sp>
        <p:nvSpPr>
          <p:cNvPr id="7" name="TextBox 6">
            <a:extLst>
              <a:ext uri="{FF2B5EF4-FFF2-40B4-BE49-F238E27FC236}">
                <a16:creationId xmlns:a16="http://schemas.microsoft.com/office/drawing/2014/main" id="{5265D672-A626-415A-8295-202B4868868B}"/>
              </a:ext>
            </a:extLst>
          </p:cNvPr>
          <p:cNvSpPr txBox="1"/>
          <p:nvPr/>
        </p:nvSpPr>
        <p:spPr>
          <a:xfrm>
            <a:off x="2844203" y="433107"/>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Meetniveau afhankelijke variabele</a:t>
            </a:r>
          </a:p>
        </p:txBody>
      </p:sp>
      <p:sp>
        <p:nvSpPr>
          <p:cNvPr id="8" name="TextBox 7">
            <a:extLst>
              <a:ext uri="{FF2B5EF4-FFF2-40B4-BE49-F238E27FC236}">
                <a16:creationId xmlns:a16="http://schemas.microsoft.com/office/drawing/2014/main" id="{8F4600DD-4393-466B-BEEB-882B3DA6D4B5}"/>
              </a:ext>
            </a:extLst>
          </p:cNvPr>
          <p:cNvSpPr txBox="1"/>
          <p:nvPr/>
        </p:nvSpPr>
        <p:spPr>
          <a:xfrm>
            <a:off x="4189920" y="435623"/>
            <a:ext cx="1610372"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Aantal</a:t>
            </a:r>
          </a:p>
          <a:p>
            <a:pPr algn="ctr" defTabSz="476448"/>
            <a:r>
              <a:rPr lang="nl-BE" sz="940" dirty="0">
                <a:solidFill>
                  <a:prstClr val="black"/>
                </a:solidFill>
                <a:latin typeface="Calibri" panose="020F0502020204030204"/>
              </a:rPr>
              <a:t> onafhankelijke variabelen</a:t>
            </a:r>
          </a:p>
        </p:txBody>
      </p:sp>
      <p:sp>
        <p:nvSpPr>
          <p:cNvPr id="9" name="TextBox 8">
            <a:extLst>
              <a:ext uri="{FF2B5EF4-FFF2-40B4-BE49-F238E27FC236}">
                <a16:creationId xmlns:a16="http://schemas.microsoft.com/office/drawing/2014/main" id="{5F1F5C02-EFE6-49F0-A75F-AE1104AC7DEC}"/>
              </a:ext>
            </a:extLst>
          </p:cNvPr>
          <p:cNvSpPr txBox="1"/>
          <p:nvPr/>
        </p:nvSpPr>
        <p:spPr>
          <a:xfrm>
            <a:off x="5848391" y="433657"/>
            <a:ext cx="1483674"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Meetniveau onafhankelijke variabelen</a:t>
            </a:r>
          </a:p>
        </p:txBody>
      </p:sp>
      <p:sp>
        <p:nvSpPr>
          <p:cNvPr id="10" name="TextBox 9">
            <a:extLst>
              <a:ext uri="{FF2B5EF4-FFF2-40B4-BE49-F238E27FC236}">
                <a16:creationId xmlns:a16="http://schemas.microsoft.com/office/drawing/2014/main" id="{0CB43338-9162-4955-AC30-7E12E11A5188}"/>
              </a:ext>
            </a:extLst>
          </p:cNvPr>
          <p:cNvSpPr txBox="1"/>
          <p:nvPr/>
        </p:nvSpPr>
        <p:spPr>
          <a:xfrm>
            <a:off x="8860409" y="437468"/>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Bij categorische OV: hoeveel categorieën?</a:t>
            </a:r>
          </a:p>
        </p:txBody>
      </p:sp>
      <p:sp>
        <p:nvSpPr>
          <p:cNvPr id="11" name="Rectangle 10">
            <a:extLst>
              <a:ext uri="{FF2B5EF4-FFF2-40B4-BE49-F238E27FC236}">
                <a16:creationId xmlns:a16="http://schemas.microsoft.com/office/drawing/2014/main" id="{21C2167C-EB1A-40E1-A7AB-BDA76FE6C4E3}"/>
              </a:ext>
            </a:extLst>
          </p:cNvPr>
          <p:cNvSpPr/>
          <p:nvPr/>
        </p:nvSpPr>
        <p:spPr>
          <a:xfrm>
            <a:off x="2995293" y="222448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12" name="Rectangle 11">
            <a:extLst>
              <a:ext uri="{FF2B5EF4-FFF2-40B4-BE49-F238E27FC236}">
                <a16:creationId xmlns:a16="http://schemas.microsoft.com/office/drawing/2014/main" id="{9FE4E87F-DA61-4418-8711-7A2A8629B501}"/>
              </a:ext>
            </a:extLst>
          </p:cNvPr>
          <p:cNvSpPr/>
          <p:nvPr/>
        </p:nvSpPr>
        <p:spPr>
          <a:xfrm>
            <a:off x="1494078" y="400666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Eén</a:t>
            </a:r>
          </a:p>
        </p:txBody>
      </p:sp>
      <p:cxnSp>
        <p:nvCxnSpPr>
          <p:cNvPr id="13" name="Straight Arrow Connector 12">
            <a:extLst>
              <a:ext uri="{FF2B5EF4-FFF2-40B4-BE49-F238E27FC236}">
                <a16:creationId xmlns:a16="http://schemas.microsoft.com/office/drawing/2014/main" id="{B1FF0BF9-6799-4152-99E5-A549EC4FA225}"/>
              </a:ext>
            </a:extLst>
          </p:cNvPr>
          <p:cNvCxnSpPr>
            <a:cxnSpLocks/>
            <a:stCxn id="12" idx="0"/>
            <a:endCxn id="11" idx="2"/>
          </p:cNvCxnSpPr>
          <p:nvPr/>
        </p:nvCxnSpPr>
        <p:spPr>
          <a:xfrm flipV="1">
            <a:off x="1970469" y="2479100"/>
            <a:ext cx="1501215" cy="15275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7869E0C-9730-4D00-8A96-446A9BDE609B}"/>
              </a:ext>
            </a:extLst>
          </p:cNvPr>
          <p:cNvSpPr/>
          <p:nvPr/>
        </p:nvSpPr>
        <p:spPr>
          <a:xfrm>
            <a:off x="4498263" y="128896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Eén</a:t>
            </a:r>
          </a:p>
        </p:txBody>
      </p:sp>
      <p:sp>
        <p:nvSpPr>
          <p:cNvPr id="15" name="Rectangle 14">
            <a:extLst>
              <a:ext uri="{FF2B5EF4-FFF2-40B4-BE49-F238E27FC236}">
                <a16:creationId xmlns:a16="http://schemas.microsoft.com/office/drawing/2014/main" id="{C7DCBE10-8C56-4C40-978C-5BDC51E24E38}"/>
              </a:ext>
            </a:extLst>
          </p:cNvPr>
          <p:cNvSpPr/>
          <p:nvPr/>
        </p:nvSpPr>
        <p:spPr>
          <a:xfrm>
            <a:off x="6010934" y="87570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16" name="Rectangle 15">
            <a:extLst>
              <a:ext uri="{FF2B5EF4-FFF2-40B4-BE49-F238E27FC236}">
                <a16:creationId xmlns:a16="http://schemas.microsoft.com/office/drawing/2014/main" id="{5F750A0F-ABD9-4088-803D-8CBD899DC78A}"/>
              </a:ext>
            </a:extLst>
          </p:cNvPr>
          <p:cNvSpPr/>
          <p:nvPr/>
        </p:nvSpPr>
        <p:spPr>
          <a:xfrm>
            <a:off x="6007897" y="167460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17" name="Rectangle 16">
            <a:extLst>
              <a:ext uri="{FF2B5EF4-FFF2-40B4-BE49-F238E27FC236}">
                <a16:creationId xmlns:a16="http://schemas.microsoft.com/office/drawing/2014/main" id="{6CA60F3F-5936-4C21-A14E-DA2A5BFE407A}"/>
              </a:ext>
            </a:extLst>
          </p:cNvPr>
          <p:cNvSpPr/>
          <p:nvPr/>
        </p:nvSpPr>
        <p:spPr>
          <a:xfrm>
            <a:off x="9011496" y="136268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a:t>
            </a:r>
          </a:p>
        </p:txBody>
      </p:sp>
      <p:sp>
        <p:nvSpPr>
          <p:cNvPr id="18" name="Rectangle 17">
            <a:extLst>
              <a:ext uri="{FF2B5EF4-FFF2-40B4-BE49-F238E27FC236}">
                <a16:creationId xmlns:a16="http://schemas.microsoft.com/office/drawing/2014/main" id="{FBEC190E-C820-4FFB-9E78-A5F4E73A160A}"/>
              </a:ext>
            </a:extLst>
          </p:cNvPr>
          <p:cNvSpPr/>
          <p:nvPr/>
        </p:nvSpPr>
        <p:spPr>
          <a:xfrm>
            <a:off x="9013959" y="21213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Meer dan 2</a:t>
            </a:r>
          </a:p>
        </p:txBody>
      </p:sp>
      <p:sp>
        <p:nvSpPr>
          <p:cNvPr id="19" name="Rectangle 18">
            <a:extLst>
              <a:ext uri="{FF2B5EF4-FFF2-40B4-BE49-F238E27FC236}">
                <a16:creationId xmlns:a16="http://schemas.microsoft.com/office/drawing/2014/main" id="{B2BD1D95-F21A-46CF-A9AE-4A875C58E751}"/>
              </a:ext>
            </a:extLst>
          </p:cNvPr>
          <p:cNvSpPr/>
          <p:nvPr/>
        </p:nvSpPr>
        <p:spPr>
          <a:xfrm>
            <a:off x="10673563" y="118201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20" name="Rectangle 19">
            <a:extLst>
              <a:ext uri="{FF2B5EF4-FFF2-40B4-BE49-F238E27FC236}">
                <a16:creationId xmlns:a16="http://schemas.microsoft.com/office/drawing/2014/main" id="{E66F50B3-4367-436E-9098-123479F8703E}"/>
              </a:ext>
            </a:extLst>
          </p:cNvPr>
          <p:cNvSpPr/>
          <p:nvPr/>
        </p:nvSpPr>
        <p:spPr>
          <a:xfrm>
            <a:off x="10675444" y="156259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sp>
        <p:nvSpPr>
          <p:cNvPr id="21" name="Rectangle 20">
            <a:extLst>
              <a:ext uri="{FF2B5EF4-FFF2-40B4-BE49-F238E27FC236}">
                <a16:creationId xmlns:a16="http://schemas.microsoft.com/office/drawing/2014/main" id="{9BFA3EFB-3D41-49A0-A600-D64D792FC957}"/>
              </a:ext>
            </a:extLst>
          </p:cNvPr>
          <p:cNvSpPr/>
          <p:nvPr/>
        </p:nvSpPr>
        <p:spPr>
          <a:xfrm>
            <a:off x="10673563" y="193774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22" name="Rectangle 21">
            <a:extLst>
              <a:ext uri="{FF2B5EF4-FFF2-40B4-BE49-F238E27FC236}">
                <a16:creationId xmlns:a16="http://schemas.microsoft.com/office/drawing/2014/main" id="{CC6625A1-59D8-4F00-8D49-9ACAE95D6E79}"/>
              </a:ext>
            </a:extLst>
          </p:cNvPr>
          <p:cNvSpPr/>
          <p:nvPr/>
        </p:nvSpPr>
        <p:spPr>
          <a:xfrm>
            <a:off x="10673563" y="23076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sp>
        <p:nvSpPr>
          <p:cNvPr id="23" name="Rectangle 22">
            <a:extLst>
              <a:ext uri="{FF2B5EF4-FFF2-40B4-BE49-F238E27FC236}">
                <a16:creationId xmlns:a16="http://schemas.microsoft.com/office/drawing/2014/main" id="{3CEBAE4C-E952-4701-A588-0E506E9495CA}"/>
              </a:ext>
            </a:extLst>
          </p:cNvPr>
          <p:cNvSpPr/>
          <p:nvPr/>
        </p:nvSpPr>
        <p:spPr>
          <a:xfrm>
            <a:off x="4503197" y="349771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 of meer</a:t>
            </a:r>
          </a:p>
        </p:txBody>
      </p:sp>
      <p:sp>
        <p:nvSpPr>
          <p:cNvPr id="24" name="Rectangle 23">
            <a:extLst>
              <a:ext uri="{FF2B5EF4-FFF2-40B4-BE49-F238E27FC236}">
                <a16:creationId xmlns:a16="http://schemas.microsoft.com/office/drawing/2014/main" id="{93BFC2C9-0AC0-4CB1-8AC9-84CC4C9E8B05}"/>
              </a:ext>
            </a:extLst>
          </p:cNvPr>
          <p:cNvSpPr/>
          <p:nvPr/>
        </p:nvSpPr>
        <p:spPr>
          <a:xfrm>
            <a:off x="6013185" y="2733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25" name="Rectangle 24">
            <a:extLst>
              <a:ext uri="{FF2B5EF4-FFF2-40B4-BE49-F238E27FC236}">
                <a16:creationId xmlns:a16="http://schemas.microsoft.com/office/drawing/2014/main" id="{9146049E-5A0F-4129-980C-EAD1E577B984}"/>
              </a:ext>
            </a:extLst>
          </p:cNvPr>
          <p:cNvSpPr/>
          <p:nvPr/>
        </p:nvSpPr>
        <p:spPr>
          <a:xfrm>
            <a:off x="6012831" y="349408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cxnSp>
        <p:nvCxnSpPr>
          <p:cNvPr id="26" name="Straight Arrow Connector 25">
            <a:extLst>
              <a:ext uri="{FF2B5EF4-FFF2-40B4-BE49-F238E27FC236}">
                <a16:creationId xmlns:a16="http://schemas.microsoft.com/office/drawing/2014/main" id="{C2E40CDE-0509-4980-8ABC-D5E13B4D63EC}"/>
              </a:ext>
            </a:extLst>
          </p:cNvPr>
          <p:cNvCxnSpPr>
            <a:cxnSpLocks/>
            <a:stCxn id="11" idx="3"/>
            <a:endCxn id="14" idx="1"/>
          </p:cNvCxnSpPr>
          <p:nvPr/>
        </p:nvCxnSpPr>
        <p:spPr>
          <a:xfrm flipV="1">
            <a:off x="3948075" y="1416278"/>
            <a:ext cx="550189" cy="93551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63ED7FAA-3E92-40CF-B548-DAEC25B4DEE5}"/>
              </a:ext>
            </a:extLst>
          </p:cNvPr>
          <p:cNvCxnSpPr>
            <a:cxnSpLocks/>
            <a:stCxn id="11" idx="3"/>
            <a:endCxn id="23" idx="1"/>
          </p:cNvCxnSpPr>
          <p:nvPr/>
        </p:nvCxnSpPr>
        <p:spPr>
          <a:xfrm>
            <a:off x="3948075" y="2351790"/>
            <a:ext cx="555122" cy="127323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C049D1A6-52D5-421E-ADBC-D406D68A1E03}"/>
              </a:ext>
            </a:extLst>
          </p:cNvPr>
          <p:cNvCxnSpPr>
            <a:cxnSpLocks/>
            <a:stCxn id="14" idx="3"/>
            <a:endCxn id="15" idx="1"/>
          </p:cNvCxnSpPr>
          <p:nvPr/>
        </p:nvCxnSpPr>
        <p:spPr>
          <a:xfrm flipV="1">
            <a:off x="5451044" y="1003011"/>
            <a:ext cx="559890" cy="4132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B48BBA74-0B02-4E1C-916A-3BF2D95B892A}"/>
              </a:ext>
            </a:extLst>
          </p:cNvPr>
          <p:cNvCxnSpPr>
            <a:cxnSpLocks/>
            <a:stCxn id="14" idx="3"/>
            <a:endCxn id="16" idx="1"/>
          </p:cNvCxnSpPr>
          <p:nvPr/>
        </p:nvCxnSpPr>
        <p:spPr>
          <a:xfrm>
            <a:off x="5451044" y="1416279"/>
            <a:ext cx="556853" cy="38563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5F95BA9C-6341-4AF6-8E4E-20D71A502B91}"/>
              </a:ext>
            </a:extLst>
          </p:cNvPr>
          <p:cNvCxnSpPr>
            <a:cxnSpLocks/>
            <a:stCxn id="15" idx="3"/>
          </p:cNvCxnSpPr>
          <p:nvPr/>
        </p:nvCxnSpPr>
        <p:spPr>
          <a:xfrm flipV="1">
            <a:off x="6963715" y="991078"/>
            <a:ext cx="5230053"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F2DA6E5-A9D3-4BA4-B370-C8B749981BCA}"/>
              </a:ext>
            </a:extLst>
          </p:cNvPr>
          <p:cNvCxnSpPr>
            <a:cxnSpLocks/>
            <a:stCxn id="16" idx="3"/>
            <a:endCxn id="17" idx="1"/>
          </p:cNvCxnSpPr>
          <p:nvPr/>
        </p:nvCxnSpPr>
        <p:spPr>
          <a:xfrm flipV="1">
            <a:off x="6960679" y="1489995"/>
            <a:ext cx="2050817" cy="3119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2AC0B029-CC19-4668-8F88-D219AD5CA9D4}"/>
              </a:ext>
            </a:extLst>
          </p:cNvPr>
          <p:cNvCxnSpPr>
            <a:cxnSpLocks/>
            <a:stCxn id="16" idx="3"/>
            <a:endCxn id="18" idx="1"/>
          </p:cNvCxnSpPr>
          <p:nvPr/>
        </p:nvCxnSpPr>
        <p:spPr>
          <a:xfrm>
            <a:off x="6960678" y="1801916"/>
            <a:ext cx="2053281" cy="4467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7D6A7D7-9301-4822-B0D1-672E58693E6C}"/>
              </a:ext>
            </a:extLst>
          </p:cNvPr>
          <p:cNvCxnSpPr>
            <a:cxnSpLocks/>
            <a:stCxn id="17" idx="3"/>
            <a:endCxn id="19" idx="1"/>
          </p:cNvCxnSpPr>
          <p:nvPr/>
        </p:nvCxnSpPr>
        <p:spPr>
          <a:xfrm flipV="1">
            <a:off x="9964277" y="1309324"/>
            <a:ext cx="709286" cy="1806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57E46F4F-9CE9-4193-A0A3-AC0BFB0153E3}"/>
              </a:ext>
            </a:extLst>
          </p:cNvPr>
          <p:cNvCxnSpPr>
            <a:cxnSpLocks/>
            <a:stCxn id="17" idx="3"/>
            <a:endCxn id="20" idx="1"/>
          </p:cNvCxnSpPr>
          <p:nvPr/>
        </p:nvCxnSpPr>
        <p:spPr>
          <a:xfrm>
            <a:off x="9964277" y="1489995"/>
            <a:ext cx="711166" cy="19991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8C4F753A-C967-474B-B16D-3D797DCA47BC}"/>
              </a:ext>
            </a:extLst>
          </p:cNvPr>
          <p:cNvCxnSpPr>
            <a:cxnSpLocks/>
            <a:stCxn id="18" idx="3"/>
            <a:endCxn id="21" idx="1"/>
          </p:cNvCxnSpPr>
          <p:nvPr/>
        </p:nvCxnSpPr>
        <p:spPr>
          <a:xfrm flipV="1">
            <a:off x="9966740" y="2065057"/>
            <a:ext cx="706823" cy="1836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95271780-69D1-4B9A-AB0A-50671DFB34D0}"/>
              </a:ext>
            </a:extLst>
          </p:cNvPr>
          <p:cNvCxnSpPr>
            <a:cxnSpLocks/>
            <a:stCxn id="18" idx="3"/>
            <a:endCxn id="22" idx="1"/>
          </p:cNvCxnSpPr>
          <p:nvPr/>
        </p:nvCxnSpPr>
        <p:spPr>
          <a:xfrm>
            <a:off x="9966740" y="2248670"/>
            <a:ext cx="706823" cy="18631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482698B3-52BB-489E-ACCD-55314AC2B672}"/>
              </a:ext>
            </a:extLst>
          </p:cNvPr>
          <p:cNvCxnSpPr>
            <a:cxnSpLocks/>
            <a:stCxn id="19" idx="3"/>
          </p:cNvCxnSpPr>
          <p:nvPr/>
        </p:nvCxnSpPr>
        <p:spPr>
          <a:xfrm>
            <a:off x="11626344" y="1309323"/>
            <a:ext cx="567424"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520539FF-C4AB-47F7-B74A-E8BEA15B37DD}"/>
              </a:ext>
            </a:extLst>
          </p:cNvPr>
          <p:cNvCxnSpPr>
            <a:cxnSpLocks/>
            <a:stCxn id="20" idx="3"/>
          </p:cNvCxnSpPr>
          <p:nvPr/>
        </p:nvCxnSpPr>
        <p:spPr>
          <a:xfrm flipV="1">
            <a:off x="11628225" y="1684592"/>
            <a:ext cx="555334" cy="531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1E4FBB-500B-4A48-A435-26A60401AA8A}"/>
              </a:ext>
            </a:extLst>
          </p:cNvPr>
          <p:cNvCxnSpPr>
            <a:cxnSpLocks/>
            <a:stCxn id="21" idx="3"/>
          </p:cNvCxnSpPr>
          <p:nvPr/>
        </p:nvCxnSpPr>
        <p:spPr>
          <a:xfrm>
            <a:off x="11626345" y="2065057"/>
            <a:ext cx="549420"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9A5D1B40-1C0C-4650-98DC-E845DD7F7FCA}"/>
              </a:ext>
            </a:extLst>
          </p:cNvPr>
          <p:cNvCxnSpPr>
            <a:cxnSpLocks/>
            <a:stCxn id="22" idx="3"/>
          </p:cNvCxnSpPr>
          <p:nvPr/>
        </p:nvCxnSpPr>
        <p:spPr>
          <a:xfrm>
            <a:off x="11626345" y="2434989"/>
            <a:ext cx="55721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DAFDF9B0-1199-451D-A3A8-280B50010582}"/>
              </a:ext>
            </a:extLst>
          </p:cNvPr>
          <p:cNvCxnSpPr>
            <a:cxnSpLocks/>
            <a:stCxn id="23" idx="3"/>
            <a:endCxn id="24" idx="1"/>
          </p:cNvCxnSpPr>
          <p:nvPr/>
        </p:nvCxnSpPr>
        <p:spPr>
          <a:xfrm flipV="1">
            <a:off x="5455979" y="2860533"/>
            <a:ext cx="557206" cy="76448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815DC919-FC68-4AC6-9C2D-F1F424E8B5D1}"/>
              </a:ext>
            </a:extLst>
          </p:cNvPr>
          <p:cNvCxnSpPr>
            <a:cxnSpLocks/>
            <a:stCxn id="23" idx="3"/>
            <a:endCxn id="25" idx="1"/>
          </p:cNvCxnSpPr>
          <p:nvPr/>
        </p:nvCxnSpPr>
        <p:spPr>
          <a:xfrm flipV="1">
            <a:off x="5455979" y="3621399"/>
            <a:ext cx="556852" cy="362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944AF4B-AFB3-47F3-AA7E-B48BB0E4812C}"/>
              </a:ext>
            </a:extLst>
          </p:cNvPr>
          <p:cNvCxnSpPr>
            <a:cxnSpLocks/>
            <a:stCxn id="24" idx="3"/>
          </p:cNvCxnSpPr>
          <p:nvPr/>
        </p:nvCxnSpPr>
        <p:spPr>
          <a:xfrm flipV="1">
            <a:off x="6965966" y="2848601"/>
            <a:ext cx="5188593" cy="1193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B38A2F61-0C6E-438B-A660-1DF73E421A5E}"/>
              </a:ext>
            </a:extLst>
          </p:cNvPr>
          <p:cNvSpPr/>
          <p:nvPr/>
        </p:nvSpPr>
        <p:spPr>
          <a:xfrm>
            <a:off x="10676570" y="312457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45" name="Rectangle 44">
            <a:extLst>
              <a:ext uri="{FF2B5EF4-FFF2-40B4-BE49-F238E27FC236}">
                <a16:creationId xmlns:a16="http://schemas.microsoft.com/office/drawing/2014/main" id="{38465FAD-3157-4A4E-BC35-645C9EFF3FDA}"/>
              </a:ext>
            </a:extLst>
          </p:cNvPr>
          <p:cNvSpPr/>
          <p:nvPr/>
        </p:nvSpPr>
        <p:spPr>
          <a:xfrm>
            <a:off x="10674606" y="388471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cxnSp>
        <p:nvCxnSpPr>
          <p:cNvPr id="46" name="Straight Arrow Connector 45">
            <a:extLst>
              <a:ext uri="{FF2B5EF4-FFF2-40B4-BE49-F238E27FC236}">
                <a16:creationId xmlns:a16="http://schemas.microsoft.com/office/drawing/2014/main" id="{B4169F39-ADC8-41DE-9507-5F0F4D0FC769}"/>
              </a:ext>
            </a:extLst>
          </p:cNvPr>
          <p:cNvCxnSpPr>
            <a:cxnSpLocks/>
            <a:stCxn id="25" idx="3"/>
            <a:endCxn id="44" idx="1"/>
          </p:cNvCxnSpPr>
          <p:nvPr/>
        </p:nvCxnSpPr>
        <p:spPr>
          <a:xfrm flipV="1">
            <a:off x="6965613" y="3251883"/>
            <a:ext cx="3710958" cy="3695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D23A0FE4-A792-4EAA-AE89-2284D5597B64}"/>
              </a:ext>
            </a:extLst>
          </p:cNvPr>
          <p:cNvCxnSpPr>
            <a:cxnSpLocks/>
            <a:stCxn id="25" idx="3"/>
            <a:endCxn id="45" idx="1"/>
          </p:cNvCxnSpPr>
          <p:nvPr/>
        </p:nvCxnSpPr>
        <p:spPr>
          <a:xfrm>
            <a:off x="6965612" y="3621399"/>
            <a:ext cx="3708994" cy="39062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47105FBF-E393-4EF6-8B39-CA9B43410538}"/>
              </a:ext>
            </a:extLst>
          </p:cNvPr>
          <p:cNvCxnSpPr>
            <a:cxnSpLocks/>
            <a:stCxn id="44" idx="3"/>
          </p:cNvCxnSpPr>
          <p:nvPr/>
        </p:nvCxnSpPr>
        <p:spPr>
          <a:xfrm>
            <a:off x="11629352" y="3251883"/>
            <a:ext cx="52520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a:extLst>
              <a:ext uri="{FF2B5EF4-FFF2-40B4-BE49-F238E27FC236}">
                <a16:creationId xmlns:a16="http://schemas.microsoft.com/office/drawing/2014/main" id="{622DC63D-5E25-4303-8371-36871A070E51}"/>
              </a:ext>
            </a:extLst>
          </p:cNvPr>
          <p:cNvCxnSpPr>
            <a:cxnSpLocks/>
            <a:stCxn id="45" idx="3"/>
          </p:cNvCxnSpPr>
          <p:nvPr/>
        </p:nvCxnSpPr>
        <p:spPr>
          <a:xfrm>
            <a:off x="11627388" y="4012025"/>
            <a:ext cx="527172"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50" name="Rectangle 49">
            <a:extLst>
              <a:ext uri="{FF2B5EF4-FFF2-40B4-BE49-F238E27FC236}">
                <a16:creationId xmlns:a16="http://schemas.microsoft.com/office/drawing/2014/main" id="{B644422B-4DE1-4B41-83C5-420D4616A5F3}"/>
              </a:ext>
            </a:extLst>
          </p:cNvPr>
          <p:cNvSpPr/>
          <p:nvPr/>
        </p:nvSpPr>
        <p:spPr>
          <a:xfrm>
            <a:off x="2995292" y="631984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51" name="Rectangle 50">
            <a:extLst>
              <a:ext uri="{FF2B5EF4-FFF2-40B4-BE49-F238E27FC236}">
                <a16:creationId xmlns:a16="http://schemas.microsoft.com/office/drawing/2014/main" id="{901CED4F-99BB-48F7-B1B8-061CD3A87A9E}"/>
              </a:ext>
            </a:extLst>
          </p:cNvPr>
          <p:cNvSpPr/>
          <p:nvPr/>
        </p:nvSpPr>
        <p:spPr>
          <a:xfrm>
            <a:off x="4496504" y="5147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Eén</a:t>
            </a:r>
          </a:p>
        </p:txBody>
      </p:sp>
      <p:sp>
        <p:nvSpPr>
          <p:cNvPr id="52" name="Rectangle 51">
            <a:extLst>
              <a:ext uri="{FF2B5EF4-FFF2-40B4-BE49-F238E27FC236}">
                <a16:creationId xmlns:a16="http://schemas.microsoft.com/office/drawing/2014/main" id="{56304230-45D0-421F-9D4B-125749E06719}"/>
              </a:ext>
            </a:extLst>
          </p:cNvPr>
          <p:cNvSpPr/>
          <p:nvPr/>
        </p:nvSpPr>
        <p:spPr>
          <a:xfrm>
            <a:off x="6000912" y="468525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53" name="Rectangle 52">
            <a:extLst>
              <a:ext uri="{FF2B5EF4-FFF2-40B4-BE49-F238E27FC236}">
                <a16:creationId xmlns:a16="http://schemas.microsoft.com/office/drawing/2014/main" id="{D9E503AC-43D0-43DB-81DE-2DEC6400219D}"/>
              </a:ext>
            </a:extLst>
          </p:cNvPr>
          <p:cNvSpPr/>
          <p:nvPr/>
        </p:nvSpPr>
        <p:spPr>
          <a:xfrm>
            <a:off x="5992862" y="57590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54" name="Rectangle 53">
            <a:extLst>
              <a:ext uri="{FF2B5EF4-FFF2-40B4-BE49-F238E27FC236}">
                <a16:creationId xmlns:a16="http://schemas.microsoft.com/office/drawing/2014/main" id="{E6E67EF0-09FA-4683-874C-9A78D0025965}"/>
              </a:ext>
            </a:extLst>
          </p:cNvPr>
          <p:cNvSpPr/>
          <p:nvPr/>
        </p:nvSpPr>
        <p:spPr>
          <a:xfrm>
            <a:off x="4486481" y="727584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 of meer</a:t>
            </a:r>
          </a:p>
        </p:txBody>
      </p:sp>
      <p:sp>
        <p:nvSpPr>
          <p:cNvPr id="55" name="Rectangle 54">
            <a:extLst>
              <a:ext uri="{FF2B5EF4-FFF2-40B4-BE49-F238E27FC236}">
                <a16:creationId xmlns:a16="http://schemas.microsoft.com/office/drawing/2014/main" id="{4B758496-3250-4ED5-9199-621003513B5E}"/>
              </a:ext>
            </a:extLst>
          </p:cNvPr>
          <p:cNvSpPr/>
          <p:nvPr/>
        </p:nvSpPr>
        <p:spPr>
          <a:xfrm>
            <a:off x="5996762" y="707097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56" name="Rectangle 55">
            <a:extLst>
              <a:ext uri="{FF2B5EF4-FFF2-40B4-BE49-F238E27FC236}">
                <a16:creationId xmlns:a16="http://schemas.microsoft.com/office/drawing/2014/main" id="{AD0DAF08-6CB0-4C8A-97D6-820FB378F2E4}"/>
              </a:ext>
            </a:extLst>
          </p:cNvPr>
          <p:cNvSpPr/>
          <p:nvPr/>
        </p:nvSpPr>
        <p:spPr>
          <a:xfrm>
            <a:off x="5997833" y="736926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57" name="Rectangle 56">
            <a:extLst>
              <a:ext uri="{FF2B5EF4-FFF2-40B4-BE49-F238E27FC236}">
                <a16:creationId xmlns:a16="http://schemas.microsoft.com/office/drawing/2014/main" id="{065975F4-B9A8-4F22-8575-2878AAD11B96}"/>
              </a:ext>
            </a:extLst>
          </p:cNvPr>
          <p:cNvSpPr/>
          <p:nvPr/>
        </p:nvSpPr>
        <p:spPr>
          <a:xfrm>
            <a:off x="5996761" y="768366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Beide</a:t>
            </a:r>
          </a:p>
        </p:txBody>
      </p:sp>
      <p:sp>
        <p:nvSpPr>
          <p:cNvPr id="58" name="Rectangle 57">
            <a:extLst>
              <a:ext uri="{FF2B5EF4-FFF2-40B4-BE49-F238E27FC236}">
                <a16:creationId xmlns:a16="http://schemas.microsoft.com/office/drawing/2014/main" id="{308AF8A7-B7E9-4105-AA81-0F6A34F30C78}"/>
              </a:ext>
            </a:extLst>
          </p:cNvPr>
          <p:cNvSpPr/>
          <p:nvPr/>
        </p:nvSpPr>
        <p:spPr>
          <a:xfrm>
            <a:off x="10660503" y="73685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sp>
        <p:nvSpPr>
          <p:cNvPr id="59" name="Rectangle 58">
            <a:extLst>
              <a:ext uri="{FF2B5EF4-FFF2-40B4-BE49-F238E27FC236}">
                <a16:creationId xmlns:a16="http://schemas.microsoft.com/office/drawing/2014/main" id="{6A53D3EF-F6D7-40F1-B395-AE09718ED3DA}"/>
              </a:ext>
            </a:extLst>
          </p:cNvPr>
          <p:cNvSpPr/>
          <p:nvPr/>
        </p:nvSpPr>
        <p:spPr>
          <a:xfrm>
            <a:off x="10663542" y="767609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sp>
        <p:nvSpPr>
          <p:cNvPr id="60" name="Rectangle 59">
            <a:extLst>
              <a:ext uri="{FF2B5EF4-FFF2-40B4-BE49-F238E27FC236}">
                <a16:creationId xmlns:a16="http://schemas.microsoft.com/office/drawing/2014/main" id="{A5DEC92C-B0F5-4D8D-AA66-814F25F1631E}"/>
              </a:ext>
            </a:extLst>
          </p:cNvPr>
          <p:cNvSpPr/>
          <p:nvPr/>
        </p:nvSpPr>
        <p:spPr>
          <a:xfrm>
            <a:off x="1490180" y="828353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 of meer</a:t>
            </a:r>
          </a:p>
        </p:txBody>
      </p:sp>
      <p:sp>
        <p:nvSpPr>
          <p:cNvPr id="61" name="Rectangle 60">
            <a:extLst>
              <a:ext uri="{FF2B5EF4-FFF2-40B4-BE49-F238E27FC236}">
                <a16:creationId xmlns:a16="http://schemas.microsoft.com/office/drawing/2014/main" id="{71888385-8094-4CE8-8F15-3ED83454D2E5}"/>
              </a:ext>
            </a:extLst>
          </p:cNvPr>
          <p:cNvSpPr/>
          <p:nvPr/>
        </p:nvSpPr>
        <p:spPr>
          <a:xfrm>
            <a:off x="2991394" y="82835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Metrisch</a:t>
            </a:r>
          </a:p>
        </p:txBody>
      </p:sp>
      <p:sp>
        <p:nvSpPr>
          <p:cNvPr id="62" name="Rectangle 61">
            <a:extLst>
              <a:ext uri="{FF2B5EF4-FFF2-40B4-BE49-F238E27FC236}">
                <a16:creationId xmlns:a16="http://schemas.microsoft.com/office/drawing/2014/main" id="{985B99EB-9C58-4B0B-A6FB-4E3192809F01}"/>
              </a:ext>
            </a:extLst>
          </p:cNvPr>
          <p:cNvSpPr/>
          <p:nvPr/>
        </p:nvSpPr>
        <p:spPr>
          <a:xfrm>
            <a:off x="4495648" y="803987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Eén</a:t>
            </a:r>
          </a:p>
        </p:txBody>
      </p:sp>
      <p:sp>
        <p:nvSpPr>
          <p:cNvPr id="63" name="Rectangle 62">
            <a:extLst>
              <a:ext uri="{FF2B5EF4-FFF2-40B4-BE49-F238E27FC236}">
                <a16:creationId xmlns:a16="http://schemas.microsoft.com/office/drawing/2014/main" id="{AECB4626-384A-48FE-BE16-CD494A0DBF98}"/>
              </a:ext>
            </a:extLst>
          </p:cNvPr>
          <p:cNvSpPr/>
          <p:nvPr/>
        </p:nvSpPr>
        <p:spPr>
          <a:xfrm>
            <a:off x="4492605" y="854981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 of meer</a:t>
            </a:r>
          </a:p>
        </p:txBody>
      </p:sp>
      <p:sp>
        <p:nvSpPr>
          <p:cNvPr id="64" name="Rectangle 63">
            <a:extLst>
              <a:ext uri="{FF2B5EF4-FFF2-40B4-BE49-F238E27FC236}">
                <a16:creationId xmlns:a16="http://schemas.microsoft.com/office/drawing/2014/main" id="{B32DF11A-4006-4748-A297-404DE1F9CDA1}"/>
              </a:ext>
            </a:extLst>
          </p:cNvPr>
          <p:cNvSpPr/>
          <p:nvPr/>
        </p:nvSpPr>
        <p:spPr>
          <a:xfrm>
            <a:off x="6007036" y="8033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65" name="Rectangle 64">
            <a:extLst>
              <a:ext uri="{FF2B5EF4-FFF2-40B4-BE49-F238E27FC236}">
                <a16:creationId xmlns:a16="http://schemas.microsoft.com/office/drawing/2014/main" id="{D459D32C-AD1F-45CD-A89F-3695050BCFA1}"/>
              </a:ext>
            </a:extLst>
          </p:cNvPr>
          <p:cNvSpPr/>
          <p:nvPr/>
        </p:nvSpPr>
        <p:spPr>
          <a:xfrm>
            <a:off x="6007036" y="840623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Categorisch</a:t>
            </a:r>
          </a:p>
        </p:txBody>
      </p:sp>
      <p:sp>
        <p:nvSpPr>
          <p:cNvPr id="66" name="Rectangle 65">
            <a:extLst>
              <a:ext uri="{FF2B5EF4-FFF2-40B4-BE49-F238E27FC236}">
                <a16:creationId xmlns:a16="http://schemas.microsoft.com/office/drawing/2014/main" id="{22A2FA60-BAA2-4C9E-9976-6276A1F5AF29}"/>
              </a:ext>
            </a:extLst>
          </p:cNvPr>
          <p:cNvSpPr/>
          <p:nvPr/>
        </p:nvSpPr>
        <p:spPr>
          <a:xfrm>
            <a:off x="6000912" y="875555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Beide</a:t>
            </a:r>
          </a:p>
        </p:txBody>
      </p:sp>
      <p:cxnSp>
        <p:nvCxnSpPr>
          <p:cNvPr id="67" name="Straight Arrow Connector 66">
            <a:extLst>
              <a:ext uri="{FF2B5EF4-FFF2-40B4-BE49-F238E27FC236}">
                <a16:creationId xmlns:a16="http://schemas.microsoft.com/office/drawing/2014/main" id="{F66BC1AC-DE00-4DB4-9FFF-BB24E0FC3388}"/>
              </a:ext>
            </a:extLst>
          </p:cNvPr>
          <p:cNvCxnSpPr>
            <a:cxnSpLocks/>
            <a:stCxn id="50" idx="3"/>
            <a:endCxn id="51" idx="1"/>
          </p:cNvCxnSpPr>
          <p:nvPr/>
        </p:nvCxnSpPr>
        <p:spPr>
          <a:xfrm flipV="1">
            <a:off x="3948074" y="5274727"/>
            <a:ext cx="548430" cy="117242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68" name="Straight Arrow Connector 67">
            <a:extLst>
              <a:ext uri="{FF2B5EF4-FFF2-40B4-BE49-F238E27FC236}">
                <a16:creationId xmlns:a16="http://schemas.microsoft.com/office/drawing/2014/main" id="{A458D58C-EBE9-457B-B5F1-162E5044909D}"/>
              </a:ext>
            </a:extLst>
          </p:cNvPr>
          <p:cNvCxnSpPr>
            <a:cxnSpLocks/>
            <a:stCxn id="50" idx="3"/>
            <a:endCxn id="54" idx="1"/>
          </p:cNvCxnSpPr>
          <p:nvPr/>
        </p:nvCxnSpPr>
        <p:spPr>
          <a:xfrm>
            <a:off x="3948073" y="6447152"/>
            <a:ext cx="538408" cy="95600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69" name="Straight Arrow Connector 68">
            <a:extLst>
              <a:ext uri="{FF2B5EF4-FFF2-40B4-BE49-F238E27FC236}">
                <a16:creationId xmlns:a16="http://schemas.microsoft.com/office/drawing/2014/main" id="{8F7B5D1D-34FD-4376-BFF8-10E79A5F6573}"/>
              </a:ext>
            </a:extLst>
          </p:cNvPr>
          <p:cNvCxnSpPr>
            <a:cxnSpLocks/>
            <a:stCxn id="51" idx="3"/>
            <a:endCxn id="52" idx="1"/>
          </p:cNvCxnSpPr>
          <p:nvPr/>
        </p:nvCxnSpPr>
        <p:spPr>
          <a:xfrm flipV="1">
            <a:off x="5449286" y="4812565"/>
            <a:ext cx="551627" cy="46216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0" name="Straight Arrow Connector 69">
            <a:extLst>
              <a:ext uri="{FF2B5EF4-FFF2-40B4-BE49-F238E27FC236}">
                <a16:creationId xmlns:a16="http://schemas.microsoft.com/office/drawing/2014/main" id="{B46EC9F2-49F3-490B-8BE7-0CA667998221}"/>
              </a:ext>
            </a:extLst>
          </p:cNvPr>
          <p:cNvCxnSpPr>
            <a:cxnSpLocks/>
            <a:stCxn id="51" idx="3"/>
            <a:endCxn id="53" idx="1"/>
          </p:cNvCxnSpPr>
          <p:nvPr/>
        </p:nvCxnSpPr>
        <p:spPr>
          <a:xfrm>
            <a:off x="5449286" y="5274726"/>
            <a:ext cx="543576" cy="611616"/>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71" name="Straight Arrow Connector 70">
            <a:extLst>
              <a:ext uri="{FF2B5EF4-FFF2-40B4-BE49-F238E27FC236}">
                <a16:creationId xmlns:a16="http://schemas.microsoft.com/office/drawing/2014/main" id="{A7C30FC4-B666-447B-807F-F092B3346730}"/>
              </a:ext>
            </a:extLst>
          </p:cNvPr>
          <p:cNvCxnSpPr>
            <a:cxnSpLocks/>
            <a:stCxn id="92" idx="3"/>
          </p:cNvCxnSpPr>
          <p:nvPr/>
        </p:nvCxnSpPr>
        <p:spPr>
          <a:xfrm>
            <a:off x="6945643" y="4433293"/>
            <a:ext cx="5208917"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2" name="Straight Arrow Connector 71">
            <a:extLst>
              <a:ext uri="{FF2B5EF4-FFF2-40B4-BE49-F238E27FC236}">
                <a16:creationId xmlns:a16="http://schemas.microsoft.com/office/drawing/2014/main" id="{054CC0C7-79EC-4399-8768-1A3C0AF1033D}"/>
              </a:ext>
            </a:extLst>
          </p:cNvPr>
          <p:cNvCxnSpPr>
            <a:cxnSpLocks/>
            <a:stCxn id="55" idx="3"/>
          </p:cNvCxnSpPr>
          <p:nvPr/>
        </p:nvCxnSpPr>
        <p:spPr>
          <a:xfrm>
            <a:off x="6949543" y="7198281"/>
            <a:ext cx="521113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3" name="Straight Arrow Connector 72">
            <a:extLst>
              <a:ext uri="{FF2B5EF4-FFF2-40B4-BE49-F238E27FC236}">
                <a16:creationId xmlns:a16="http://schemas.microsoft.com/office/drawing/2014/main" id="{CA10B793-566D-4D20-B3EA-0B125063F0EB}"/>
              </a:ext>
            </a:extLst>
          </p:cNvPr>
          <p:cNvCxnSpPr>
            <a:cxnSpLocks/>
            <a:stCxn id="56" idx="3"/>
            <a:endCxn id="58" idx="1"/>
          </p:cNvCxnSpPr>
          <p:nvPr/>
        </p:nvCxnSpPr>
        <p:spPr>
          <a:xfrm flipV="1">
            <a:off x="6950615" y="7495842"/>
            <a:ext cx="3709888" cy="7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4" name="Straight Arrow Connector 73">
            <a:extLst>
              <a:ext uri="{FF2B5EF4-FFF2-40B4-BE49-F238E27FC236}">
                <a16:creationId xmlns:a16="http://schemas.microsoft.com/office/drawing/2014/main" id="{2EE34B8A-C17D-4215-BBCE-9ACB39DD17E1}"/>
              </a:ext>
            </a:extLst>
          </p:cNvPr>
          <p:cNvCxnSpPr>
            <a:cxnSpLocks/>
            <a:stCxn id="57" idx="3"/>
            <a:endCxn id="59" idx="1"/>
          </p:cNvCxnSpPr>
          <p:nvPr/>
        </p:nvCxnSpPr>
        <p:spPr>
          <a:xfrm flipV="1">
            <a:off x="6949543" y="7803400"/>
            <a:ext cx="3713999" cy="757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6AFBB4FD-D9D9-4DBC-8083-3E76128BDFD0}"/>
              </a:ext>
            </a:extLst>
          </p:cNvPr>
          <p:cNvCxnSpPr>
            <a:cxnSpLocks/>
            <a:stCxn id="64" idx="3"/>
          </p:cNvCxnSpPr>
          <p:nvPr/>
        </p:nvCxnSpPr>
        <p:spPr>
          <a:xfrm>
            <a:off x="6959817" y="8160727"/>
            <a:ext cx="5200866" cy="124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19327863-622A-4D2D-958A-6A73E65828F5}"/>
              </a:ext>
            </a:extLst>
          </p:cNvPr>
          <p:cNvCxnSpPr>
            <a:cxnSpLocks/>
            <a:stCxn id="65" idx="3"/>
          </p:cNvCxnSpPr>
          <p:nvPr/>
        </p:nvCxnSpPr>
        <p:spPr>
          <a:xfrm flipV="1">
            <a:off x="6959817" y="8521616"/>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7C4BC1B0-8D09-4AEC-8FF9-2A8D210701B4}"/>
              </a:ext>
            </a:extLst>
          </p:cNvPr>
          <p:cNvCxnSpPr>
            <a:cxnSpLocks/>
            <a:stCxn id="66" idx="3"/>
          </p:cNvCxnSpPr>
          <p:nvPr/>
        </p:nvCxnSpPr>
        <p:spPr>
          <a:xfrm flipV="1">
            <a:off x="6953694" y="8870933"/>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8" name="Straight Arrow Connector 77">
            <a:extLst>
              <a:ext uri="{FF2B5EF4-FFF2-40B4-BE49-F238E27FC236}">
                <a16:creationId xmlns:a16="http://schemas.microsoft.com/office/drawing/2014/main" id="{39999253-11FB-4D85-8E57-6D112A29BC97}"/>
              </a:ext>
            </a:extLst>
          </p:cNvPr>
          <p:cNvCxnSpPr>
            <a:cxnSpLocks/>
            <a:stCxn id="54" idx="3"/>
            <a:endCxn id="55" idx="1"/>
          </p:cNvCxnSpPr>
          <p:nvPr/>
        </p:nvCxnSpPr>
        <p:spPr>
          <a:xfrm flipV="1">
            <a:off x="5439262" y="7198281"/>
            <a:ext cx="557499" cy="20487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EF3C6B94-58DE-4068-89D5-D62DDBB9AD4B}"/>
              </a:ext>
            </a:extLst>
          </p:cNvPr>
          <p:cNvCxnSpPr>
            <a:cxnSpLocks/>
            <a:stCxn id="54" idx="3"/>
            <a:endCxn id="56" idx="1"/>
          </p:cNvCxnSpPr>
          <p:nvPr/>
        </p:nvCxnSpPr>
        <p:spPr>
          <a:xfrm>
            <a:off x="5439263" y="7403155"/>
            <a:ext cx="558570" cy="934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0" name="Straight Arrow Connector 79">
            <a:extLst>
              <a:ext uri="{FF2B5EF4-FFF2-40B4-BE49-F238E27FC236}">
                <a16:creationId xmlns:a16="http://schemas.microsoft.com/office/drawing/2014/main" id="{5293EFDC-09C3-4C0C-AAC5-9C73BBD0EBC3}"/>
              </a:ext>
            </a:extLst>
          </p:cNvPr>
          <p:cNvCxnSpPr>
            <a:cxnSpLocks/>
            <a:stCxn id="54" idx="3"/>
            <a:endCxn id="57" idx="1"/>
          </p:cNvCxnSpPr>
          <p:nvPr/>
        </p:nvCxnSpPr>
        <p:spPr>
          <a:xfrm>
            <a:off x="5439263" y="7403155"/>
            <a:ext cx="557498" cy="40782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1" name="Straight Arrow Connector 80">
            <a:extLst>
              <a:ext uri="{FF2B5EF4-FFF2-40B4-BE49-F238E27FC236}">
                <a16:creationId xmlns:a16="http://schemas.microsoft.com/office/drawing/2014/main" id="{25F1D0FF-EB60-4D63-9E7B-3CAADBD2844F}"/>
              </a:ext>
            </a:extLst>
          </p:cNvPr>
          <p:cNvCxnSpPr>
            <a:cxnSpLocks/>
            <a:stCxn id="62" idx="3"/>
            <a:endCxn id="64" idx="1"/>
          </p:cNvCxnSpPr>
          <p:nvPr/>
        </p:nvCxnSpPr>
        <p:spPr>
          <a:xfrm flipV="1">
            <a:off x="5448429" y="8160726"/>
            <a:ext cx="558606" cy="646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2" name="Straight Arrow Connector 81">
            <a:extLst>
              <a:ext uri="{FF2B5EF4-FFF2-40B4-BE49-F238E27FC236}">
                <a16:creationId xmlns:a16="http://schemas.microsoft.com/office/drawing/2014/main" id="{21382894-DCD5-4DB3-A118-700DB7D0450D}"/>
              </a:ext>
            </a:extLst>
          </p:cNvPr>
          <p:cNvCxnSpPr>
            <a:cxnSpLocks/>
            <a:stCxn id="63" idx="3"/>
            <a:endCxn id="65" idx="1"/>
          </p:cNvCxnSpPr>
          <p:nvPr/>
        </p:nvCxnSpPr>
        <p:spPr>
          <a:xfrm flipV="1">
            <a:off x="5445386" y="8533548"/>
            <a:ext cx="561649" cy="14358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1B7E3A95-B1A7-4652-A777-3F35D04F13D0}"/>
              </a:ext>
            </a:extLst>
          </p:cNvPr>
          <p:cNvCxnSpPr>
            <a:cxnSpLocks/>
            <a:stCxn id="63" idx="3"/>
            <a:endCxn id="66" idx="1"/>
          </p:cNvCxnSpPr>
          <p:nvPr/>
        </p:nvCxnSpPr>
        <p:spPr>
          <a:xfrm>
            <a:off x="5445386" y="8677128"/>
            <a:ext cx="555526" cy="20573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4" name="Straight Arrow Connector 83">
            <a:extLst>
              <a:ext uri="{FF2B5EF4-FFF2-40B4-BE49-F238E27FC236}">
                <a16:creationId xmlns:a16="http://schemas.microsoft.com/office/drawing/2014/main" id="{A7A925A2-C39B-49E6-9B80-A29B717BA1FB}"/>
              </a:ext>
            </a:extLst>
          </p:cNvPr>
          <p:cNvCxnSpPr>
            <a:cxnSpLocks/>
            <a:stCxn id="60" idx="3"/>
            <a:endCxn id="61" idx="1"/>
          </p:cNvCxnSpPr>
          <p:nvPr/>
        </p:nvCxnSpPr>
        <p:spPr>
          <a:xfrm>
            <a:off x="2442962" y="8410845"/>
            <a:ext cx="548432"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91233978-DD2F-48D1-B891-1EDE2E6AB672}"/>
              </a:ext>
            </a:extLst>
          </p:cNvPr>
          <p:cNvCxnSpPr>
            <a:cxnSpLocks/>
            <a:stCxn id="61" idx="3"/>
            <a:endCxn id="62" idx="1"/>
          </p:cNvCxnSpPr>
          <p:nvPr/>
        </p:nvCxnSpPr>
        <p:spPr>
          <a:xfrm flipV="1">
            <a:off x="3944175" y="8167188"/>
            <a:ext cx="551473" cy="24365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6" name="Straight Arrow Connector 85">
            <a:extLst>
              <a:ext uri="{FF2B5EF4-FFF2-40B4-BE49-F238E27FC236}">
                <a16:creationId xmlns:a16="http://schemas.microsoft.com/office/drawing/2014/main" id="{EBBCAC1D-EDA6-4562-977E-E49B134496BD}"/>
              </a:ext>
            </a:extLst>
          </p:cNvPr>
          <p:cNvCxnSpPr>
            <a:cxnSpLocks/>
            <a:stCxn id="61" idx="3"/>
            <a:endCxn id="63" idx="1"/>
          </p:cNvCxnSpPr>
          <p:nvPr/>
        </p:nvCxnSpPr>
        <p:spPr>
          <a:xfrm>
            <a:off x="3944175" y="8410845"/>
            <a:ext cx="548430" cy="26628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7" name="Straight Arrow Connector 86">
            <a:extLst>
              <a:ext uri="{FF2B5EF4-FFF2-40B4-BE49-F238E27FC236}">
                <a16:creationId xmlns:a16="http://schemas.microsoft.com/office/drawing/2014/main" id="{C5D190C3-81A3-4077-B335-B3E487EFA780}"/>
              </a:ext>
            </a:extLst>
          </p:cNvPr>
          <p:cNvCxnSpPr>
            <a:cxnSpLocks/>
            <a:stCxn id="58" idx="3"/>
          </p:cNvCxnSpPr>
          <p:nvPr/>
        </p:nvCxnSpPr>
        <p:spPr>
          <a:xfrm flipV="1">
            <a:off x="11613284" y="7494078"/>
            <a:ext cx="547399" cy="176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8" name="Straight Arrow Connector 87">
            <a:extLst>
              <a:ext uri="{FF2B5EF4-FFF2-40B4-BE49-F238E27FC236}">
                <a16:creationId xmlns:a16="http://schemas.microsoft.com/office/drawing/2014/main" id="{AFFBD7B7-BBFD-49D2-BBDF-0F75A5180039}"/>
              </a:ext>
            </a:extLst>
          </p:cNvPr>
          <p:cNvCxnSpPr>
            <a:cxnSpLocks/>
            <a:stCxn id="59" idx="3"/>
          </p:cNvCxnSpPr>
          <p:nvPr/>
        </p:nvCxnSpPr>
        <p:spPr>
          <a:xfrm>
            <a:off x="11616323" y="7803400"/>
            <a:ext cx="544360"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9" name="Straight Arrow Connector 88">
            <a:extLst>
              <a:ext uri="{FF2B5EF4-FFF2-40B4-BE49-F238E27FC236}">
                <a16:creationId xmlns:a16="http://schemas.microsoft.com/office/drawing/2014/main" id="{DB1E8405-EC5F-434A-9FBC-362021D762FA}"/>
              </a:ext>
            </a:extLst>
          </p:cNvPr>
          <p:cNvCxnSpPr>
            <a:cxnSpLocks/>
            <a:stCxn id="12" idx="2"/>
            <a:endCxn id="50" idx="0"/>
          </p:cNvCxnSpPr>
          <p:nvPr/>
        </p:nvCxnSpPr>
        <p:spPr>
          <a:xfrm>
            <a:off x="1970469" y="4261287"/>
            <a:ext cx="1501214" cy="205855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91" name="Table 90">
            <a:extLst>
              <a:ext uri="{FF2B5EF4-FFF2-40B4-BE49-F238E27FC236}">
                <a16:creationId xmlns:a16="http://schemas.microsoft.com/office/drawing/2014/main" id="{3CFB8AB4-FEFB-4A84-B384-AEC2F695BE45}"/>
              </a:ext>
            </a:extLst>
          </p:cNvPr>
          <p:cNvGraphicFramePr>
            <a:graphicFrameLocks noGrp="1"/>
          </p:cNvGraphicFramePr>
          <p:nvPr/>
        </p:nvGraphicFramePr>
        <p:xfrm>
          <a:off x="12188847" y="252569"/>
          <a:ext cx="3865996" cy="8887401"/>
        </p:xfrm>
        <a:graphic>
          <a:graphicData uri="http://schemas.openxmlformats.org/drawingml/2006/table">
            <a:tbl>
              <a:tblPr firstRow="1" bandRow="1">
                <a:tableStyleId>{5C22544A-7EE6-4342-B048-85BDC9FD1C3A}</a:tableStyleId>
              </a:tblPr>
              <a:tblGrid>
                <a:gridCol w="1996829">
                  <a:extLst>
                    <a:ext uri="{9D8B030D-6E8A-4147-A177-3AD203B41FA5}">
                      <a16:colId xmlns:a16="http://schemas.microsoft.com/office/drawing/2014/main" val="330647270"/>
                    </a:ext>
                  </a:extLst>
                </a:gridCol>
                <a:gridCol w="1869167">
                  <a:extLst>
                    <a:ext uri="{9D8B030D-6E8A-4147-A177-3AD203B41FA5}">
                      <a16:colId xmlns:a16="http://schemas.microsoft.com/office/drawing/2014/main" val="1448204881"/>
                    </a:ext>
                  </a:extLst>
                </a:gridCol>
              </a:tblGrid>
              <a:tr h="284958">
                <a:tc>
                  <a:txBody>
                    <a:bodyPr/>
                    <a:lstStyle/>
                    <a:p>
                      <a:r>
                        <a:rPr lang="nl-BE" sz="900" dirty="0"/>
                        <a:t>Assumpties voldaan</a:t>
                      </a:r>
                    </a:p>
                  </a:txBody>
                  <a:tcPr marL="95484" marR="95484" marT="47743" marB="47743"/>
                </a:tc>
                <a:tc>
                  <a:txBody>
                    <a:bodyPr/>
                    <a:lstStyle/>
                    <a:p>
                      <a:r>
                        <a:rPr lang="nl-BE" sz="900" dirty="0"/>
                        <a:t>Assumpties niet voldaan</a:t>
                      </a:r>
                    </a:p>
                  </a:txBody>
                  <a:tcPr marL="95484" marR="95484" marT="47743" marB="47743"/>
                </a:tc>
                <a:extLst>
                  <a:ext uri="{0D108BD9-81ED-4DB2-BD59-A6C34878D82A}">
                    <a16:rowId xmlns:a16="http://schemas.microsoft.com/office/drawing/2014/main" val="888959899"/>
                  </a:ext>
                </a:extLst>
              </a:tr>
              <a:tr h="560507">
                <a:tc>
                  <a:txBody>
                    <a:bodyPr/>
                    <a:lstStyle/>
                    <a:p>
                      <a:pPr marL="171450" indent="-171450">
                        <a:buFont typeface="Arial" panose="020B0604020202020204" pitchFamily="34" charset="0"/>
                        <a:buChar char="•"/>
                      </a:pPr>
                      <a:r>
                        <a:rPr lang="nl-BE" sz="900" dirty="0"/>
                        <a:t>Enkelvoudige lineaire regressie</a:t>
                      </a:r>
                    </a:p>
                    <a:p>
                      <a:pPr marL="171450" indent="-171450">
                        <a:buFont typeface="Arial" panose="020B0604020202020204" pitchFamily="34" charset="0"/>
                        <a:buChar char="•"/>
                      </a:pPr>
                      <a:r>
                        <a:rPr lang="nl-BE" sz="900" dirty="0"/>
                        <a:t>Pearson correlatietoets</a:t>
                      </a:r>
                    </a:p>
                  </a:txBody>
                  <a:tcPr marL="95484" marR="95484" marT="47743" marB="47743"/>
                </a:tc>
                <a:tc>
                  <a:txBody>
                    <a:bodyPr/>
                    <a:lstStyle/>
                    <a:p>
                      <a:pPr marL="171450" indent="-171450">
                        <a:buFont typeface="Arial" panose="020B0604020202020204" pitchFamily="34" charset="0"/>
                        <a:buChar char="•"/>
                      </a:pPr>
                      <a:r>
                        <a:rPr lang="nl-BE" sz="900" dirty="0"/>
                        <a:t>Bootstrap regressie</a:t>
                      </a:r>
                    </a:p>
                    <a:p>
                      <a:pPr marL="171450" indent="-171450">
                        <a:buFont typeface="Arial" panose="020B0604020202020204" pitchFamily="34" charset="0"/>
                        <a:buChar char="•"/>
                      </a:pPr>
                      <a:r>
                        <a:rPr lang="nl-BE" sz="900" dirty="0" err="1"/>
                        <a:t>Spearman</a:t>
                      </a:r>
                      <a:r>
                        <a:rPr lang="nl-BE" sz="900" dirty="0"/>
                        <a:t> rangcorrelatietoets</a:t>
                      </a:r>
                    </a:p>
                    <a:p>
                      <a:pPr marL="171450" indent="-171450">
                        <a:buFont typeface="Arial" panose="020B0604020202020204" pitchFamily="34" charset="0"/>
                        <a:buChar char="•"/>
                      </a:pPr>
                      <a:r>
                        <a:rPr lang="nl-BE" sz="900" dirty="0" err="1"/>
                        <a:t>Kendall’s</a:t>
                      </a:r>
                      <a:r>
                        <a:rPr lang="nl-BE" sz="900" dirty="0"/>
                        <a:t> </a:t>
                      </a:r>
                      <a:r>
                        <a:rPr lang="nl-BE" sz="900" dirty="0" err="1"/>
                        <a:t>Tau</a:t>
                      </a:r>
                      <a:r>
                        <a:rPr lang="nl-BE" sz="900" dirty="0"/>
                        <a:t> correlatietoets</a:t>
                      </a:r>
                    </a:p>
                  </a:txBody>
                  <a:tcPr marL="95484" marR="95484" marT="47743" marB="47743"/>
                </a:tc>
                <a:extLst>
                  <a:ext uri="{0D108BD9-81ED-4DB2-BD59-A6C34878D82A}">
                    <a16:rowId xmlns:a16="http://schemas.microsoft.com/office/drawing/2014/main" val="2977589819"/>
                  </a:ext>
                </a:extLst>
              </a:tr>
              <a:tr h="388340">
                <a:tc>
                  <a:txBody>
                    <a:bodyPr/>
                    <a:lstStyle/>
                    <a:p>
                      <a:pPr marL="171450" indent="-171450">
                        <a:buFont typeface="Arial" panose="020B0604020202020204" pitchFamily="34" charset="0"/>
                        <a:buChar char="•"/>
                      </a:pPr>
                      <a:r>
                        <a:rPr lang="nl-BE" sz="900" dirty="0"/>
                        <a:t>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Wilcoxon rangtekentoets</a:t>
                      </a:r>
                    </a:p>
                  </a:txBody>
                  <a:tcPr marL="95484" marR="95484" marT="47743" marB="47743"/>
                </a:tc>
                <a:extLst>
                  <a:ext uri="{0D108BD9-81ED-4DB2-BD59-A6C34878D82A}">
                    <a16:rowId xmlns:a16="http://schemas.microsoft.com/office/drawing/2014/main" val="1954769090"/>
                  </a:ext>
                </a:extLst>
              </a:tr>
              <a:tr h="388340">
                <a:tc>
                  <a:txBody>
                    <a:bodyPr/>
                    <a:lstStyle/>
                    <a:p>
                      <a:pPr marL="171450" indent="-171450">
                        <a:buFont typeface="Arial" panose="020B0604020202020204" pitchFamily="34" charset="0"/>
                        <a:buChar char="•"/>
                      </a:pPr>
                      <a:r>
                        <a:rPr lang="nl-BE" sz="900" dirty="0"/>
                        <a:t>Onafhankelijke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Mann-</a:t>
                      </a:r>
                      <a:r>
                        <a:rPr lang="nl-BE" sz="900" dirty="0" err="1"/>
                        <a:t>Whitney</a:t>
                      </a:r>
                      <a:r>
                        <a:rPr lang="nl-BE" sz="900" dirty="0"/>
                        <a:t> toets</a:t>
                      </a:r>
                    </a:p>
                  </a:txBody>
                  <a:tcPr marL="95484" marR="95484" marT="47743" marB="47743"/>
                </a:tc>
                <a:extLst>
                  <a:ext uri="{0D108BD9-81ED-4DB2-BD59-A6C34878D82A}">
                    <a16:rowId xmlns:a16="http://schemas.microsoft.com/office/drawing/2014/main" val="2173673390"/>
                  </a:ext>
                </a:extLst>
              </a:tr>
              <a:tr h="388340">
                <a:tc>
                  <a:txBody>
                    <a:bodyPr/>
                    <a:lstStyle/>
                    <a:p>
                      <a:pPr marL="171450" indent="-171450">
                        <a:buFont typeface="Arial" panose="020B0604020202020204" pitchFamily="34" charset="0"/>
                        <a:buChar char="•"/>
                      </a:pPr>
                      <a:r>
                        <a:rPr lang="nl-BE" sz="900" dirty="0"/>
                        <a:t>One-way repeated measures ANOVA</a:t>
                      </a:r>
                    </a:p>
                  </a:txBody>
                  <a:tcPr marL="95484" marR="95484" marT="47743" marB="47743"/>
                </a:tc>
                <a:tc>
                  <a:txBody>
                    <a:bodyPr/>
                    <a:lstStyle/>
                    <a:p>
                      <a:pPr marL="171450" indent="-171450">
                        <a:buFont typeface="Arial" panose="020B0604020202020204" pitchFamily="34" charset="0"/>
                        <a:buChar char="•"/>
                      </a:pPr>
                      <a:r>
                        <a:rPr lang="nl-BE" sz="900" dirty="0"/>
                        <a:t>Friedman toets</a:t>
                      </a:r>
                    </a:p>
                  </a:txBody>
                  <a:tcPr marL="95484" marR="95484" marT="47743" marB="47743"/>
                </a:tc>
                <a:extLst>
                  <a:ext uri="{0D108BD9-81ED-4DB2-BD59-A6C34878D82A}">
                    <a16:rowId xmlns:a16="http://schemas.microsoft.com/office/drawing/2014/main" val="130149893"/>
                  </a:ext>
                </a:extLst>
              </a:tr>
              <a:tr h="388340">
                <a:tc>
                  <a:txBody>
                    <a:bodyPr/>
                    <a:lstStyle/>
                    <a:p>
                      <a:pPr marL="171450" indent="-171450">
                        <a:buFont typeface="Arial" panose="020B0604020202020204" pitchFamily="34" charset="0"/>
                        <a:buChar char="•"/>
                      </a:pPr>
                      <a:r>
                        <a:rPr lang="nl-BE" sz="900" dirty="0"/>
                        <a:t>One-way independent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Kruskal</a:t>
                      </a:r>
                      <a:r>
                        <a:rPr lang="nl-BE" sz="900" dirty="0"/>
                        <a:t>-Wallis toets</a:t>
                      </a:r>
                    </a:p>
                  </a:txBody>
                  <a:tcPr marL="95484" marR="95484" marT="47743" marB="47743"/>
                </a:tc>
                <a:extLst>
                  <a:ext uri="{0D108BD9-81ED-4DB2-BD59-A6C34878D82A}">
                    <a16:rowId xmlns:a16="http://schemas.microsoft.com/office/drawing/2014/main" val="2117315973"/>
                  </a:ext>
                </a:extLst>
              </a:tr>
              <a:tr h="386671">
                <a:tc>
                  <a:txBody>
                    <a:bodyPr/>
                    <a:lstStyle/>
                    <a:p>
                      <a:pPr marL="171450" indent="-171450">
                        <a:buFont typeface="Arial" panose="020B0604020202020204" pitchFamily="34" charset="0"/>
                        <a:buChar char="•"/>
                      </a:pPr>
                      <a:r>
                        <a:rPr lang="nl-BE" sz="900" dirty="0"/>
                        <a:t>Meervoudige lineaire regressie</a:t>
                      </a:r>
                    </a:p>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Partiële correlatietoets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2174757889"/>
                  </a:ext>
                </a:extLst>
              </a:tr>
              <a:tr h="388340">
                <a:tc>
                  <a:txBody>
                    <a:bodyPr/>
                    <a:lstStyle/>
                    <a:p>
                      <a:pPr marL="171450" indent="-171450">
                        <a:buFont typeface="Arial" panose="020B0604020202020204" pitchFamily="34" charset="0"/>
                        <a:buChar char="•"/>
                      </a:pPr>
                      <a:r>
                        <a:rPr lang="nl-BE" sz="900" dirty="0"/>
                        <a:t>Factorial repeated measures ANOVA</a:t>
                      </a:r>
                      <a:endParaRPr lang="nl-BE" sz="900" dirty="0">
                        <a:solidFill>
                          <a:schemeClr val="tx1"/>
                        </a:solidFill>
                      </a:endParaRPr>
                    </a:p>
                  </a:txBody>
                  <a:tcPr marL="95484" marR="95484" marT="47743" marB="47743"/>
                </a:tc>
                <a:tc>
                  <a:txBody>
                    <a:bodyPr/>
                    <a:lstStyle/>
                    <a:p>
                      <a:pPr marL="0" indent="0">
                        <a:buFont typeface="Arial" panose="020B0604020202020204" pitchFamily="34" charset="0"/>
                        <a:buNone/>
                      </a:pPr>
                      <a:endParaRPr lang="nl-BE" sz="900" dirty="0"/>
                    </a:p>
                  </a:txBody>
                  <a:tcPr marL="95484" marR="95484" marT="47743" marB="47743"/>
                </a:tc>
                <a:extLst>
                  <a:ext uri="{0D108BD9-81ED-4DB2-BD59-A6C34878D82A}">
                    <a16:rowId xmlns:a16="http://schemas.microsoft.com/office/drawing/2014/main" val="1728751502"/>
                  </a:ext>
                </a:extLst>
              </a:tr>
              <a:tr h="397423">
                <a:tc>
                  <a:txBody>
                    <a:bodyPr/>
                    <a:lstStyle/>
                    <a:p>
                      <a:pPr marL="171450" indent="-171450">
                        <a:buFont typeface="Arial" panose="020B0604020202020204" pitchFamily="34" charset="0"/>
                        <a:buChar char="•"/>
                      </a:pPr>
                      <a:r>
                        <a:rPr lang="nl-BE" sz="900" dirty="0" err="1"/>
                        <a:t>Two</a:t>
                      </a:r>
                      <a:r>
                        <a:rPr lang="nl-BE" sz="900" dirty="0"/>
                        <a:t>-way mixed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942875459"/>
                  </a:ext>
                </a:extLst>
              </a:tr>
              <a:tr h="460435">
                <a:tc>
                  <a:txBody>
                    <a:bodyPr/>
                    <a:lstStyle/>
                    <a:p>
                      <a:pPr marL="171450" indent="-171450">
                        <a:buFont typeface="Arial" panose="020B0604020202020204" pitchFamily="34" charset="0"/>
                        <a:buChar char="•"/>
                      </a:pPr>
                      <a:r>
                        <a:rPr lang="nl-BE" sz="900" dirty="0"/>
                        <a:t>Factorial independent ANOVA</a:t>
                      </a:r>
                    </a:p>
                    <a:p>
                      <a:pPr marL="171450" indent="-171450">
                        <a:buFont typeface="Arial" panose="020B0604020202020204" pitchFamily="34" charset="0"/>
                        <a:buChar char="•"/>
                      </a:pPr>
                      <a:r>
                        <a:rPr lang="nl-BE" sz="900" dirty="0"/>
                        <a:t>Meervoudige lineaire regressie</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1610346840"/>
                  </a:ext>
                </a:extLst>
              </a:tr>
              <a:tr h="388340">
                <a:tc>
                  <a:txBody>
                    <a:bodyPr/>
                    <a:lstStyle/>
                    <a:p>
                      <a:pPr marL="171450" indent="-171450">
                        <a:buFont typeface="Arial" panose="020B0604020202020204" pitchFamily="34" charset="0"/>
                        <a:buChar char="•"/>
                      </a:pPr>
                      <a:r>
                        <a:rPr lang="nl-BE" sz="900" dirty="0"/>
                        <a:t>Meervoudige lineaire regressie</a:t>
                      </a:r>
                    </a:p>
                    <a:p>
                      <a:pPr marL="171450" indent="-171450">
                        <a:buFont typeface="Arial" panose="020B0604020202020204" pitchFamily="34" charset="0"/>
                        <a:buChar char="•"/>
                      </a:pPr>
                      <a:r>
                        <a:rPr lang="nl-BE" sz="900" dirty="0"/>
                        <a:t>ANCOVA</a:t>
                      </a:r>
                      <a:endParaRPr lang="nl-BE" sz="900" dirty="0">
                        <a:solidFill>
                          <a:schemeClr val="tx1"/>
                        </a:solidFill>
                      </a:endParaRPr>
                    </a:p>
                  </a:txBody>
                  <a:tcPr marL="95484" marR="95484" marT="47743" marB="47743"/>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Bootstrapped</a:t>
                      </a:r>
                      <a:r>
                        <a:rPr lang="nl-BE" sz="900" dirty="0"/>
                        <a:t> regressie</a:t>
                      </a:r>
                    </a:p>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849837734"/>
                  </a:ext>
                </a:extLst>
              </a:tr>
              <a:tr h="383583">
                <a:tc>
                  <a:txBody>
                    <a:bodyPr/>
                    <a:lstStyle/>
                    <a:p>
                      <a:pPr marL="171450" indent="-171450">
                        <a:buFont typeface="Arial" panose="020B0604020202020204" pitchFamily="34" charset="0"/>
                        <a:buChar char="•"/>
                      </a:pPr>
                      <a:r>
                        <a:rPr lang="nl-BE" sz="900" dirty="0"/>
                        <a:t>Logistische regressie</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Kendall’s</a:t>
                      </a:r>
                      <a:r>
                        <a:rPr lang="nl-BE" sz="900" dirty="0"/>
                        <a:t> </a:t>
                      </a:r>
                      <a:r>
                        <a:rPr lang="nl-BE" sz="900" dirty="0" err="1"/>
                        <a:t>Tau</a:t>
                      </a:r>
                      <a:r>
                        <a:rPr lang="nl-BE" sz="900" dirty="0"/>
                        <a:t> correlatietoets</a:t>
                      </a:r>
                    </a:p>
                    <a:p>
                      <a:endParaRPr lang="nl-BE" sz="900" dirty="0"/>
                    </a:p>
                  </a:txBody>
                  <a:tcPr marL="95484" marR="95484" marT="47743" marB="47743"/>
                </a:tc>
                <a:extLst>
                  <a:ext uri="{0D108BD9-81ED-4DB2-BD59-A6C34878D82A}">
                    <a16:rowId xmlns:a16="http://schemas.microsoft.com/office/drawing/2014/main" val="669987252"/>
                  </a:ext>
                </a:extLst>
              </a:tr>
              <a:tr h="388340">
                <a:tc>
                  <a:txBody>
                    <a:bodyPr/>
                    <a:lstStyle/>
                    <a:p>
                      <a:pPr marL="171450" indent="-171450">
                        <a:buFont typeface="Arial" panose="020B0604020202020204" pitchFamily="34" charset="0"/>
                        <a:buChar char="•"/>
                      </a:pPr>
                      <a:r>
                        <a:rPr lang="nl-BE" sz="900" dirty="0"/>
                        <a:t>Mc </a:t>
                      </a:r>
                      <a:r>
                        <a:rPr lang="nl-BE" sz="900" dirty="0" err="1"/>
                        <a:t>Nemar‘s</a:t>
                      </a:r>
                      <a:r>
                        <a:rPr lang="nl-BE" sz="900" dirty="0"/>
                        <a:t> toets (2 = groepen)</a:t>
                      </a:r>
                    </a:p>
                    <a:p>
                      <a:pPr marL="171450" indent="-171450">
                        <a:buFont typeface="Arial" panose="020B0604020202020204" pitchFamily="34" charset="0"/>
                        <a:buChar char="•"/>
                      </a:pPr>
                      <a:r>
                        <a:rPr lang="nl-BE" sz="900" dirty="0" err="1"/>
                        <a:t>Cochran’s</a:t>
                      </a:r>
                      <a:r>
                        <a:rPr lang="nl-BE" sz="900" dirty="0"/>
                        <a:t> Q ( &gt;2 = groepen)</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453719200"/>
                  </a:ext>
                </a:extLst>
              </a:tr>
              <a:tr h="3150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Chi-kwadraat 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Fisher’s</a:t>
                      </a:r>
                      <a:r>
                        <a:rPr lang="nl-BE" sz="900" dirty="0"/>
                        <a:t> Exact toets</a:t>
                      </a:r>
                    </a:p>
                  </a:txBody>
                  <a:tcPr marL="95484" marR="95484" marT="47743" marB="47743"/>
                </a:tc>
                <a:extLst>
                  <a:ext uri="{0D108BD9-81ED-4DB2-BD59-A6C34878D82A}">
                    <a16:rowId xmlns:a16="http://schemas.microsoft.com/office/drawing/2014/main" val="3143618597"/>
                  </a:ext>
                </a:extLst>
              </a:tr>
              <a:tr h="295752">
                <a:tc>
                  <a:txBody>
                    <a:bodyPr/>
                    <a:lstStyle/>
                    <a:p>
                      <a:pPr marL="171450" indent="-171450">
                        <a:buFont typeface="Arial" panose="020B0604020202020204" pitchFamily="34" charset="0"/>
                        <a:buChar char="•"/>
                      </a:pPr>
                      <a:r>
                        <a:rPr lang="nl-BE" sz="900" dirty="0"/>
                        <a:t>Wilcoxon rangtekentoets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2810806693"/>
                  </a:ext>
                </a:extLst>
              </a:tr>
              <a:tr h="353076">
                <a:tc>
                  <a:txBody>
                    <a:bodyPr/>
                    <a:lstStyle/>
                    <a:p>
                      <a:pPr marL="171450" indent="-171450">
                        <a:buFont typeface="Arial" panose="020B0604020202020204" pitchFamily="34" charset="0"/>
                        <a:buChar char="•"/>
                      </a:pPr>
                      <a:r>
                        <a:rPr lang="nl-BE" sz="900" dirty="0"/>
                        <a:t>Mann-</a:t>
                      </a:r>
                      <a:r>
                        <a:rPr lang="nl-BE" sz="900" dirty="0" err="1"/>
                        <a:t>Whitney</a:t>
                      </a:r>
                      <a:r>
                        <a:rPr lang="nl-BE" sz="900" dirty="0"/>
                        <a:t> toets </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541950377"/>
                  </a:ext>
                </a:extLst>
              </a:tr>
              <a:tr h="295752">
                <a:tc>
                  <a:txBody>
                    <a:bodyPr/>
                    <a:lstStyle/>
                    <a:p>
                      <a:pPr marL="171450" indent="-171450">
                        <a:buFont typeface="Arial" panose="020B0604020202020204" pitchFamily="34" charset="0"/>
                        <a:buChar char="•"/>
                      </a:pPr>
                      <a:r>
                        <a:rPr lang="nl-BE" sz="900" dirty="0"/>
                        <a:t>Friedman 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20669499"/>
                  </a:ext>
                </a:extLst>
              </a:tr>
              <a:tr h="383583">
                <a:tc>
                  <a:txBody>
                    <a:bodyPr/>
                    <a:lstStyle/>
                    <a:p>
                      <a:pPr marL="171450" indent="-171450">
                        <a:buFont typeface="Arial" panose="020B0604020202020204" pitchFamily="34" charset="0"/>
                        <a:buChar char="•"/>
                      </a:pPr>
                      <a:r>
                        <a:rPr lang="nl-BE" sz="900" dirty="0" err="1"/>
                        <a:t>Kruskal</a:t>
                      </a:r>
                      <a:r>
                        <a:rPr lang="nl-BE" sz="900" dirty="0"/>
                        <a:t>-Wallis toets </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503519648"/>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905367483"/>
                  </a:ext>
                </a:extLst>
              </a:tr>
              <a:tr h="295752">
                <a:tc>
                  <a:txBody>
                    <a:bodyPr/>
                    <a:lstStyle/>
                    <a:p>
                      <a:pPr marL="171450" indent="-171450">
                        <a:buFont typeface="Arial" panose="020B0604020202020204" pitchFamily="34" charset="0"/>
                        <a:buChar char="•"/>
                      </a:pPr>
                      <a:r>
                        <a:rPr lang="nl-BE" sz="900" dirty="0"/>
                        <a:t>Loglineaire analyse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08130183"/>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441151215"/>
                  </a:ext>
                </a:extLst>
              </a:tr>
              <a:tr h="388340">
                <a:tc>
                  <a:txBody>
                    <a:bodyPr/>
                    <a:lstStyle/>
                    <a:p>
                      <a:pPr marL="171450" indent="-171450">
                        <a:buFont typeface="Arial" panose="020B0604020202020204" pitchFamily="34" charset="0"/>
                        <a:buChar char="•"/>
                      </a:pPr>
                      <a:r>
                        <a:rPr lang="nl-BE" sz="900" dirty="0"/>
                        <a:t>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3003505826"/>
                  </a:ext>
                </a:extLst>
              </a:tr>
              <a:tr h="388340">
                <a:tc>
                  <a:txBody>
                    <a:bodyPr/>
                    <a:lstStyle/>
                    <a:p>
                      <a:pPr marL="171450" indent="-171450">
                        <a:buFont typeface="Arial" panose="020B0604020202020204" pitchFamily="34" charset="0"/>
                        <a:buChar char="•"/>
                      </a:pPr>
                      <a:r>
                        <a:rPr lang="nl-BE" sz="900" dirty="0"/>
                        <a:t>Factorial 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1426545209"/>
                  </a:ext>
                </a:extLst>
              </a:tr>
              <a:tr h="388340">
                <a:tc>
                  <a:txBody>
                    <a:bodyPr/>
                    <a:lstStyle/>
                    <a:p>
                      <a:pPr marL="171450" indent="-171450">
                        <a:buFont typeface="Arial" panose="020B0604020202020204" pitchFamily="34" charset="0"/>
                        <a:buChar char="•"/>
                      </a:pPr>
                      <a:r>
                        <a:rPr lang="nl-BE" sz="900" dirty="0"/>
                        <a:t>MANCOVA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24420842"/>
                  </a:ext>
                </a:extLst>
              </a:tr>
            </a:tbl>
          </a:graphicData>
        </a:graphic>
      </p:graphicFrame>
      <p:sp>
        <p:nvSpPr>
          <p:cNvPr id="92" name="Rectangle 91">
            <a:extLst>
              <a:ext uri="{FF2B5EF4-FFF2-40B4-BE49-F238E27FC236}">
                <a16:creationId xmlns:a16="http://schemas.microsoft.com/office/drawing/2014/main" id="{838DDEF0-43B8-4A92-A651-844BAF4F6F44}"/>
              </a:ext>
            </a:extLst>
          </p:cNvPr>
          <p:cNvSpPr/>
          <p:nvPr/>
        </p:nvSpPr>
        <p:spPr>
          <a:xfrm>
            <a:off x="5992862" y="430598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Beide</a:t>
            </a:r>
          </a:p>
        </p:txBody>
      </p:sp>
      <p:cxnSp>
        <p:nvCxnSpPr>
          <p:cNvPr id="93" name="Straight Arrow Connector 92">
            <a:extLst>
              <a:ext uri="{FF2B5EF4-FFF2-40B4-BE49-F238E27FC236}">
                <a16:creationId xmlns:a16="http://schemas.microsoft.com/office/drawing/2014/main" id="{D87290EF-50FC-4CE6-BABA-BF2AEC1D09AD}"/>
              </a:ext>
            </a:extLst>
          </p:cNvPr>
          <p:cNvCxnSpPr>
            <a:cxnSpLocks/>
            <a:stCxn id="23" idx="3"/>
            <a:endCxn id="92" idx="1"/>
          </p:cNvCxnSpPr>
          <p:nvPr/>
        </p:nvCxnSpPr>
        <p:spPr>
          <a:xfrm>
            <a:off x="5455978" y="3625021"/>
            <a:ext cx="536883" cy="8082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32A7FE00-92F1-42F4-9CA6-2D7D54210A65}"/>
              </a:ext>
            </a:extLst>
          </p:cNvPr>
          <p:cNvCxnSpPr>
            <a:cxnSpLocks/>
            <a:stCxn id="52" idx="3"/>
          </p:cNvCxnSpPr>
          <p:nvPr/>
        </p:nvCxnSpPr>
        <p:spPr>
          <a:xfrm>
            <a:off x="6953694" y="4812564"/>
            <a:ext cx="5069406"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95" name="TextBox 94">
            <a:extLst>
              <a:ext uri="{FF2B5EF4-FFF2-40B4-BE49-F238E27FC236}">
                <a16:creationId xmlns:a16="http://schemas.microsoft.com/office/drawing/2014/main" id="{9D1263EB-098B-4F10-98A9-2D8F062F9BC0}"/>
              </a:ext>
            </a:extLst>
          </p:cNvPr>
          <p:cNvSpPr txBox="1"/>
          <p:nvPr/>
        </p:nvSpPr>
        <p:spPr>
          <a:xfrm>
            <a:off x="7412579" y="427984"/>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defTabSz="476448"/>
            <a:r>
              <a:rPr lang="nl-BE" sz="940" dirty="0">
                <a:solidFill>
                  <a:prstClr val="black"/>
                </a:solidFill>
                <a:latin typeface="Calibri" panose="020F0502020204030204"/>
              </a:rPr>
              <a:t>Bij categorische AV: nominaal of ordinaal?</a:t>
            </a:r>
          </a:p>
        </p:txBody>
      </p:sp>
      <p:sp>
        <p:nvSpPr>
          <p:cNvPr id="96" name="Rectangle 95">
            <a:extLst>
              <a:ext uri="{FF2B5EF4-FFF2-40B4-BE49-F238E27FC236}">
                <a16:creationId xmlns:a16="http://schemas.microsoft.com/office/drawing/2014/main" id="{D02737FE-3FD5-464C-BB3F-55B5B4DB6A72}"/>
              </a:ext>
            </a:extLst>
          </p:cNvPr>
          <p:cNvSpPr/>
          <p:nvPr/>
        </p:nvSpPr>
        <p:spPr>
          <a:xfrm>
            <a:off x="8988868" y="5930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Twee</a:t>
            </a:r>
          </a:p>
        </p:txBody>
      </p:sp>
      <p:sp>
        <p:nvSpPr>
          <p:cNvPr id="97" name="Rectangle 96">
            <a:extLst>
              <a:ext uri="{FF2B5EF4-FFF2-40B4-BE49-F238E27FC236}">
                <a16:creationId xmlns:a16="http://schemas.microsoft.com/office/drawing/2014/main" id="{381A3B0D-05E4-4495-90AB-1889489EB642}"/>
              </a:ext>
            </a:extLst>
          </p:cNvPr>
          <p:cNvSpPr/>
          <p:nvPr/>
        </p:nvSpPr>
        <p:spPr>
          <a:xfrm>
            <a:off x="8996465" y="65744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Meer dan 2</a:t>
            </a:r>
          </a:p>
        </p:txBody>
      </p:sp>
      <p:sp>
        <p:nvSpPr>
          <p:cNvPr id="98" name="Rectangle 97">
            <a:extLst>
              <a:ext uri="{FF2B5EF4-FFF2-40B4-BE49-F238E27FC236}">
                <a16:creationId xmlns:a16="http://schemas.microsoft.com/office/drawing/2014/main" id="{32A75EBA-D1CB-451D-85AE-E6E9C62FF447}"/>
              </a:ext>
            </a:extLst>
          </p:cNvPr>
          <p:cNvSpPr/>
          <p:nvPr/>
        </p:nvSpPr>
        <p:spPr>
          <a:xfrm>
            <a:off x="10656602" y="576406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99" name="Rectangle 98">
            <a:extLst>
              <a:ext uri="{FF2B5EF4-FFF2-40B4-BE49-F238E27FC236}">
                <a16:creationId xmlns:a16="http://schemas.microsoft.com/office/drawing/2014/main" id="{6C5A23B2-C377-4688-A096-FFAB11DD4FAA}"/>
              </a:ext>
            </a:extLst>
          </p:cNvPr>
          <p:cNvSpPr/>
          <p:nvPr/>
        </p:nvSpPr>
        <p:spPr>
          <a:xfrm>
            <a:off x="10656602" y="608957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sp>
        <p:nvSpPr>
          <p:cNvPr id="100" name="Rectangle 99">
            <a:extLst>
              <a:ext uri="{FF2B5EF4-FFF2-40B4-BE49-F238E27FC236}">
                <a16:creationId xmlns:a16="http://schemas.microsoft.com/office/drawing/2014/main" id="{4C9A50EC-A00D-474D-A161-D9DB6AEAD1D1}"/>
              </a:ext>
            </a:extLst>
          </p:cNvPr>
          <p:cNvSpPr/>
          <p:nvPr/>
        </p:nvSpPr>
        <p:spPr>
          <a:xfrm>
            <a:off x="10659426" y="64219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101" name="Rectangle 100">
            <a:extLst>
              <a:ext uri="{FF2B5EF4-FFF2-40B4-BE49-F238E27FC236}">
                <a16:creationId xmlns:a16="http://schemas.microsoft.com/office/drawing/2014/main" id="{F65C5E7C-0172-4DA5-8502-7F770DEE2B7D}"/>
              </a:ext>
            </a:extLst>
          </p:cNvPr>
          <p:cNvSpPr/>
          <p:nvPr/>
        </p:nvSpPr>
        <p:spPr>
          <a:xfrm>
            <a:off x="10649287" y="672875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cxnSp>
        <p:nvCxnSpPr>
          <p:cNvPr id="102" name="Straight Arrow Connector 101">
            <a:extLst>
              <a:ext uri="{FF2B5EF4-FFF2-40B4-BE49-F238E27FC236}">
                <a16:creationId xmlns:a16="http://schemas.microsoft.com/office/drawing/2014/main" id="{591D1ACD-1AB5-408A-A603-BFACEE53FBEE}"/>
              </a:ext>
            </a:extLst>
          </p:cNvPr>
          <p:cNvCxnSpPr>
            <a:cxnSpLocks/>
            <a:stCxn id="96" idx="3"/>
            <a:endCxn id="98" idx="1"/>
          </p:cNvCxnSpPr>
          <p:nvPr/>
        </p:nvCxnSpPr>
        <p:spPr>
          <a:xfrm flipV="1">
            <a:off x="9941649" y="5891374"/>
            <a:ext cx="714953" cy="16615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BF882E85-60E5-4AE3-A75B-1E7840A0F402}"/>
              </a:ext>
            </a:extLst>
          </p:cNvPr>
          <p:cNvCxnSpPr>
            <a:cxnSpLocks/>
            <a:stCxn id="96" idx="3"/>
            <a:endCxn id="99" idx="1"/>
          </p:cNvCxnSpPr>
          <p:nvPr/>
        </p:nvCxnSpPr>
        <p:spPr>
          <a:xfrm>
            <a:off x="9941649" y="6057533"/>
            <a:ext cx="714953" cy="15935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CBAA9CD0-EFE9-4867-8E95-EABC30B398E8}"/>
              </a:ext>
            </a:extLst>
          </p:cNvPr>
          <p:cNvCxnSpPr>
            <a:cxnSpLocks/>
            <a:stCxn id="97" idx="3"/>
            <a:endCxn id="100" idx="1"/>
          </p:cNvCxnSpPr>
          <p:nvPr/>
        </p:nvCxnSpPr>
        <p:spPr>
          <a:xfrm flipV="1">
            <a:off x="9949246" y="6549244"/>
            <a:ext cx="710180" cy="15252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D7B02C01-3CC8-4D08-BC82-93586A324D82}"/>
              </a:ext>
            </a:extLst>
          </p:cNvPr>
          <p:cNvCxnSpPr>
            <a:cxnSpLocks/>
            <a:stCxn id="97" idx="3"/>
            <a:endCxn id="101" idx="1"/>
          </p:cNvCxnSpPr>
          <p:nvPr/>
        </p:nvCxnSpPr>
        <p:spPr>
          <a:xfrm>
            <a:off x="9949246" y="6701772"/>
            <a:ext cx="700041" cy="15429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6" name="Straight Arrow Connector 105">
            <a:extLst>
              <a:ext uri="{FF2B5EF4-FFF2-40B4-BE49-F238E27FC236}">
                <a16:creationId xmlns:a16="http://schemas.microsoft.com/office/drawing/2014/main" id="{1FD3AA2F-5E77-4ADC-8CBA-296B56C6A5F3}"/>
              </a:ext>
            </a:extLst>
          </p:cNvPr>
          <p:cNvCxnSpPr>
            <a:cxnSpLocks/>
            <a:stCxn id="98" idx="3"/>
          </p:cNvCxnSpPr>
          <p:nvPr/>
        </p:nvCxnSpPr>
        <p:spPr>
          <a:xfrm>
            <a:off x="11609385" y="5891374"/>
            <a:ext cx="567191"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7" name="Straight Arrow Connector 106">
            <a:extLst>
              <a:ext uri="{FF2B5EF4-FFF2-40B4-BE49-F238E27FC236}">
                <a16:creationId xmlns:a16="http://schemas.microsoft.com/office/drawing/2014/main" id="{8937E4BE-E114-401B-B906-91B001D7D680}"/>
              </a:ext>
            </a:extLst>
          </p:cNvPr>
          <p:cNvCxnSpPr>
            <a:cxnSpLocks/>
            <a:stCxn id="99" idx="3"/>
          </p:cNvCxnSpPr>
          <p:nvPr/>
        </p:nvCxnSpPr>
        <p:spPr>
          <a:xfrm flipV="1">
            <a:off x="11609384" y="6215662"/>
            <a:ext cx="566381" cy="122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8" name="Straight Arrow Connector 107">
            <a:extLst>
              <a:ext uri="{FF2B5EF4-FFF2-40B4-BE49-F238E27FC236}">
                <a16:creationId xmlns:a16="http://schemas.microsoft.com/office/drawing/2014/main" id="{0929AD6F-73C6-4174-91CB-489055F92111}"/>
              </a:ext>
            </a:extLst>
          </p:cNvPr>
          <p:cNvCxnSpPr>
            <a:cxnSpLocks/>
            <a:stCxn id="100" idx="3"/>
          </p:cNvCxnSpPr>
          <p:nvPr/>
        </p:nvCxnSpPr>
        <p:spPr>
          <a:xfrm>
            <a:off x="11612208" y="6549245"/>
            <a:ext cx="575563"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9" name="Straight Arrow Connector 108">
            <a:extLst>
              <a:ext uri="{FF2B5EF4-FFF2-40B4-BE49-F238E27FC236}">
                <a16:creationId xmlns:a16="http://schemas.microsoft.com/office/drawing/2014/main" id="{17EDA111-5521-4B20-8B2C-C0AA4D7727B4}"/>
              </a:ext>
            </a:extLst>
          </p:cNvPr>
          <p:cNvCxnSpPr>
            <a:cxnSpLocks/>
            <a:stCxn id="101" idx="3"/>
          </p:cNvCxnSpPr>
          <p:nvPr/>
        </p:nvCxnSpPr>
        <p:spPr>
          <a:xfrm flipV="1">
            <a:off x="11602068" y="6856068"/>
            <a:ext cx="579464"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10" name="Rectangle 109">
            <a:extLst>
              <a:ext uri="{FF2B5EF4-FFF2-40B4-BE49-F238E27FC236}">
                <a16:creationId xmlns:a16="http://schemas.microsoft.com/office/drawing/2014/main" id="{ACE68A54-568D-4B4F-BA14-D3767B116102}"/>
              </a:ext>
            </a:extLst>
          </p:cNvPr>
          <p:cNvSpPr/>
          <p:nvPr/>
        </p:nvSpPr>
        <p:spPr>
          <a:xfrm>
            <a:off x="7507507" y="523642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Nominaal</a:t>
            </a:r>
          </a:p>
        </p:txBody>
      </p:sp>
      <p:sp>
        <p:nvSpPr>
          <p:cNvPr id="111" name="Rectangle 110">
            <a:extLst>
              <a:ext uri="{FF2B5EF4-FFF2-40B4-BE49-F238E27FC236}">
                <a16:creationId xmlns:a16="http://schemas.microsoft.com/office/drawing/2014/main" id="{646262F7-32A7-4363-8867-A13C455DB1D1}"/>
              </a:ext>
            </a:extLst>
          </p:cNvPr>
          <p:cNvSpPr/>
          <p:nvPr/>
        </p:nvSpPr>
        <p:spPr>
          <a:xfrm>
            <a:off x="7520143" y="62691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Ordinaal</a:t>
            </a:r>
          </a:p>
        </p:txBody>
      </p:sp>
      <p:cxnSp>
        <p:nvCxnSpPr>
          <p:cNvPr id="112" name="Straight Arrow Connector 111">
            <a:extLst>
              <a:ext uri="{FF2B5EF4-FFF2-40B4-BE49-F238E27FC236}">
                <a16:creationId xmlns:a16="http://schemas.microsoft.com/office/drawing/2014/main" id="{B9C206CA-E8BA-4BA8-9B14-782B792B3105}"/>
              </a:ext>
            </a:extLst>
          </p:cNvPr>
          <p:cNvCxnSpPr>
            <a:cxnSpLocks/>
            <a:stCxn id="53" idx="3"/>
            <a:endCxn id="110" idx="1"/>
          </p:cNvCxnSpPr>
          <p:nvPr/>
        </p:nvCxnSpPr>
        <p:spPr>
          <a:xfrm flipV="1">
            <a:off x="6945643" y="5363735"/>
            <a:ext cx="561863" cy="522607"/>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DEB3FDA-3EAA-43F5-86BA-2EF5345CE4EE}"/>
              </a:ext>
            </a:extLst>
          </p:cNvPr>
          <p:cNvCxnSpPr>
            <a:cxnSpLocks/>
            <a:stCxn id="53" idx="3"/>
            <a:endCxn id="111" idx="1"/>
          </p:cNvCxnSpPr>
          <p:nvPr/>
        </p:nvCxnSpPr>
        <p:spPr>
          <a:xfrm>
            <a:off x="6945643" y="5886342"/>
            <a:ext cx="574499" cy="51014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4" name="Straight Arrow Connector 113">
            <a:extLst>
              <a:ext uri="{FF2B5EF4-FFF2-40B4-BE49-F238E27FC236}">
                <a16:creationId xmlns:a16="http://schemas.microsoft.com/office/drawing/2014/main" id="{F7BC28EB-7802-4243-984E-D9BA15170706}"/>
              </a:ext>
            </a:extLst>
          </p:cNvPr>
          <p:cNvCxnSpPr>
            <a:cxnSpLocks/>
            <a:stCxn id="110" idx="3"/>
            <a:endCxn id="133" idx="1"/>
          </p:cNvCxnSpPr>
          <p:nvPr/>
        </p:nvCxnSpPr>
        <p:spPr>
          <a:xfrm flipV="1">
            <a:off x="8460288" y="5198176"/>
            <a:ext cx="2204364" cy="16556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5" name="Straight Arrow Connector 114">
            <a:extLst>
              <a:ext uri="{FF2B5EF4-FFF2-40B4-BE49-F238E27FC236}">
                <a16:creationId xmlns:a16="http://schemas.microsoft.com/office/drawing/2014/main" id="{EFDAB80B-EC43-4EE1-A264-67B7A4426992}"/>
              </a:ext>
            </a:extLst>
          </p:cNvPr>
          <p:cNvCxnSpPr>
            <a:cxnSpLocks/>
            <a:stCxn id="111" idx="3"/>
            <a:endCxn id="96" idx="1"/>
          </p:cNvCxnSpPr>
          <p:nvPr/>
        </p:nvCxnSpPr>
        <p:spPr>
          <a:xfrm flipV="1">
            <a:off x="8472924" y="6057533"/>
            <a:ext cx="515944" cy="3389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6" name="Straight Arrow Connector 115">
            <a:extLst>
              <a:ext uri="{FF2B5EF4-FFF2-40B4-BE49-F238E27FC236}">
                <a16:creationId xmlns:a16="http://schemas.microsoft.com/office/drawing/2014/main" id="{A8DAAF80-0101-45A1-BD8D-93742278F755}"/>
              </a:ext>
            </a:extLst>
          </p:cNvPr>
          <p:cNvCxnSpPr>
            <a:cxnSpLocks/>
            <a:stCxn id="111" idx="3"/>
            <a:endCxn id="97" idx="1"/>
          </p:cNvCxnSpPr>
          <p:nvPr/>
        </p:nvCxnSpPr>
        <p:spPr>
          <a:xfrm>
            <a:off x="8472924" y="6396488"/>
            <a:ext cx="523540" cy="30528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3" name="Rectangle 132">
            <a:extLst>
              <a:ext uri="{FF2B5EF4-FFF2-40B4-BE49-F238E27FC236}">
                <a16:creationId xmlns:a16="http://schemas.microsoft.com/office/drawing/2014/main" id="{ABDFDD3A-FD55-4AD8-A07C-D32031676684}"/>
              </a:ext>
            </a:extLst>
          </p:cNvPr>
          <p:cNvSpPr/>
          <p:nvPr/>
        </p:nvSpPr>
        <p:spPr>
          <a:xfrm>
            <a:off x="10664652" y="507086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a:t>
            </a:r>
          </a:p>
        </p:txBody>
      </p:sp>
      <p:sp>
        <p:nvSpPr>
          <p:cNvPr id="144" name="Rectangle 143">
            <a:extLst>
              <a:ext uri="{FF2B5EF4-FFF2-40B4-BE49-F238E27FC236}">
                <a16:creationId xmlns:a16="http://schemas.microsoft.com/office/drawing/2014/main" id="{D9AEFC00-DD16-44CB-810A-689CF89D2CBA}"/>
              </a:ext>
            </a:extLst>
          </p:cNvPr>
          <p:cNvSpPr/>
          <p:nvPr/>
        </p:nvSpPr>
        <p:spPr>
          <a:xfrm>
            <a:off x="10646580" y="543728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Verschillende</a:t>
            </a:r>
          </a:p>
        </p:txBody>
      </p:sp>
      <p:cxnSp>
        <p:nvCxnSpPr>
          <p:cNvPr id="150" name="Straight Arrow Connector 149">
            <a:extLst>
              <a:ext uri="{FF2B5EF4-FFF2-40B4-BE49-F238E27FC236}">
                <a16:creationId xmlns:a16="http://schemas.microsoft.com/office/drawing/2014/main" id="{1FAD0767-08F7-4619-96F5-AEFCCF0988BA}"/>
              </a:ext>
            </a:extLst>
          </p:cNvPr>
          <p:cNvCxnSpPr>
            <a:cxnSpLocks/>
            <a:stCxn id="110" idx="3"/>
            <a:endCxn id="144" idx="1"/>
          </p:cNvCxnSpPr>
          <p:nvPr/>
        </p:nvCxnSpPr>
        <p:spPr>
          <a:xfrm>
            <a:off x="8460288" y="5363735"/>
            <a:ext cx="2186292" cy="200858"/>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810DD2B1-AC05-4C3C-94F2-1CEB7949146F}"/>
              </a:ext>
            </a:extLst>
          </p:cNvPr>
          <p:cNvCxnSpPr>
            <a:cxnSpLocks/>
            <a:stCxn id="133" idx="3"/>
          </p:cNvCxnSpPr>
          <p:nvPr/>
        </p:nvCxnSpPr>
        <p:spPr>
          <a:xfrm>
            <a:off x="11617434" y="5198175"/>
            <a:ext cx="54324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C310CB75-1EA4-428A-8AED-E7B290126272}"/>
              </a:ext>
            </a:extLst>
          </p:cNvPr>
          <p:cNvCxnSpPr>
            <a:cxnSpLocks/>
            <a:stCxn id="144" idx="3"/>
          </p:cNvCxnSpPr>
          <p:nvPr/>
        </p:nvCxnSpPr>
        <p:spPr>
          <a:xfrm>
            <a:off x="11599362" y="5564592"/>
            <a:ext cx="577214" cy="0"/>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sp>
        <p:nvSpPr>
          <p:cNvPr id="125" name="Rectangle 124">
            <a:extLst>
              <a:ext uri="{FF2B5EF4-FFF2-40B4-BE49-F238E27FC236}">
                <a16:creationId xmlns:a16="http://schemas.microsoft.com/office/drawing/2014/main" id="{103C826C-28D0-4687-9030-226058BFCD03}"/>
              </a:ext>
            </a:extLst>
          </p:cNvPr>
          <p:cNvSpPr/>
          <p:nvPr/>
        </p:nvSpPr>
        <p:spPr>
          <a:xfrm>
            <a:off x="10674607" y="3479537"/>
            <a:ext cx="952427" cy="2743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defTabSz="476448"/>
            <a:r>
              <a:rPr lang="nl-BE" sz="909" dirty="0">
                <a:solidFill>
                  <a:prstClr val="black"/>
                </a:solidFill>
                <a:latin typeface="Calibri" panose="020F0502020204030204"/>
              </a:rPr>
              <a:t>Gelijkaardige en verschillende</a:t>
            </a:r>
          </a:p>
        </p:txBody>
      </p:sp>
      <p:cxnSp>
        <p:nvCxnSpPr>
          <p:cNvPr id="126" name="Straight Arrow Connector 125">
            <a:extLst>
              <a:ext uri="{FF2B5EF4-FFF2-40B4-BE49-F238E27FC236}">
                <a16:creationId xmlns:a16="http://schemas.microsoft.com/office/drawing/2014/main" id="{6FDDEAB3-17CF-46FC-9AF5-4203B6CC8159}"/>
              </a:ext>
            </a:extLst>
          </p:cNvPr>
          <p:cNvCxnSpPr>
            <a:cxnSpLocks/>
            <a:stCxn id="25" idx="3"/>
            <a:endCxn id="125" idx="1"/>
          </p:cNvCxnSpPr>
          <p:nvPr/>
        </p:nvCxnSpPr>
        <p:spPr>
          <a:xfrm flipV="1">
            <a:off x="6965612" y="3616700"/>
            <a:ext cx="3708994" cy="469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30" name="Straight Arrow Connector 129">
            <a:extLst>
              <a:ext uri="{FF2B5EF4-FFF2-40B4-BE49-F238E27FC236}">
                <a16:creationId xmlns:a16="http://schemas.microsoft.com/office/drawing/2014/main" id="{ABF727C3-614D-4F30-B279-42182219A65E}"/>
              </a:ext>
            </a:extLst>
          </p:cNvPr>
          <p:cNvCxnSpPr>
            <a:cxnSpLocks/>
            <a:stCxn id="125" idx="3"/>
          </p:cNvCxnSpPr>
          <p:nvPr/>
        </p:nvCxnSpPr>
        <p:spPr>
          <a:xfrm>
            <a:off x="11627034" y="3616700"/>
            <a:ext cx="56673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23" name="Rechthoek 122">
            <a:extLst>
              <a:ext uri="{FF2B5EF4-FFF2-40B4-BE49-F238E27FC236}">
                <a16:creationId xmlns:a16="http://schemas.microsoft.com/office/drawing/2014/main" id="{6843F54F-30B2-40AE-9E9A-0824B077C728}"/>
              </a:ext>
            </a:extLst>
          </p:cNvPr>
          <p:cNvSpPr/>
          <p:nvPr/>
        </p:nvSpPr>
        <p:spPr>
          <a:xfrm>
            <a:off x="12223952" y="5455316"/>
            <a:ext cx="1913153" cy="30371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fld id="{7AE184E0-0BD4-4705-A12B-9B71DDE63301}" type="slidenum">
              <a:rPr lang="en-GB" smtClean="0"/>
              <a:pPr/>
              <a:t>16</a:t>
            </a:fld>
            <a:endParaRPr lang="en-GB" dirty="0"/>
          </a:p>
        </p:txBody>
      </p:sp>
    </p:spTree>
    <p:extLst>
      <p:ext uri="{BB962C8B-B14F-4D97-AF65-F5344CB8AC3E}">
        <p14:creationId xmlns:p14="http://schemas.microsoft.com/office/powerpoint/2010/main" val="178933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r>
              <a:rPr lang="nl-BE" dirty="0"/>
              <a:t>:</a:t>
            </a:r>
          </a:p>
          <a:p>
            <a:endParaRPr lang="nl-BE" dirty="0"/>
          </a:p>
        </p:txBody>
      </p:sp>
      <p:sp>
        <p:nvSpPr>
          <p:cNvPr id="7" name="Tijdelijke aanduiding voor inhoud 6">
            <a:extLst>
              <a:ext uri="{FF2B5EF4-FFF2-40B4-BE49-F238E27FC236}">
                <a16:creationId xmlns:a16="http://schemas.microsoft.com/office/drawing/2014/main" id="{91A179EB-14B4-4616-A3C2-51B0188B9352}"/>
              </a:ext>
            </a:extLst>
          </p:cNvPr>
          <p:cNvSpPr>
            <a:spLocks noGrp="1"/>
          </p:cNvSpPr>
          <p:nvPr>
            <p:ph idx="13"/>
          </p:nvPr>
        </p:nvSpPr>
        <p:spPr/>
        <p:txBody>
          <a:bodyPr/>
          <a:lstStyle/>
          <a:p>
            <a:endParaRPr lang="nl-BE"/>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17</a:t>
            </a:fld>
            <a:endParaRPr lang="en-GB" noProof="0" dirty="0"/>
          </a:p>
        </p:txBody>
      </p:sp>
      <p:pic>
        <p:nvPicPr>
          <p:cNvPr id="2" name="Afbeelding 1">
            <a:extLst>
              <a:ext uri="{FF2B5EF4-FFF2-40B4-BE49-F238E27FC236}">
                <a16:creationId xmlns:a16="http://schemas.microsoft.com/office/drawing/2014/main" id="{AA1A839E-09B8-4C09-8896-E362EBF4F436}"/>
              </a:ext>
            </a:extLst>
          </p:cNvPr>
          <p:cNvPicPr>
            <a:picLocks noChangeAspect="1"/>
          </p:cNvPicPr>
          <p:nvPr/>
        </p:nvPicPr>
        <p:blipFill>
          <a:blip r:embed="rId3"/>
          <a:stretch>
            <a:fillRect/>
          </a:stretch>
        </p:blipFill>
        <p:spPr>
          <a:xfrm>
            <a:off x="6257309" y="2427709"/>
            <a:ext cx="10213003" cy="2984046"/>
          </a:xfrm>
          <a:prstGeom prst="rect">
            <a:avLst/>
          </a:prstGeom>
        </p:spPr>
      </p:pic>
      <p:pic>
        <p:nvPicPr>
          <p:cNvPr id="3" name="Afbeelding 2">
            <a:extLst>
              <a:ext uri="{FF2B5EF4-FFF2-40B4-BE49-F238E27FC236}">
                <a16:creationId xmlns:a16="http://schemas.microsoft.com/office/drawing/2014/main" id="{03B2DF1C-3A94-4F4C-A134-4A4EFB6EE755}"/>
              </a:ext>
            </a:extLst>
          </p:cNvPr>
          <p:cNvPicPr>
            <a:picLocks noChangeAspect="1"/>
          </p:cNvPicPr>
          <p:nvPr/>
        </p:nvPicPr>
        <p:blipFill>
          <a:blip r:embed="rId4"/>
          <a:stretch>
            <a:fillRect/>
          </a:stretch>
        </p:blipFill>
        <p:spPr>
          <a:xfrm>
            <a:off x="1054165" y="5812672"/>
            <a:ext cx="10309645" cy="2826196"/>
          </a:xfrm>
          <a:prstGeom prst="rect">
            <a:avLst/>
          </a:prstGeom>
        </p:spPr>
      </p:pic>
    </p:spTree>
    <p:extLst>
      <p:ext uri="{BB962C8B-B14F-4D97-AF65-F5344CB8AC3E}">
        <p14:creationId xmlns:p14="http://schemas.microsoft.com/office/powerpoint/2010/main" val="3275518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2393550" lvl="3" indent="-514350"/>
            <a:r>
              <a:rPr lang="nl-BE" dirty="0"/>
              <a:t>Gebeurt automatisch door SPSS</a:t>
            </a:r>
          </a:p>
          <a:p>
            <a:pPr marL="1821150" lvl="2" indent="-514350">
              <a:buFont typeface="+mj-lt"/>
              <a:buAutoNum type="arabicPeriod"/>
            </a:pPr>
            <a:r>
              <a:rPr lang="nl-BE" dirty="0"/>
              <a:t>Elke variabele minimum twee mutueel exclusieve categorieën</a:t>
            </a:r>
          </a:p>
          <a:p>
            <a:pPr marL="2393550" lvl="3" indent="-514350"/>
            <a:r>
              <a:rPr lang="nl-BE" dirty="0"/>
              <a:t>Elke respondent kan maar tot 1 categorie behoren</a:t>
            </a:r>
          </a:p>
          <a:p>
            <a:pPr marL="1821150" lvl="2" indent="-514350">
              <a:buFont typeface="+mj-lt"/>
              <a:buAutoNum type="arabicPeriod"/>
            </a:pPr>
            <a:r>
              <a:rPr lang="nl-BE" dirty="0"/>
              <a:t>Onafhankelijke groepen onderzoekseenheden</a:t>
            </a:r>
          </a:p>
          <a:p>
            <a:pPr marL="2393550" lvl="3" indent="-514350"/>
            <a:r>
              <a:rPr lang="nl-BE" dirty="0"/>
              <a:t>Voorstander vs. Tegenstander of Democraat vs. Republikein</a:t>
            </a:r>
          </a:p>
          <a:p>
            <a:pPr marL="1821150" lvl="2" indent="-514350">
              <a:buFont typeface="+mj-lt"/>
              <a:buAutoNum type="arabicPeriod"/>
            </a:pPr>
            <a:r>
              <a:rPr lang="nl-BE" dirty="0"/>
              <a:t>f(e) van elke cel &gt; 5</a:t>
            </a:r>
          </a:p>
          <a:p>
            <a:pPr marL="2393550" lvl="3" indent="-514350"/>
            <a:r>
              <a:rPr lang="nl-BE" dirty="0"/>
              <a:t>Zie SPSS-output</a:t>
            </a:r>
          </a:p>
          <a:p>
            <a:pPr marL="1821150" lvl="2" indent="-514350">
              <a:buFont typeface="+mj-lt"/>
              <a:buAutoNum type="arabicPeriod"/>
            </a:pPr>
            <a:endParaRPr lang="nl-BE" dirty="0"/>
          </a:p>
          <a:p>
            <a:endParaRPr lang="nl-BE" dirty="0"/>
          </a:p>
        </p:txBody>
      </p:sp>
      <p:sp>
        <p:nvSpPr>
          <p:cNvPr id="7" name="Tijdelijke aanduiding voor inhoud 6">
            <a:extLst>
              <a:ext uri="{FF2B5EF4-FFF2-40B4-BE49-F238E27FC236}">
                <a16:creationId xmlns:a16="http://schemas.microsoft.com/office/drawing/2014/main" id="{91A179EB-14B4-4616-A3C2-51B0188B9352}"/>
              </a:ext>
            </a:extLst>
          </p:cNvPr>
          <p:cNvSpPr>
            <a:spLocks noGrp="1"/>
          </p:cNvSpPr>
          <p:nvPr>
            <p:ph idx="13"/>
          </p:nvPr>
        </p:nvSpPr>
        <p:spPr/>
        <p:txBody>
          <a:bodyPr/>
          <a:lstStyle/>
          <a:p>
            <a:endParaRPr lang="nl-BE"/>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18</a:t>
            </a:fld>
            <a:endParaRPr lang="en-GB" noProof="0" dirty="0"/>
          </a:p>
        </p:txBody>
      </p:sp>
    </p:spTree>
    <p:extLst>
      <p:ext uri="{BB962C8B-B14F-4D97-AF65-F5344CB8AC3E}">
        <p14:creationId xmlns:p14="http://schemas.microsoft.com/office/powerpoint/2010/main" val="123822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3. </a:t>
                </a:r>
                <a:r>
                  <a:rPr lang="nl-BE" dirty="0"/>
                  <a:t>Hypothesen formuleren</a:t>
                </a:r>
              </a:p>
              <a:p>
                <a:pPr lvl="1"/>
                <a:r>
                  <a:rPr lang="nl-BE" dirty="0"/>
                  <a:t>Best tweezijdig toetsen!</a:t>
                </a:r>
              </a:p>
              <a:p>
                <a:endParaRPr lang="nl-BE" dirty="0"/>
              </a:p>
              <a:p>
                <a:pPr marL="720000" lvl="1" indent="0">
                  <a:buNone/>
                </a:pPr>
                <a:r>
                  <a:rPr lang="nl-BE" b="1" dirty="0"/>
                  <a:t>	H</a:t>
                </a:r>
                <a:r>
                  <a:rPr lang="nl-BE" b="1" baseline="-25000" dirty="0"/>
                  <a:t>0</a:t>
                </a:r>
                <a:r>
                  <a:rPr lang="nl-BE" b="1" dirty="0"/>
                  <a:t>:	</a:t>
                </a:r>
                <a:r>
                  <a:rPr lang="nl-BE" i="1" dirty="0"/>
                  <a:t>Er is geen verband tussen politieke partij-voorkeur en attitude </a:t>
                </a:r>
                <a:r>
                  <a:rPr lang="nl-BE" i="1" dirty="0" err="1"/>
                  <a:t>tov</a:t>
                </a:r>
                <a:r>
                  <a:rPr lang="nl-BE" i="1" dirty="0"/>
                  <a:t> wapenbezit.</a:t>
                </a:r>
                <a:br>
                  <a:rPr lang="nl-BE" i="1" dirty="0"/>
                </a:br>
                <a:endParaRPr lang="nl-BE" b="1" dirty="0"/>
              </a:p>
              <a:p>
                <a:pPr marL="720000" lvl="1" indent="0">
                  <a:buNone/>
                </a:pPr>
                <a:r>
                  <a:rPr lang="nl-BE" b="1" dirty="0"/>
                  <a:t>	H</a:t>
                </a:r>
                <a:r>
                  <a:rPr lang="nl-BE" b="1" baseline="-25000" dirty="0"/>
                  <a:t>A</a:t>
                </a:r>
                <a:r>
                  <a:rPr lang="nl-BE" b="1" dirty="0"/>
                  <a:t>:	</a:t>
                </a:r>
                <a:r>
                  <a:rPr lang="nl-BE" i="1" dirty="0"/>
                  <a:t>Er is een verband tussen politieke partij-voorkeur en attitude </a:t>
                </a:r>
                <a:r>
                  <a:rPr lang="nl-BE" i="1" dirty="0" err="1"/>
                  <a:t>tov</a:t>
                </a:r>
                <a:r>
                  <a:rPr lang="nl-BE" i="1" dirty="0"/>
                  <a:t> wapenbezit.</a:t>
                </a:r>
              </a:p>
              <a:p>
                <a:pPr marL="720000" lvl="1" indent="0">
                  <a:buNone/>
                </a:pPr>
                <a:endParaRPr lang="nl-BE" i="1" dirty="0"/>
              </a:p>
              <a:p>
                <a:r>
                  <a:rPr lang="nl-BE" b="1" dirty="0"/>
                  <a:t>Stap 4. </a:t>
                </a:r>
                <a:r>
                  <a:rPr lang="nl-BE" dirty="0"/>
                  <a:t>Significantieniveau bepalen</a:t>
                </a:r>
              </a:p>
              <a:p>
                <a:pPr lvl="1"/>
                <a:r>
                  <a:rPr lang="nl-BE" dirty="0"/>
                  <a:t>Minimaal </a:t>
                </a:r>
                <a14:m>
                  <m:oMath xmlns:m="http://schemas.openxmlformats.org/officeDocument/2006/math">
                    <m:r>
                      <a:rPr lang="nl-BE" i="1" smtClean="0">
                        <a:latin typeface="Cambria Math" panose="02040503050406030204" pitchFamily="18" charset="0"/>
                        <a:ea typeface="Cambria Math" panose="02040503050406030204" pitchFamily="18" charset="0"/>
                      </a:rPr>
                      <m:t>𝛼</m:t>
                    </m:r>
                  </m:oMath>
                </a14:m>
                <a:r>
                  <a:rPr lang="nl-BE" dirty="0"/>
                  <a:t> = .05</a:t>
                </a:r>
              </a:p>
              <a:p>
                <a:pPr lvl="1"/>
                <a:r>
                  <a:rPr lang="nl-BE" dirty="0"/>
                  <a:t>Wanneer </a:t>
                </a:r>
                <a:r>
                  <a:rPr lang="nl-BE" i="1" dirty="0"/>
                  <a:t>n</a:t>
                </a:r>
                <a:r>
                  <a:rPr lang="nl-BE" dirty="0"/>
                  <a:t> &gt; 400: </a:t>
                </a:r>
                <a:r>
                  <a:rPr lang="nl-BE" b="1" dirty="0"/>
                  <a:t>beter </a:t>
                </a:r>
                <a14:m>
                  <m:oMath xmlns:m="http://schemas.openxmlformats.org/officeDocument/2006/math">
                    <m:r>
                      <a:rPr lang="nl-BE" b="1" i="1">
                        <a:latin typeface="Cambria Math" panose="02040503050406030204" pitchFamily="18" charset="0"/>
                        <a:ea typeface="Cambria Math" panose="02040503050406030204" pitchFamily="18" charset="0"/>
                      </a:rPr>
                      <m:t>𝜶</m:t>
                    </m:r>
                  </m:oMath>
                </a14:m>
                <a:r>
                  <a:rPr lang="nl-BE" b="1" dirty="0"/>
                  <a:t> = .01</a:t>
                </a:r>
              </a:p>
              <a:p>
                <a:pPr lvl="2"/>
                <a:r>
                  <a:rPr lang="nl-BE" i="1" dirty="0"/>
                  <a:t>n</a:t>
                </a:r>
                <a:r>
                  <a:rPr lang="nl-BE" dirty="0"/>
                  <a:t> = 950</a:t>
                </a:r>
              </a:p>
              <a:p>
                <a:endParaRPr lang="nl-BE" dirty="0"/>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3"/>
                <a:stretch>
                  <a:fillRect l="-145" t="-511"/>
                </a:stretch>
              </a:blipFill>
            </p:spPr>
            <p:txBody>
              <a:bodyPr/>
              <a:lstStyle/>
              <a:p>
                <a:r>
                  <a:rPr lang="nl-BE">
                    <a:noFill/>
                  </a:rPr>
                  <a:t> </a:t>
                </a:r>
              </a:p>
            </p:txBody>
          </p:sp>
        </mc:Fallback>
      </mc:AlternateContent>
      <p:sp>
        <p:nvSpPr>
          <p:cNvPr id="7" name="Tijdelijke aanduiding voor inhoud 6">
            <a:extLst>
              <a:ext uri="{FF2B5EF4-FFF2-40B4-BE49-F238E27FC236}">
                <a16:creationId xmlns:a16="http://schemas.microsoft.com/office/drawing/2014/main" id="{91A179EB-14B4-4616-A3C2-51B0188B9352}"/>
              </a:ext>
            </a:extLst>
          </p:cNvPr>
          <p:cNvSpPr>
            <a:spLocks noGrp="1"/>
          </p:cNvSpPr>
          <p:nvPr>
            <p:ph idx="13"/>
          </p:nvPr>
        </p:nvSpPr>
        <p:spPr/>
        <p:txBody>
          <a:bodyPr/>
          <a:lstStyle/>
          <a:p>
            <a:endParaRPr lang="nl-BE"/>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19</a:t>
            </a:fld>
            <a:endParaRPr lang="en-GB" noProof="0" dirty="0"/>
          </a:p>
        </p:txBody>
      </p:sp>
    </p:spTree>
    <p:extLst>
      <p:ext uri="{BB962C8B-B14F-4D97-AF65-F5344CB8AC3E}">
        <p14:creationId xmlns:p14="http://schemas.microsoft.com/office/powerpoint/2010/main" val="126795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5. </a:t>
            </a:r>
            <a:r>
              <a:rPr lang="nl-BE" dirty="0"/>
              <a:t>Toetsingsgrootheid en p-waarde berekenen</a:t>
            </a:r>
          </a:p>
          <a:p>
            <a:pPr lvl="1"/>
            <a:r>
              <a:rPr lang="nl-BE" dirty="0"/>
              <a:t>Ook maat van effectgrootte!</a:t>
            </a:r>
          </a:p>
          <a:p>
            <a:pPr lvl="2"/>
            <a:r>
              <a:rPr lang="nl-BE" dirty="0"/>
              <a:t>Want indien grote steekproef: snel significante resultaten bij Chi</a:t>
            </a:r>
            <a:r>
              <a:rPr lang="nl-BE" baseline="30000" dirty="0"/>
              <a:t>2</a:t>
            </a:r>
            <a:endParaRPr lang="nl-BE" dirty="0"/>
          </a:p>
          <a:p>
            <a:pPr lvl="1"/>
            <a:r>
              <a:rPr lang="nl-BE" dirty="0" err="1">
                <a:highlight>
                  <a:srgbClr val="FFFF00"/>
                </a:highlight>
              </a:rPr>
              <a:t>Phi</a:t>
            </a:r>
            <a:r>
              <a:rPr lang="nl-BE" dirty="0">
                <a:highlight>
                  <a:srgbClr val="FFFF00"/>
                </a:highlight>
              </a:rPr>
              <a:t> (2x2 tabel) of </a:t>
            </a:r>
            <a:r>
              <a:rPr lang="nl-BE" dirty="0" err="1">
                <a:highlight>
                  <a:srgbClr val="FFFF00"/>
                </a:highlight>
              </a:rPr>
              <a:t>Cramer’s</a:t>
            </a:r>
            <a:r>
              <a:rPr lang="nl-BE" dirty="0">
                <a:highlight>
                  <a:srgbClr val="FFFF00"/>
                </a:highlight>
              </a:rPr>
              <a:t> V (r x k tabel)</a:t>
            </a:r>
          </a:p>
          <a:p>
            <a:pPr lvl="2"/>
            <a:r>
              <a:rPr lang="nl-BE" dirty="0"/>
              <a:t>Meest gebruikte maat van effectgrootte voor Chi</a:t>
            </a:r>
            <a:r>
              <a:rPr lang="nl-BE" baseline="30000" dirty="0"/>
              <a:t>2</a:t>
            </a:r>
            <a:endParaRPr lang="nl-BE" dirty="0"/>
          </a:p>
          <a:p>
            <a:pPr lvl="2"/>
            <a:r>
              <a:rPr lang="nl-BE" dirty="0"/>
              <a:t>0 &lt; V &lt; 1</a:t>
            </a:r>
          </a:p>
          <a:p>
            <a:endParaRPr lang="nl-BE" dirty="0"/>
          </a:p>
        </p:txBody>
      </p:sp>
      <p:sp>
        <p:nvSpPr>
          <p:cNvPr id="7" name="Tijdelijke aanduiding voor inhoud 6">
            <a:extLst>
              <a:ext uri="{FF2B5EF4-FFF2-40B4-BE49-F238E27FC236}">
                <a16:creationId xmlns:a16="http://schemas.microsoft.com/office/drawing/2014/main" id="{91A179EB-14B4-4616-A3C2-51B0188B9352}"/>
              </a:ext>
            </a:extLst>
          </p:cNvPr>
          <p:cNvSpPr>
            <a:spLocks noGrp="1"/>
          </p:cNvSpPr>
          <p:nvPr>
            <p:ph idx="13"/>
          </p:nvPr>
        </p:nvSpPr>
        <p:spPr/>
        <p:txBody>
          <a:bodyPr/>
          <a:lstStyle/>
          <a:p>
            <a:endParaRPr lang="nl-BE"/>
          </a:p>
        </p:txBody>
      </p:sp>
      <p:pic>
        <p:nvPicPr>
          <p:cNvPr id="2" name="Afbeelding 1">
            <a:extLst>
              <a:ext uri="{FF2B5EF4-FFF2-40B4-BE49-F238E27FC236}">
                <a16:creationId xmlns:a16="http://schemas.microsoft.com/office/drawing/2014/main" id="{41670E1E-E986-440E-8235-3FFC0B31CBB4}"/>
              </a:ext>
            </a:extLst>
          </p:cNvPr>
          <p:cNvPicPr>
            <a:picLocks noChangeAspect="1"/>
          </p:cNvPicPr>
          <p:nvPr/>
        </p:nvPicPr>
        <p:blipFill>
          <a:blip r:embed="rId3"/>
          <a:stretch>
            <a:fillRect/>
          </a:stretch>
        </p:blipFill>
        <p:spPr>
          <a:xfrm>
            <a:off x="8669337" y="4960886"/>
            <a:ext cx="7716327" cy="4258269"/>
          </a:xfrm>
          <a:prstGeom prst="rect">
            <a:avLst/>
          </a:prstGeom>
        </p:spPr>
      </p:pic>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20</a:t>
            </a:fld>
            <a:endParaRPr lang="en-GB" noProof="0" dirty="0"/>
          </a:p>
        </p:txBody>
      </p:sp>
    </p:spTree>
    <p:extLst>
      <p:ext uri="{BB962C8B-B14F-4D97-AF65-F5344CB8AC3E}">
        <p14:creationId xmlns:p14="http://schemas.microsoft.com/office/powerpoint/2010/main" val="234817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480034" y="1816273"/>
            <a:ext cx="16858641" cy="7164888"/>
          </a:xfrm>
        </p:spPr>
        <p:txBody>
          <a:bodyPr>
            <a:normAutofit/>
          </a:bodyPr>
          <a:lstStyle/>
          <a:p>
            <a:r>
              <a:rPr lang="nl-BE" b="1" dirty="0"/>
              <a:t>Chi-kwadraattoets in SPSS: </a:t>
            </a:r>
            <a:r>
              <a:rPr lang="nl-BE" i="1" dirty="0" err="1">
                <a:sym typeface="Wingdings" panose="05000000000000000000" pitchFamily="2" charset="2"/>
              </a:rPr>
              <a:t>Analyze</a:t>
            </a:r>
            <a:r>
              <a:rPr lang="nl-BE" i="1" dirty="0"/>
              <a:t> ›› </a:t>
            </a:r>
            <a:r>
              <a:rPr lang="nl-BE" i="1" dirty="0" err="1"/>
              <a:t>Descriptive</a:t>
            </a:r>
            <a:r>
              <a:rPr lang="nl-BE" i="1" dirty="0"/>
              <a:t> </a:t>
            </a:r>
            <a:r>
              <a:rPr lang="nl-BE" i="1" dirty="0" err="1"/>
              <a:t>Statistics</a:t>
            </a:r>
            <a:r>
              <a:rPr lang="nl-BE" i="1" dirty="0"/>
              <a:t> ›› Crosstabs</a:t>
            </a:r>
          </a:p>
          <a:p>
            <a:pPr lvl="1"/>
            <a:r>
              <a:rPr lang="nl-BE" dirty="0" err="1"/>
              <a:t>Afh</a:t>
            </a:r>
            <a:r>
              <a:rPr lang="nl-BE" dirty="0"/>
              <a:t>. variabele in </a:t>
            </a:r>
            <a:r>
              <a:rPr lang="nl-BE" i="1" dirty="0" err="1"/>
              <a:t>Rows</a:t>
            </a:r>
            <a:endParaRPr lang="nl-BE" i="1" dirty="0"/>
          </a:p>
          <a:p>
            <a:pPr lvl="1"/>
            <a:r>
              <a:rPr lang="nl-BE" dirty="0" err="1"/>
              <a:t>Onafh</a:t>
            </a:r>
            <a:r>
              <a:rPr lang="nl-BE" dirty="0"/>
              <a:t>. variabele in </a:t>
            </a:r>
            <a:r>
              <a:rPr lang="nl-BE" i="1" dirty="0"/>
              <a:t>Columns</a:t>
            </a:r>
          </a:p>
          <a:p>
            <a:pPr lvl="1"/>
            <a:r>
              <a:rPr lang="nl-BE" i="1" dirty="0"/>
              <a:t>Syntax: </a:t>
            </a:r>
            <a:r>
              <a:rPr lang="nl-BE" b="1" i="1" dirty="0">
                <a:solidFill>
                  <a:srgbClr val="C00000"/>
                </a:solidFill>
              </a:rPr>
              <a:t>CROSSTABS</a:t>
            </a:r>
          </a:p>
          <a:p>
            <a:pPr lvl="1"/>
            <a:r>
              <a:rPr lang="nl-BE" b="1" i="1" dirty="0">
                <a:solidFill>
                  <a:srgbClr val="C00000"/>
                </a:solidFill>
              </a:rPr>
              <a:t>  /TABLES=ATTITUDE_WAPENBEZIT BY POLITIEKE_PARTIJ</a:t>
            </a:r>
          </a:p>
          <a:p>
            <a:pPr lvl="1"/>
            <a:r>
              <a:rPr lang="nl-BE" b="1" i="1" dirty="0">
                <a:solidFill>
                  <a:srgbClr val="C00000"/>
                </a:solidFill>
              </a:rPr>
              <a:t>  /FORMAT=AVALUE TABLES</a:t>
            </a:r>
          </a:p>
          <a:p>
            <a:pPr lvl="1"/>
            <a:r>
              <a:rPr lang="nl-BE" b="1" i="1" dirty="0">
                <a:solidFill>
                  <a:srgbClr val="C00000"/>
                </a:solidFill>
              </a:rPr>
              <a:t>  /STATISTICS=CHISQ PHI </a:t>
            </a:r>
          </a:p>
          <a:p>
            <a:pPr lvl="1"/>
            <a:r>
              <a:rPr lang="nl-BE" b="1" i="1" dirty="0">
                <a:solidFill>
                  <a:srgbClr val="C00000"/>
                </a:solidFill>
              </a:rPr>
              <a:t>  /CELLS=COUNT COLUMN </a:t>
            </a:r>
          </a:p>
          <a:p>
            <a:pPr lvl="1"/>
            <a:r>
              <a:rPr lang="nl-BE" b="1" i="1" dirty="0">
                <a:solidFill>
                  <a:srgbClr val="C00000"/>
                </a:solidFill>
              </a:rPr>
              <a:t>  /COUNT ROUND CELL.</a:t>
            </a:r>
          </a:p>
          <a:p>
            <a:pPr marL="720000" lvl="1" indent="0">
              <a:buNone/>
            </a:pPr>
            <a:endParaRPr lang="nl-BE" dirty="0"/>
          </a:p>
          <a:p>
            <a:endParaRPr lang="nl-BE" dirty="0"/>
          </a:p>
        </p:txBody>
      </p:sp>
      <p:sp>
        <p:nvSpPr>
          <p:cNvPr id="7" name="Tijdelijke aanduiding voor inhoud 6">
            <a:extLst>
              <a:ext uri="{FF2B5EF4-FFF2-40B4-BE49-F238E27FC236}">
                <a16:creationId xmlns:a16="http://schemas.microsoft.com/office/drawing/2014/main" id="{91A179EB-14B4-4616-A3C2-51B0188B9352}"/>
              </a:ext>
            </a:extLst>
          </p:cNvPr>
          <p:cNvSpPr>
            <a:spLocks noGrp="1"/>
          </p:cNvSpPr>
          <p:nvPr>
            <p:ph idx="13"/>
          </p:nvPr>
        </p:nvSpPr>
        <p:spPr/>
        <p:txBody>
          <a:bodyPr/>
          <a:lstStyle/>
          <a:p>
            <a:endParaRPr lang="nl-BE" dirty="0"/>
          </a:p>
        </p:txBody>
      </p:sp>
      <p:sp>
        <p:nvSpPr>
          <p:cNvPr id="31" name="Tijdelijke aanduiding voor dianummer 3">
            <a:extLst>
              <a:ext uri="{FF2B5EF4-FFF2-40B4-BE49-F238E27FC236}">
                <a16:creationId xmlns:a16="http://schemas.microsoft.com/office/drawing/2014/main" id="{A3471519-90BA-4B30-B687-61F2BBF3630C}"/>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21</a:t>
            </a:fld>
            <a:endParaRPr lang="en-GB" noProof="0" dirty="0"/>
          </a:p>
        </p:txBody>
      </p:sp>
    </p:spTree>
    <p:extLst>
      <p:ext uri="{BB962C8B-B14F-4D97-AF65-F5344CB8AC3E}">
        <p14:creationId xmlns:p14="http://schemas.microsoft.com/office/powerpoint/2010/main" val="87977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480034" y="1567439"/>
            <a:ext cx="16858641" cy="7164888"/>
          </a:xfrm>
        </p:spPr>
        <p:txBody>
          <a:bodyPr>
            <a:normAutofit/>
          </a:bodyPr>
          <a:lstStyle/>
          <a:p>
            <a:r>
              <a:rPr lang="nl-BE" b="1" dirty="0"/>
              <a:t>Chi-kwadraattoets in SPSS</a:t>
            </a:r>
          </a:p>
          <a:p>
            <a:pPr lvl="1"/>
            <a:r>
              <a:rPr lang="nl-BE" b="1" dirty="0"/>
              <a:t>Output:</a:t>
            </a:r>
          </a:p>
          <a:p>
            <a:endParaRPr lang="nl-BE" b="1" dirty="0"/>
          </a:p>
          <a:p>
            <a:endParaRPr lang="nl-BE" b="1" dirty="0"/>
          </a:p>
          <a:p>
            <a:endParaRPr lang="nl-BE" b="1" dirty="0"/>
          </a:p>
          <a:p>
            <a:endParaRPr lang="nl-BE" b="1" dirty="0"/>
          </a:p>
          <a:p>
            <a:endParaRPr lang="nl-BE" b="1" dirty="0"/>
          </a:p>
          <a:p>
            <a:endParaRPr lang="nl-BE" b="1" dirty="0"/>
          </a:p>
          <a:p>
            <a:endParaRPr lang="nl-BE" b="1" dirty="0"/>
          </a:p>
          <a:p>
            <a:pPr lvl="1"/>
            <a:endParaRPr lang="nl-BE" b="1" dirty="0"/>
          </a:p>
          <a:p>
            <a:pPr lvl="1"/>
            <a:r>
              <a:rPr lang="nl-BE" b="1" dirty="0"/>
              <a:t>Kolompercentage:</a:t>
            </a:r>
            <a:br>
              <a:rPr lang="nl-BE" b="1" dirty="0"/>
            </a:br>
            <a:r>
              <a:rPr lang="nl-BE" b="1" dirty="0"/>
              <a:t>29,4</a:t>
            </a:r>
            <a:r>
              <a:rPr lang="nl-BE" dirty="0"/>
              <a:t> % van de Democraten is voorstander van wapenbezit.</a:t>
            </a:r>
            <a:br>
              <a:rPr lang="nl-BE" dirty="0"/>
            </a:br>
            <a:r>
              <a:rPr lang="nl-BE" b="1" dirty="0"/>
              <a:t>72,2 % </a:t>
            </a:r>
            <a:r>
              <a:rPr lang="nl-BE" dirty="0"/>
              <a:t>van de Republikeinen is voorstander van wapenbezit.</a:t>
            </a:r>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22</a:t>
            </a:fld>
            <a:endParaRPr lang="en-GB" noProof="0" dirty="0"/>
          </a:p>
        </p:txBody>
      </p:sp>
      <p:sp>
        <p:nvSpPr>
          <p:cNvPr id="2" name="Tijdelijke aanduiding voor inhoud 1">
            <a:extLst>
              <a:ext uri="{FF2B5EF4-FFF2-40B4-BE49-F238E27FC236}">
                <a16:creationId xmlns:a16="http://schemas.microsoft.com/office/drawing/2014/main" id="{312432CD-8F23-4F43-83BC-D8674ABE81B2}"/>
              </a:ext>
            </a:extLst>
          </p:cNvPr>
          <p:cNvSpPr>
            <a:spLocks noGrp="1"/>
          </p:cNvSpPr>
          <p:nvPr>
            <p:ph idx="13"/>
          </p:nvPr>
        </p:nvSpPr>
        <p:spPr/>
        <p:txBody>
          <a:bodyPr/>
          <a:lstStyle/>
          <a:p>
            <a:endParaRPr lang="nl-BE"/>
          </a:p>
        </p:txBody>
      </p:sp>
      <p:pic>
        <p:nvPicPr>
          <p:cNvPr id="4" name="Afbeelding 3">
            <a:extLst>
              <a:ext uri="{FF2B5EF4-FFF2-40B4-BE49-F238E27FC236}">
                <a16:creationId xmlns:a16="http://schemas.microsoft.com/office/drawing/2014/main" id="{F068DEE7-EECA-4226-981A-1CCA961D1EF2}"/>
              </a:ext>
            </a:extLst>
          </p:cNvPr>
          <p:cNvPicPr>
            <a:picLocks noChangeAspect="1"/>
          </p:cNvPicPr>
          <p:nvPr/>
        </p:nvPicPr>
        <p:blipFill>
          <a:blip r:embed="rId3"/>
          <a:stretch>
            <a:fillRect/>
          </a:stretch>
        </p:blipFill>
        <p:spPr>
          <a:xfrm>
            <a:off x="2743200" y="2664496"/>
            <a:ext cx="12146318" cy="4424608"/>
          </a:xfrm>
          <a:prstGeom prst="rect">
            <a:avLst/>
          </a:prstGeom>
        </p:spPr>
      </p:pic>
      <p:sp>
        <p:nvSpPr>
          <p:cNvPr id="12" name="Rechthoek 11">
            <a:extLst>
              <a:ext uri="{FF2B5EF4-FFF2-40B4-BE49-F238E27FC236}">
                <a16:creationId xmlns:a16="http://schemas.microsoft.com/office/drawing/2014/main" id="{7EFA8224-B434-48E5-93DA-9A03809C9BC1}"/>
              </a:ext>
            </a:extLst>
          </p:cNvPr>
          <p:cNvSpPr/>
          <p:nvPr/>
        </p:nvSpPr>
        <p:spPr>
          <a:xfrm>
            <a:off x="5717945" y="4357084"/>
            <a:ext cx="7925808" cy="51971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516459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VOORBEELDEXAMENVRAAG 4</a:t>
            </a:r>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480034" y="1672074"/>
                <a:ext cx="16858641" cy="7662526"/>
              </a:xfrm>
            </p:spPr>
            <p:txBody>
              <a:bodyPr>
                <a:normAutofit/>
              </a:bodyPr>
              <a:lstStyle/>
              <a:p>
                <a:r>
                  <a:rPr lang="nl-BE" b="1" dirty="0"/>
                  <a:t>Chi-kwadraattoets in SPSS</a:t>
                </a:r>
              </a:p>
              <a:p>
                <a:pPr lvl="1"/>
                <a:r>
                  <a:rPr lang="nl-BE" b="1" dirty="0"/>
                  <a:t>Output:</a:t>
                </a:r>
              </a:p>
              <a:p>
                <a:pPr lvl="1"/>
                <a:endParaRPr lang="nl-BE" b="1" dirty="0"/>
              </a:p>
              <a:p>
                <a:pPr lvl="1"/>
                <a:r>
                  <a:rPr lang="nl-BE" b="1" dirty="0"/>
                  <a:t>Assumptie 4 is oké:</a:t>
                </a:r>
              </a:p>
              <a:p>
                <a:pPr lvl="1"/>
                <a:endParaRPr lang="nl-BE" b="1" dirty="0"/>
              </a:p>
              <a:p>
                <a:pPr lvl="1"/>
                <a:endParaRPr lang="nl-BE" b="1" dirty="0"/>
              </a:p>
              <a:p>
                <a:pPr lvl="1"/>
                <a:endParaRPr lang="nl-BE" b="1" dirty="0"/>
              </a:p>
              <a:p>
                <a:pPr lvl="1"/>
                <a:endParaRPr lang="nl-BE" b="1" dirty="0"/>
              </a:p>
              <a:p>
                <a:pPr lvl="1"/>
                <a:endParaRPr lang="nl-BE" b="1" dirty="0"/>
              </a:p>
              <a:p>
                <a:pPr lvl="1"/>
                <a:endParaRPr lang="nl-BE" b="1" dirty="0"/>
              </a:p>
              <a:p>
                <a:pPr lvl="1"/>
                <a14:m>
                  <m:oMath xmlns:m="http://schemas.openxmlformats.org/officeDocument/2006/math">
                    <m:sSup>
                      <m:sSupPr>
                        <m:ctrlPr>
                          <a:rPr lang="nl-BE" b="1" i="1">
                            <a:latin typeface="Cambria Math" panose="02040503050406030204" pitchFamily="18" charset="0"/>
                          </a:rPr>
                        </m:ctrlPr>
                      </m:sSupPr>
                      <m:e>
                        <m:r>
                          <a:rPr lang="nl-BE" b="1" i="1">
                            <a:latin typeface="Cambria Math" panose="02040503050406030204" pitchFamily="18" charset="0"/>
                          </a:rPr>
                          <m:t>𝑿</m:t>
                        </m:r>
                      </m:e>
                      <m:sup>
                        <m:r>
                          <a:rPr lang="nl-BE" b="1" i="1">
                            <a:latin typeface="Cambria Math" panose="02040503050406030204" pitchFamily="18" charset="0"/>
                          </a:rPr>
                          <m:t>𝟐</m:t>
                        </m:r>
                      </m:sup>
                    </m:sSup>
                  </m:oMath>
                </a14:m>
                <a:r>
                  <a:rPr lang="nl-BE" b="1" dirty="0"/>
                  <a:t>-waarde = 173.730</a:t>
                </a:r>
                <a:br>
                  <a:rPr lang="nl-BE" b="1" dirty="0"/>
                </a:br>
                <a:r>
                  <a:rPr lang="nl-BE" u="sng" dirty="0"/>
                  <a:t>2-sided</a:t>
                </a:r>
                <a:r>
                  <a:rPr lang="nl-BE" dirty="0"/>
                  <a:t> p-</a:t>
                </a:r>
                <a:r>
                  <a:rPr lang="nl-BE" dirty="0" err="1"/>
                  <a:t>value</a:t>
                </a:r>
                <a:r>
                  <a:rPr lang="nl-BE" dirty="0"/>
                  <a:t> = &lt;.001</a:t>
                </a:r>
                <a:endParaRPr lang="nl-BE" b="1" dirty="0"/>
              </a:p>
              <a:p>
                <a:pPr lvl="2"/>
                <a:r>
                  <a:rPr lang="nl-BE" dirty="0"/>
                  <a:t>Statistisch significant: maat van effectgrootte </a:t>
                </a:r>
              </a:p>
              <a:p>
                <a:pPr lvl="1"/>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480034" y="1672074"/>
                <a:ext cx="16858641" cy="7662526"/>
              </a:xfrm>
              <a:blipFill>
                <a:blip r:embed="rId3"/>
                <a:stretch>
                  <a:fillRect l="-145" t="-398"/>
                </a:stretch>
              </a:blipFill>
            </p:spPr>
            <p:txBody>
              <a:bodyPr/>
              <a:lstStyle/>
              <a:p>
                <a:r>
                  <a:rPr lang="nl-BE">
                    <a:noFill/>
                  </a:rPr>
                  <a:t> </a:t>
                </a:r>
              </a:p>
            </p:txBody>
          </p:sp>
        </mc:Fallback>
      </mc:AlternateContent>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23</a:t>
            </a:fld>
            <a:endParaRPr lang="en-GB" noProof="0" dirty="0"/>
          </a:p>
        </p:txBody>
      </p:sp>
      <p:sp>
        <p:nvSpPr>
          <p:cNvPr id="2" name="Tijdelijke aanduiding voor inhoud 1">
            <a:extLst>
              <a:ext uri="{FF2B5EF4-FFF2-40B4-BE49-F238E27FC236}">
                <a16:creationId xmlns:a16="http://schemas.microsoft.com/office/drawing/2014/main" id="{220D55F9-10D7-402A-8E76-F68FDF6C6491}"/>
              </a:ext>
            </a:extLst>
          </p:cNvPr>
          <p:cNvSpPr>
            <a:spLocks noGrp="1"/>
          </p:cNvSpPr>
          <p:nvPr>
            <p:ph idx="13"/>
          </p:nvPr>
        </p:nvSpPr>
        <p:spPr/>
        <p:txBody>
          <a:bodyPr/>
          <a:lstStyle/>
          <a:p>
            <a:endParaRPr lang="nl-BE"/>
          </a:p>
        </p:txBody>
      </p:sp>
      <p:pic>
        <p:nvPicPr>
          <p:cNvPr id="4" name="Afbeelding 3">
            <a:extLst>
              <a:ext uri="{FF2B5EF4-FFF2-40B4-BE49-F238E27FC236}">
                <a16:creationId xmlns:a16="http://schemas.microsoft.com/office/drawing/2014/main" id="{B5B98A69-2AF7-41B3-A5B3-0F9AAB10F9F0}"/>
              </a:ext>
            </a:extLst>
          </p:cNvPr>
          <p:cNvPicPr>
            <a:picLocks noChangeAspect="1"/>
          </p:cNvPicPr>
          <p:nvPr/>
        </p:nvPicPr>
        <p:blipFill>
          <a:blip r:embed="rId4"/>
          <a:stretch>
            <a:fillRect/>
          </a:stretch>
        </p:blipFill>
        <p:spPr>
          <a:xfrm>
            <a:off x="6318126" y="2561732"/>
            <a:ext cx="10406644" cy="4977090"/>
          </a:xfrm>
          <a:prstGeom prst="rect">
            <a:avLst/>
          </a:prstGeom>
        </p:spPr>
      </p:pic>
      <p:sp>
        <p:nvSpPr>
          <p:cNvPr id="12" name="Rechthoek 11">
            <a:extLst>
              <a:ext uri="{FF2B5EF4-FFF2-40B4-BE49-F238E27FC236}">
                <a16:creationId xmlns:a16="http://schemas.microsoft.com/office/drawing/2014/main" id="{7DC22053-EA49-4EF0-916C-786DA5B39EBD}"/>
              </a:ext>
            </a:extLst>
          </p:cNvPr>
          <p:cNvSpPr/>
          <p:nvPr/>
        </p:nvSpPr>
        <p:spPr>
          <a:xfrm>
            <a:off x="6318126" y="4056346"/>
            <a:ext cx="6823308" cy="385003"/>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Rechthoek 13">
            <a:extLst>
              <a:ext uri="{FF2B5EF4-FFF2-40B4-BE49-F238E27FC236}">
                <a16:creationId xmlns:a16="http://schemas.microsoft.com/office/drawing/2014/main" id="{28187A47-BA56-4333-841B-20A6EC719798}"/>
              </a:ext>
            </a:extLst>
          </p:cNvPr>
          <p:cNvSpPr/>
          <p:nvPr/>
        </p:nvSpPr>
        <p:spPr>
          <a:xfrm>
            <a:off x="6687368" y="6688109"/>
            <a:ext cx="8804508" cy="385003"/>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54582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410E77-6AF9-416F-826A-E3ABE2462066}"/>
              </a:ext>
            </a:extLst>
          </p:cNvPr>
          <p:cNvSpPr>
            <a:spLocks noGrp="1"/>
          </p:cNvSpPr>
          <p:nvPr>
            <p:ph type="title"/>
          </p:nvPr>
        </p:nvSpPr>
        <p:spPr/>
        <p:txBody>
          <a:bodyPr/>
          <a:lstStyle/>
          <a:p>
            <a:r>
              <a:rPr lang="nl-BE" dirty="0"/>
              <a:t>VOORBEELDEXAMENVRAAG 4</a:t>
            </a:r>
          </a:p>
        </p:txBody>
      </p:sp>
      <p:sp>
        <p:nvSpPr>
          <p:cNvPr id="4" name="Tijdelijke aanduiding voor dianummer 3">
            <a:extLst>
              <a:ext uri="{FF2B5EF4-FFF2-40B4-BE49-F238E27FC236}">
                <a16:creationId xmlns:a16="http://schemas.microsoft.com/office/drawing/2014/main" id="{A70263CD-A4DA-44E3-9C57-E98EAC7F600C}"/>
              </a:ext>
            </a:extLst>
          </p:cNvPr>
          <p:cNvSpPr>
            <a:spLocks noGrp="1"/>
          </p:cNvSpPr>
          <p:nvPr>
            <p:ph type="sldNum" sz="quarter" idx="12"/>
          </p:nvPr>
        </p:nvSpPr>
        <p:spPr/>
        <p:txBody>
          <a:bodyPr/>
          <a:lstStyle/>
          <a:p>
            <a:fld id="{7AE184E0-0BD4-4705-A12B-9B71DDE63301}" type="slidenum">
              <a:rPr lang="en-GB" noProof="0" smtClean="0"/>
              <a:t>24</a:t>
            </a:fld>
            <a:endParaRPr lang="en-GB" noProof="0" dirty="0"/>
          </a:p>
        </p:txBody>
      </p:sp>
      <p:sp>
        <p:nvSpPr>
          <p:cNvPr id="5" name="Tijdelijke aanduiding voor inhoud 4">
            <a:extLst>
              <a:ext uri="{FF2B5EF4-FFF2-40B4-BE49-F238E27FC236}">
                <a16:creationId xmlns:a16="http://schemas.microsoft.com/office/drawing/2014/main" id="{F722372D-AEE4-47F4-8212-86B94D054F30}"/>
              </a:ext>
            </a:extLst>
          </p:cNvPr>
          <p:cNvSpPr>
            <a:spLocks noGrp="1"/>
          </p:cNvSpPr>
          <p:nvPr>
            <p:ph idx="13"/>
          </p:nvPr>
        </p:nvSpPr>
        <p:spPr/>
        <p:txBody>
          <a:bodyPr/>
          <a:lstStyle/>
          <a:p>
            <a:endParaRPr lang="nl-BE"/>
          </a:p>
        </p:txBody>
      </p:sp>
      <p:sp>
        <p:nvSpPr>
          <p:cNvPr id="8" name="Tijdelijke aanduiding voor inhoud 2">
            <a:extLst>
              <a:ext uri="{FF2B5EF4-FFF2-40B4-BE49-F238E27FC236}">
                <a16:creationId xmlns:a16="http://schemas.microsoft.com/office/drawing/2014/main" id="{85F9564A-5658-4BB0-9520-B22AD76AE975}"/>
              </a:ext>
            </a:extLst>
          </p:cNvPr>
          <p:cNvSpPr txBox="1">
            <a:spLocks/>
          </p:cNvSpPr>
          <p:nvPr/>
        </p:nvSpPr>
        <p:spPr>
          <a:xfrm>
            <a:off x="327069" y="4616565"/>
            <a:ext cx="16858641" cy="6864264"/>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gn="l" defTabSz="457200" rtl="0" eaLnBrk="1" latinLnBrk="0" hangingPunct="1">
              <a:lnSpc>
                <a:spcPct val="120000"/>
              </a:lnSpc>
              <a:spcBef>
                <a:spcPts val="300"/>
              </a:spcBef>
              <a:buFont typeface="Wingdings" panose="05000000000000000000" pitchFamily="2" charset="2"/>
              <a:buChar char="Ø"/>
              <a:tabLst/>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algn="l" defTabSz="457200" rtl="0" eaLnBrk="1" latinLnBrk="0" hangingPunct="1">
              <a:lnSpc>
                <a:spcPct val="120000"/>
              </a:lnSpc>
              <a:spcBef>
                <a:spcPts val="300"/>
              </a:spcBef>
              <a:buFont typeface="Wingdings" panose="05000000000000000000" pitchFamily="2" charset="2"/>
              <a:buChar char="Ø"/>
              <a:defRPr sz="2800" kern="1200">
                <a:solidFill>
                  <a:srgbClr val="003366"/>
                </a:solidFill>
                <a:latin typeface="Verdana" panose="020B0604030504040204" pitchFamily="34" charset="0"/>
                <a:ea typeface="Verdana" panose="020B0604030504040204" pitchFamily="34" charset="0"/>
                <a:cs typeface="Verdana" panose="020B0604030504040204" pitchFamily="34" charset="0"/>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86400" indent="0" algn="just">
              <a:buFont typeface="Wingdings" panose="05000000000000000000" pitchFamily="2" charset="2"/>
              <a:buNone/>
            </a:pPr>
            <a:r>
              <a:rPr lang="nl-BE" b="1" dirty="0"/>
              <a:t>BESLUIT</a:t>
            </a:r>
          </a:p>
          <a:p>
            <a:pPr marL="86400" indent="0" algn="just">
              <a:buFont typeface="Wingdings" panose="05000000000000000000" pitchFamily="2" charset="2"/>
              <a:buNone/>
            </a:pPr>
            <a:endParaRPr lang="nl-BE" b="1" dirty="0"/>
          </a:p>
          <a:p>
            <a:pPr marL="86400" indent="0" algn="just">
              <a:buFont typeface="Wingdings" panose="05000000000000000000" pitchFamily="2" charset="2"/>
              <a:buNone/>
            </a:pPr>
            <a:r>
              <a:rPr lang="nl-BE" b="1" dirty="0"/>
              <a:t>“Aan de hand van een </a:t>
            </a:r>
            <a:r>
              <a:rPr lang="nl-BE" b="1" dirty="0" err="1"/>
              <a:t>Chi-kwadraat-toets</a:t>
            </a:r>
            <a:r>
              <a:rPr lang="nl-BE" b="1" dirty="0"/>
              <a:t> werd nagegaan of er een verband is tussen politieke partij-voorkeur en attitude </a:t>
            </a:r>
            <a:r>
              <a:rPr lang="nl-BE" b="1" dirty="0" err="1"/>
              <a:t>tov</a:t>
            </a:r>
            <a:r>
              <a:rPr lang="nl-BE" b="1" dirty="0"/>
              <a:t> wapenbezit. De resultaten tonen aan de 29.4% van de Democraten voorstander is van wapenbezit tegenover 72.2% van de Republikeinen. Dit verschil tussen Democraten en Republikeinen op het vlak van attitude </a:t>
            </a:r>
            <a:r>
              <a:rPr lang="nl-BE" b="1" dirty="0" err="1"/>
              <a:t>tov</a:t>
            </a:r>
            <a:r>
              <a:rPr lang="nl-BE" b="1" dirty="0"/>
              <a:t> wapenbezit is statistisch significant, met </a:t>
            </a:r>
            <a:r>
              <a:rPr lang="nl-BE" b="1" i="1" dirty="0"/>
              <a:t>χ</a:t>
            </a:r>
            <a:r>
              <a:rPr lang="nl-BE" b="1" dirty="0"/>
              <a:t>²(1, </a:t>
            </a:r>
            <a:r>
              <a:rPr lang="nl-BE" b="1" i="1" dirty="0"/>
              <a:t>N</a:t>
            </a:r>
            <a:r>
              <a:rPr lang="nl-BE" b="1" dirty="0"/>
              <a:t>=950) = 173,730; p &lt; .001. De samenhang is matig sterk (</a:t>
            </a:r>
            <a:r>
              <a:rPr lang="nl-BE" b="1" dirty="0" err="1"/>
              <a:t>Phi</a:t>
            </a:r>
            <a:r>
              <a:rPr lang="nl-BE" b="1" dirty="0"/>
              <a:t> = .428; p &lt; .001).”</a:t>
            </a:r>
          </a:p>
        </p:txBody>
      </p:sp>
      <p:pic>
        <p:nvPicPr>
          <p:cNvPr id="10" name="Tijdelijke aanduiding voor inhoud 9">
            <a:extLst>
              <a:ext uri="{FF2B5EF4-FFF2-40B4-BE49-F238E27FC236}">
                <a16:creationId xmlns:a16="http://schemas.microsoft.com/office/drawing/2014/main" id="{BD2621C4-9CBE-40B1-978C-82E04915A34B}"/>
              </a:ext>
            </a:extLst>
          </p:cNvPr>
          <p:cNvPicPr>
            <a:picLocks noGrp="1" noChangeAspect="1"/>
          </p:cNvPicPr>
          <p:nvPr>
            <p:ph idx="1"/>
          </p:nvPr>
        </p:nvPicPr>
        <p:blipFill>
          <a:blip r:embed="rId3"/>
          <a:stretch>
            <a:fillRect/>
          </a:stretch>
        </p:blipFill>
        <p:spPr>
          <a:xfrm>
            <a:off x="4236098" y="1628238"/>
            <a:ext cx="8144244" cy="2988327"/>
          </a:xfrm>
          <a:prstGeom prst="rect">
            <a:avLst/>
          </a:prstGeom>
        </p:spPr>
      </p:pic>
      <p:sp>
        <p:nvSpPr>
          <p:cNvPr id="11" name="Rechthoek 10">
            <a:extLst>
              <a:ext uri="{FF2B5EF4-FFF2-40B4-BE49-F238E27FC236}">
                <a16:creationId xmlns:a16="http://schemas.microsoft.com/office/drawing/2014/main" id="{61DDCE56-7CA2-482A-AAF0-31F09C87BE56}"/>
              </a:ext>
            </a:extLst>
          </p:cNvPr>
          <p:cNvSpPr/>
          <p:nvPr/>
        </p:nvSpPr>
        <p:spPr>
          <a:xfrm>
            <a:off x="5249595" y="3122401"/>
            <a:ext cx="7886618" cy="40861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3" name="Afbeelding 2">
            <a:extLst>
              <a:ext uri="{FF2B5EF4-FFF2-40B4-BE49-F238E27FC236}">
                <a16:creationId xmlns:a16="http://schemas.microsoft.com/office/drawing/2014/main" id="{EC46C59E-D898-45F5-BC88-594F875E3D43}"/>
              </a:ext>
            </a:extLst>
          </p:cNvPr>
          <p:cNvPicPr>
            <a:picLocks noChangeAspect="1"/>
          </p:cNvPicPr>
          <p:nvPr/>
        </p:nvPicPr>
        <p:blipFill>
          <a:blip r:embed="rId4"/>
          <a:stretch>
            <a:fillRect/>
          </a:stretch>
        </p:blipFill>
        <p:spPr>
          <a:xfrm>
            <a:off x="11674759" y="83978"/>
            <a:ext cx="5510951" cy="3038423"/>
          </a:xfrm>
          <a:prstGeom prst="rect">
            <a:avLst/>
          </a:prstGeom>
        </p:spPr>
      </p:pic>
    </p:spTree>
    <p:extLst>
      <p:ext uri="{BB962C8B-B14F-4D97-AF65-F5344CB8AC3E}">
        <p14:creationId xmlns:p14="http://schemas.microsoft.com/office/powerpoint/2010/main" val="358983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DD7D90-3304-4A7B-BB4A-B42D74201853}"/>
              </a:ext>
            </a:extLst>
          </p:cNvPr>
          <p:cNvSpPr>
            <a:spLocks noGrp="1"/>
          </p:cNvSpPr>
          <p:nvPr>
            <p:ph type="title"/>
          </p:nvPr>
        </p:nvSpPr>
        <p:spPr/>
        <p:txBody>
          <a:bodyPr/>
          <a:lstStyle/>
          <a:p>
            <a:r>
              <a:rPr lang="nl-BE" dirty="0"/>
              <a:t>VOORBEELDEXAMENVRAAG 4</a:t>
            </a:r>
          </a:p>
        </p:txBody>
      </p:sp>
      <p:sp>
        <p:nvSpPr>
          <p:cNvPr id="3" name="Tijdelijke aanduiding voor inhoud 2">
            <a:extLst>
              <a:ext uri="{FF2B5EF4-FFF2-40B4-BE49-F238E27FC236}">
                <a16:creationId xmlns:a16="http://schemas.microsoft.com/office/drawing/2014/main" id="{3C5159D4-1F55-4B7C-8A39-F13086D20463}"/>
              </a:ext>
            </a:extLst>
          </p:cNvPr>
          <p:cNvSpPr>
            <a:spLocks noGrp="1"/>
          </p:cNvSpPr>
          <p:nvPr>
            <p:ph idx="1"/>
          </p:nvPr>
        </p:nvSpPr>
        <p:spPr/>
        <p:txBody>
          <a:bodyPr>
            <a:normAutofit lnSpcReduction="10000"/>
          </a:bodyPr>
          <a:lstStyle/>
          <a:p>
            <a:pPr algn="just"/>
            <a:r>
              <a:rPr lang="nl-BE" b="1" dirty="0"/>
              <a:t>Welke van de onderstaande uitspraken is FOUT?</a:t>
            </a:r>
          </a:p>
          <a:p>
            <a:pPr marL="86400" indent="0" algn="just">
              <a:buNone/>
            </a:pPr>
            <a:r>
              <a:rPr lang="nl-BE" u="sng" dirty="0"/>
              <a:t>MAAK 1 KEUZE</a:t>
            </a:r>
          </a:p>
          <a:p>
            <a:pPr marL="86400" indent="0" algn="just">
              <a:buNone/>
            </a:pPr>
            <a:endParaRPr lang="nl-BE" b="1" dirty="0"/>
          </a:p>
          <a:p>
            <a:pPr marL="600750" indent="-514350" algn="just">
              <a:buAutoNum type="arabicPeriod"/>
            </a:pPr>
            <a:r>
              <a:rPr lang="nl-BE" dirty="0"/>
              <a:t>De relevante maat van effectgrootte bedraagt ,428 en wijst op een medium verband tussen politieke lidmaatschap en attitude persoonlijk wapenbezit.</a:t>
            </a:r>
          </a:p>
          <a:p>
            <a:pPr marL="600750" indent="-514350" algn="just">
              <a:buAutoNum type="arabicPeriod"/>
            </a:pPr>
            <a:r>
              <a:rPr lang="nl-BE" dirty="0"/>
              <a:t>Er is een statistisch significante samenhang tussen politieke lidmaatschap en attitude persoonlijk wapenbezit. De relevante toetsingsgrootheid bedraagt 173,730 met een bijhorende </a:t>
            </a:r>
            <a:r>
              <a:rPr lang="nl-BE" i="1" dirty="0"/>
              <a:t>p</a:t>
            </a:r>
            <a:r>
              <a:rPr lang="nl-BE" dirty="0"/>
              <a:t>-waarde &lt;,001. </a:t>
            </a:r>
          </a:p>
          <a:p>
            <a:pPr marL="600750" indent="-514350" algn="just">
              <a:buAutoNum type="arabicPeriod"/>
            </a:pPr>
            <a:r>
              <a:rPr lang="nl-BE" dirty="0"/>
              <a:t>Van de ondervraagde Republikeinen rapporteert 72,2% een positieve attitude </a:t>
            </a:r>
            <a:r>
              <a:rPr lang="nl-BE" dirty="0" err="1"/>
              <a:t>tav</a:t>
            </a:r>
            <a:r>
              <a:rPr lang="nl-BE" dirty="0"/>
              <a:t> persoonlijk wapenbezit, tegenover 29,4% van de ondervraagde Democraten. Het verschil tussen beide groepen is statistisch significant.</a:t>
            </a:r>
          </a:p>
          <a:p>
            <a:pPr marL="600750" indent="-514350" algn="just">
              <a:buFont typeface="Wingdings" panose="05000000000000000000" pitchFamily="2" charset="2"/>
              <a:buAutoNum type="arabicPeriod"/>
            </a:pPr>
            <a:r>
              <a:rPr lang="nl-BE" b="1" dirty="0">
                <a:solidFill>
                  <a:srgbClr val="C00000"/>
                </a:solidFill>
                <a:highlight>
                  <a:srgbClr val="FFFF00"/>
                </a:highlight>
              </a:rPr>
              <a:t>Er is niet voldaan aan de assumpties om de relevante toetsingsgrootheid te berekenen.</a:t>
            </a:r>
          </a:p>
          <a:p>
            <a:pPr marL="600750" indent="-514350" algn="just">
              <a:buAutoNum type="arabicPeriod"/>
            </a:pPr>
            <a:endParaRPr lang="nl-BE" b="1" dirty="0"/>
          </a:p>
          <a:p>
            <a:pPr lvl="0" algn="just"/>
            <a:endParaRPr lang="nl-BE" b="1" i="1" dirty="0"/>
          </a:p>
          <a:p>
            <a:endParaRPr lang="nl-BE" dirty="0"/>
          </a:p>
        </p:txBody>
      </p:sp>
      <p:sp>
        <p:nvSpPr>
          <p:cNvPr id="4" name="Tijdelijke aanduiding voor dianummer 3">
            <a:extLst>
              <a:ext uri="{FF2B5EF4-FFF2-40B4-BE49-F238E27FC236}">
                <a16:creationId xmlns:a16="http://schemas.microsoft.com/office/drawing/2014/main" id="{A6AF4854-AC40-4BD1-B5EB-FAF90A05DB63}"/>
              </a:ext>
            </a:extLst>
          </p:cNvPr>
          <p:cNvSpPr>
            <a:spLocks noGrp="1"/>
          </p:cNvSpPr>
          <p:nvPr>
            <p:ph type="sldNum" sz="quarter" idx="12"/>
          </p:nvPr>
        </p:nvSpPr>
        <p:spPr/>
        <p:txBody>
          <a:bodyPr/>
          <a:lstStyle/>
          <a:p>
            <a:fld id="{7AE184E0-0BD4-4705-A12B-9B71DDE63301}" type="slidenum">
              <a:rPr lang="en-GB" noProof="0" smtClean="0"/>
              <a:t>25</a:t>
            </a:fld>
            <a:endParaRPr lang="en-GB" noProof="0" dirty="0"/>
          </a:p>
        </p:txBody>
      </p:sp>
      <p:sp>
        <p:nvSpPr>
          <p:cNvPr id="5" name="Tijdelijke aanduiding voor inhoud 4">
            <a:extLst>
              <a:ext uri="{FF2B5EF4-FFF2-40B4-BE49-F238E27FC236}">
                <a16:creationId xmlns:a16="http://schemas.microsoft.com/office/drawing/2014/main" id="{7609E6AD-CF27-44C8-88CB-03944D358FC8}"/>
              </a:ext>
            </a:extLst>
          </p:cNvPr>
          <p:cNvSpPr>
            <a:spLocks noGrp="1"/>
          </p:cNvSpPr>
          <p:nvPr>
            <p:ph idx="13"/>
          </p:nvPr>
        </p:nvSpPr>
        <p:spPr/>
        <p:txBody>
          <a:bodyPr/>
          <a:lstStyle/>
          <a:p>
            <a:endParaRPr lang="nl-BE"/>
          </a:p>
        </p:txBody>
      </p:sp>
    </p:spTree>
    <p:extLst>
      <p:ext uri="{BB962C8B-B14F-4D97-AF65-F5344CB8AC3E}">
        <p14:creationId xmlns:p14="http://schemas.microsoft.com/office/powerpoint/2010/main" val="846864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167257-3A31-4EB9-9DD6-B730B1403094}"/>
              </a:ext>
            </a:extLst>
          </p:cNvPr>
          <p:cNvSpPr>
            <a:spLocks noGrp="1"/>
          </p:cNvSpPr>
          <p:nvPr>
            <p:ph type="title"/>
          </p:nvPr>
        </p:nvSpPr>
        <p:spPr/>
        <p:txBody>
          <a:bodyPr/>
          <a:lstStyle/>
          <a:p>
            <a:r>
              <a:rPr lang="nl-BE" dirty="0"/>
              <a:t>VOORBEELDEXAMENVRAAG 5</a:t>
            </a:r>
          </a:p>
        </p:txBody>
      </p:sp>
      <p:sp>
        <p:nvSpPr>
          <p:cNvPr id="4" name="Tijdelijke aanduiding voor dianummer 3">
            <a:extLst>
              <a:ext uri="{FF2B5EF4-FFF2-40B4-BE49-F238E27FC236}">
                <a16:creationId xmlns:a16="http://schemas.microsoft.com/office/drawing/2014/main" id="{50079D5C-9103-429A-9854-42FABE272ED4}"/>
              </a:ext>
            </a:extLst>
          </p:cNvPr>
          <p:cNvSpPr>
            <a:spLocks noGrp="1"/>
          </p:cNvSpPr>
          <p:nvPr>
            <p:ph type="sldNum" sz="quarter" idx="12"/>
          </p:nvPr>
        </p:nvSpPr>
        <p:spPr/>
        <p:txBody>
          <a:bodyPr/>
          <a:lstStyle/>
          <a:p>
            <a:fld id="{7AE184E0-0BD4-4705-A12B-9B71DDE63301}" type="slidenum">
              <a:rPr lang="en-GB" noProof="0" smtClean="0"/>
              <a:t>26</a:t>
            </a:fld>
            <a:endParaRPr lang="en-GB" noProof="0" dirty="0"/>
          </a:p>
        </p:txBody>
      </p:sp>
      <p:sp>
        <p:nvSpPr>
          <p:cNvPr id="5" name="Tijdelijke aanduiding voor inhoud 4">
            <a:extLst>
              <a:ext uri="{FF2B5EF4-FFF2-40B4-BE49-F238E27FC236}">
                <a16:creationId xmlns:a16="http://schemas.microsoft.com/office/drawing/2014/main" id="{1AEB8F23-64B0-4CAF-A431-745F2BEBA5C7}"/>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08EB717D-2DDE-4C42-8CDE-B6ADE6A4386A}"/>
              </a:ext>
            </a:extLst>
          </p:cNvPr>
          <p:cNvSpPr>
            <a:spLocks noGrp="1"/>
          </p:cNvSpPr>
          <p:nvPr>
            <p:ph idx="1"/>
          </p:nvPr>
        </p:nvSpPr>
        <p:spPr>
          <a:xfrm>
            <a:off x="327025" y="1816100"/>
            <a:ext cx="16859250" cy="6864350"/>
          </a:xfrm>
        </p:spPr>
        <p:txBody>
          <a:bodyPr>
            <a:normAutofit fontScale="92500" lnSpcReduction="20000"/>
          </a:bodyPr>
          <a:lstStyle/>
          <a:p>
            <a:pPr marL="85725" indent="0" algn="just">
              <a:buNone/>
            </a:pPr>
            <a:r>
              <a:rPr lang="nl-BE" sz="3200" b="1" dirty="0">
                <a:solidFill>
                  <a:srgbClr val="002060"/>
                </a:solidFill>
              </a:rPr>
              <a:t>Voer een factoranalyse uit op de variabelen V4_1_Support 1 tot en met V4_4_Support4 en op de variabelen V7_1_Mijdgedrag1 tot en met V7_3_Mijdgedrag3.  </a:t>
            </a:r>
            <a:r>
              <a:rPr lang="nl-BE" sz="3200" b="1" u="sng" dirty="0">
                <a:solidFill>
                  <a:srgbClr val="002060"/>
                </a:solidFill>
              </a:rPr>
              <a:t>(data: Buurtbewoners)</a:t>
            </a:r>
          </a:p>
          <a:p>
            <a:pPr marL="85725" indent="0" algn="just">
              <a:buNone/>
            </a:pPr>
            <a:r>
              <a:rPr lang="nl-BE" sz="3200" b="1" u="sng" dirty="0">
                <a:solidFill>
                  <a:srgbClr val="002060"/>
                </a:solidFill>
              </a:rPr>
              <a:t>Welke van onderstaande uitspraken is WAAR ? (</a:t>
            </a:r>
            <a:r>
              <a:rPr lang="nl-BE" sz="3200" u="sng" dirty="0">
                <a:solidFill>
                  <a:srgbClr val="002060"/>
                </a:solidFill>
              </a:rPr>
              <a:t>Maak 1 keuze</a:t>
            </a:r>
            <a:r>
              <a:rPr lang="nl-BE" sz="3200" b="1" u="sng" dirty="0">
                <a:solidFill>
                  <a:srgbClr val="002060"/>
                </a:solidFill>
              </a:rPr>
              <a:t>)</a:t>
            </a:r>
          </a:p>
          <a:p>
            <a:pPr marL="85725" indent="0">
              <a:buNone/>
            </a:pPr>
            <a:endParaRPr lang="nl-BE" sz="3200" dirty="0">
              <a:solidFill>
                <a:srgbClr val="002060"/>
              </a:solidFill>
            </a:endParaRPr>
          </a:p>
          <a:p>
            <a:pPr marL="600075" indent="-514350">
              <a:buAutoNum type="arabicPeriod"/>
            </a:pPr>
            <a:r>
              <a:rPr lang="nl-BE" sz="3200" dirty="0">
                <a:solidFill>
                  <a:srgbClr val="002060"/>
                </a:solidFill>
              </a:rPr>
              <a:t>   Er zijn twee factoren te onderscheiden die samen 65,461% van de variantie 	 	 	 verklaren.</a:t>
            </a:r>
          </a:p>
          <a:p>
            <a:pPr marL="600075" indent="-514350">
              <a:buAutoNum type="arabicPeriod"/>
            </a:pPr>
            <a:endParaRPr lang="nl-BE" sz="3200" dirty="0">
              <a:solidFill>
                <a:srgbClr val="002060"/>
              </a:solidFill>
            </a:endParaRPr>
          </a:p>
          <a:p>
            <a:pPr marL="85725" indent="0">
              <a:buNone/>
            </a:pPr>
            <a:r>
              <a:rPr lang="nl-BE" sz="3200" dirty="0">
                <a:solidFill>
                  <a:srgbClr val="002060"/>
                </a:solidFill>
              </a:rPr>
              <a:t>2.     Variabele Support1 heeft een goede lading op Factor 1 met een factorlading 				  .721</a:t>
            </a:r>
          </a:p>
          <a:p>
            <a:pPr marL="85725" indent="0">
              <a:buNone/>
            </a:pPr>
            <a:endParaRPr lang="nl-BE" sz="3200" dirty="0">
              <a:solidFill>
                <a:srgbClr val="002060"/>
              </a:solidFill>
            </a:endParaRPr>
          </a:p>
          <a:p>
            <a:pPr marL="85725" indent="0">
              <a:buNone/>
            </a:pPr>
            <a:r>
              <a:rPr lang="nl-BE" sz="3200" dirty="0">
                <a:solidFill>
                  <a:srgbClr val="002060"/>
                </a:solidFill>
              </a:rPr>
              <a:t>3.     Factor 2 verklaart meer variantie dan factor 1</a:t>
            </a:r>
          </a:p>
          <a:p>
            <a:pPr marL="85725" indent="0">
              <a:buNone/>
            </a:pPr>
            <a:endParaRPr lang="nl-BE" sz="3200" dirty="0">
              <a:solidFill>
                <a:srgbClr val="002060"/>
              </a:solidFill>
            </a:endParaRPr>
          </a:p>
          <a:p>
            <a:pPr marL="85725" indent="0">
              <a:buNone/>
            </a:pPr>
            <a:r>
              <a:rPr lang="nl-BE" sz="3200" dirty="0">
                <a:solidFill>
                  <a:srgbClr val="002060"/>
                </a:solidFill>
              </a:rPr>
              <a:t>4.     Geen van bovenstaande</a:t>
            </a:r>
            <a:r>
              <a:rPr lang="nl-BE" dirty="0">
                <a:solidFill>
                  <a:srgbClr val="002060"/>
                </a:solidFill>
              </a:rPr>
              <a:t>	</a:t>
            </a:r>
            <a:r>
              <a:rPr lang="nl-BE" b="1" dirty="0">
                <a:solidFill>
                  <a:srgbClr val="002060"/>
                </a:solidFill>
              </a:rPr>
              <a:t>   </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spTree>
    <p:extLst>
      <p:ext uri="{BB962C8B-B14F-4D97-AF65-F5344CB8AC3E}">
        <p14:creationId xmlns:p14="http://schemas.microsoft.com/office/powerpoint/2010/main" val="2935272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167257-3A31-4EB9-9DD6-B730B1403094}"/>
              </a:ext>
            </a:extLst>
          </p:cNvPr>
          <p:cNvSpPr>
            <a:spLocks noGrp="1"/>
          </p:cNvSpPr>
          <p:nvPr>
            <p:ph type="title"/>
          </p:nvPr>
        </p:nvSpPr>
        <p:spPr/>
        <p:txBody>
          <a:bodyPr/>
          <a:lstStyle/>
          <a:p>
            <a:r>
              <a:rPr lang="nl-BE" dirty="0"/>
              <a:t>VOORBEELDEXAMENVRAAG 5</a:t>
            </a:r>
          </a:p>
        </p:txBody>
      </p:sp>
      <p:sp>
        <p:nvSpPr>
          <p:cNvPr id="4" name="Tijdelijke aanduiding voor dianummer 3">
            <a:extLst>
              <a:ext uri="{FF2B5EF4-FFF2-40B4-BE49-F238E27FC236}">
                <a16:creationId xmlns:a16="http://schemas.microsoft.com/office/drawing/2014/main" id="{50079D5C-9103-429A-9854-42FABE272ED4}"/>
              </a:ext>
            </a:extLst>
          </p:cNvPr>
          <p:cNvSpPr>
            <a:spLocks noGrp="1"/>
          </p:cNvSpPr>
          <p:nvPr>
            <p:ph type="sldNum" sz="quarter" idx="12"/>
          </p:nvPr>
        </p:nvSpPr>
        <p:spPr/>
        <p:txBody>
          <a:bodyPr/>
          <a:lstStyle/>
          <a:p>
            <a:fld id="{7AE184E0-0BD4-4705-A12B-9B71DDE63301}" type="slidenum">
              <a:rPr lang="en-GB" noProof="0" smtClean="0"/>
              <a:t>27</a:t>
            </a:fld>
            <a:endParaRPr lang="en-GB" noProof="0" dirty="0"/>
          </a:p>
        </p:txBody>
      </p:sp>
      <p:sp>
        <p:nvSpPr>
          <p:cNvPr id="5" name="Tijdelijke aanduiding voor inhoud 4">
            <a:extLst>
              <a:ext uri="{FF2B5EF4-FFF2-40B4-BE49-F238E27FC236}">
                <a16:creationId xmlns:a16="http://schemas.microsoft.com/office/drawing/2014/main" id="{1AEB8F23-64B0-4CAF-A431-745F2BEBA5C7}"/>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08EB717D-2DDE-4C42-8CDE-B6ADE6A4386A}"/>
              </a:ext>
            </a:extLst>
          </p:cNvPr>
          <p:cNvSpPr>
            <a:spLocks noGrp="1"/>
          </p:cNvSpPr>
          <p:nvPr>
            <p:ph idx="1"/>
          </p:nvPr>
        </p:nvSpPr>
        <p:spPr>
          <a:xfrm>
            <a:off x="327025" y="1816100"/>
            <a:ext cx="16859250" cy="6864350"/>
          </a:xfrm>
        </p:spPr>
        <p:txBody>
          <a:bodyPr>
            <a:normAutofit fontScale="92500" lnSpcReduction="20000"/>
          </a:bodyPr>
          <a:lstStyle/>
          <a:p>
            <a:pPr marL="85725" indent="0" algn="just">
              <a:buNone/>
            </a:pPr>
            <a:r>
              <a:rPr lang="nl-BE" sz="3200" b="1" dirty="0">
                <a:solidFill>
                  <a:srgbClr val="002060"/>
                </a:solidFill>
              </a:rPr>
              <a:t>Voer een factoranalyse uit op de variabelen V4_1_Support 1 tot en met V4_4_Support4 en op de variabelen V7_1_Mijdgedrag1 tot en met V7_3_Mijdgedrag3.  </a:t>
            </a:r>
            <a:r>
              <a:rPr lang="nl-BE" sz="3200" b="1" u="sng" dirty="0">
                <a:solidFill>
                  <a:srgbClr val="002060"/>
                </a:solidFill>
              </a:rPr>
              <a:t>(data: Buurtbewoners)</a:t>
            </a:r>
          </a:p>
          <a:p>
            <a:pPr marL="85725" indent="0" algn="just">
              <a:buNone/>
            </a:pPr>
            <a:r>
              <a:rPr lang="nl-BE" sz="3200" b="1" u="sng" dirty="0">
                <a:solidFill>
                  <a:srgbClr val="002060"/>
                </a:solidFill>
              </a:rPr>
              <a:t>Welke van onderstaande uitspraken is WAAR ? (</a:t>
            </a:r>
            <a:r>
              <a:rPr lang="nl-BE" sz="3200" u="sng" dirty="0">
                <a:solidFill>
                  <a:srgbClr val="002060"/>
                </a:solidFill>
              </a:rPr>
              <a:t>Maak 1 keuze</a:t>
            </a:r>
            <a:r>
              <a:rPr lang="nl-BE" sz="3200" b="1" u="sng" dirty="0">
                <a:solidFill>
                  <a:srgbClr val="002060"/>
                </a:solidFill>
              </a:rPr>
              <a:t>)</a:t>
            </a:r>
          </a:p>
          <a:p>
            <a:pPr marL="85725" indent="0">
              <a:buNone/>
            </a:pPr>
            <a:endParaRPr lang="nl-BE" sz="3200" dirty="0">
              <a:solidFill>
                <a:srgbClr val="002060"/>
              </a:solidFill>
            </a:endParaRPr>
          </a:p>
          <a:p>
            <a:pPr marL="600075" indent="-514350">
              <a:buAutoNum type="arabicPeriod"/>
            </a:pPr>
            <a:r>
              <a:rPr lang="nl-BE" sz="3200" dirty="0">
                <a:solidFill>
                  <a:srgbClr val="002060"/>
                </a:solidFill>
              </a:rPr>
              <a:t>   Er zijn twee factoren te onderscheiden die samen 65,461% van de variantie 	 	 	 verklaren.</a:t>
            </a:r>
          </a:p>
          <a:p>
            <a:pPr marL="600075" indent="-514350">
              <a:buAutoNum type="arabicPeriod"/>
            </a:pPr>
            <a:endParaRPr lang="nl-BE" sz="3200" dirty="0">
              <a:solidFill>
                <a:srgbClr val="002060"/>
              </a:solidFill>
            </a:endParaRPr>
          </a:p>
          <a:p>
            <a:pPr marL="85725" indent="0">
              <a:buNone/>
            </a:pPr>
            <a:r>
              <a:rPr lang="nl-BE" sz="3200" dirty="0">
                <a:solidFill>
                  <a:srgbClr val="002060"/>
                </a:solidFill>
              </a:rPr>
              <a:t>2.     Variabele Support1 heeft een goede lading op Factor 1 met een factorlading 				  .721</a:t>
            </a:r>
          </a:p>
          <a:p>
            <a:pPr marL="85725" indent="0">
              <a:buNone/>
            </a:pPr>
            <a:endParaRPr lang="nl-BE" sz="3200" dirty="0">
              <a:solidFill>
                <a:srgbClr val="002060"/>
              </a:solidFill>
            </a:endParaRPr>
          </a:p>
          <a:p>
            <a:pPr marL="85725" indent="0">
              <a:buNone/>
            </a:pPr>
            <a:r>
              <a:rPr lang="nl-BE" sz="3200" dirty="0">
                <a:solidFill>
                  <a:srgbClr val="002060"/>
                </a:solidFill>
              </a:rPr>
              <a:t>3.     Factor 2 verklaart meer variantie dan Factor 1</a:t>
            </a:r>
          </a:p>
          <a:p>
            <a:pPr marL="85725" indent="0">
              <a:buNone/>
            </a:pPr>
            <a:endParaRPr lang="nl-BE" sz="3200" dirty="0">
              <a:solidFill>
                <a:srgbClr val="002060"/>
              </a:solidFill>
            </a:endParaRPr>
          </a:p>
          <a:p>
            <a:pPr marL="85725" indent="0">
              <a:buNone/>
            </a:pPr>
            <a:r>
              <a:rPr lang="nl-BE" sz="3200" b="1" dirty="0">
                <a:solidFill>
                  <a:srgbClr val="C00000"/>
                </a:solidFill>
                <a:highlight>
                  <a:srgbClr val="FFFF00"/>
                </a:highlight>
              </a:rPr>
              <a:t>4.     Geen van bovenstaande</a:t>
            </a:r>
            <a:r>
              <a:rPr lang="nl-BE" dirty="0">
                <a:solidFill>
                  <a:srgbClr val="002060"/>
                </a:solidFill>
                <a:highlight>
                  <a:srgbClr val="FFFF00"/>
                </a:highlight>
              </a:rPr>
              <a:t>	</a:t>
            </a:r>
            <a:r>
              <a:rPr lang="nl-BE" b="1" dirty="0">
                <a:solidFill>
                  <a:srgbClr val="002060"/>
                </a:solidFill>
              </a:rPr>
              <a:t>   </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spTree>
    <p:extLst>
      <p:ext uri="{BB962C8B-B14F-4D97-AF65-F5344CB8AC3E}">
        <p14:creationId xmlns:p14="http://schemas.microsoft.com/office/powerpoint/2010/main" val="2321338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D2A01D-B04B-48B8-B480-DA2F9E5D5425}"/>
              </a:ext>
            </a:extLst>
          </p:cNvPr>
          <p:cNvSpPr>
            <a:spLocks noGrp="1"/>
          </p:cNvSpPr>
          <p:nvPr>
            <p:ph type="title"/>
          </p:nvPr>
        </p:nvSpPr>
        <p:spPr/>
        <p:txBody>
          <a:bodyPr/>
          <a:lstStyle/>
          <a:p>
            <a:r>
              <a:rPr lang="nl-BE" dirty="0"/>
              <a:t>VOORBEELDEXAMENVRAAG 6</a:t>
            </a:r>
          </a:p>
        </p:txBody>
      </p:sp>
      <p:sp>
        <p:nvSpPr>
          <p:cNvPr id="4" name="Tijdelijke aanduiding voor dianummer 3">
            <a:extLst>
              <a:ext uri="{FF2B5EF4-FFF2-40B4-BE49-F238E27FC236}">
                <a16:creationId xmlns:a16="http://schemas.microsoft.com/office/drawing/2014/main" id="{16BF525A-4DE5-49DF-8E06-3923128242EE}"/>
              </a:ext>
            </a:extLst>
          </p:cNvPr>
          <p:cNvSpPr>
            <a:spLocks noGrp="1"/>
          </p:cNvSpPr>
          <p:nvPr>
            <p:ph type="sldNum" sz="quarter" idx="12"/>
          </p:nvPr>
        </p:nvSpPr>
        <p:spPr/>
        <p:txBody>
          <a:bodyPr/>
          <a:lstStyle/>
          <a:p>
            <a:fld id="{7AE184E0-0BD4-4705-A12B-9B71DDE63301}" type="slidenum">
              <a:rPr lang="en-GB" noProof="0" smtClean="0"/>
              <a:t>28</a:t>
            </a:fld>
            <a:endParaRPr lang="en-GB" noProof="0" dirty="0"/>
          </a:p>
        </p:txBody>
      </p:sp>
      <p:sp>
        <p:nvSpPr>
          <p:cNvPr id="5" name="Tijdelijke aanduiding voor inhoud 4">
            <a:extLst>
              <a:ext uri="{FF2B5EF4-FFF2-40B4-BE49-F238E27FC236}">
                <a16:creationId xmlns:a16="http://schemas.microsoft.com/office/drawing/2014/main" id="{5915A302-12AD-4785-ABBB-88E84BB9B23F}"/>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91CFBB3F-77E0-47DE-B964-65C9EEC68A01}"/>
              </a:ext>
            </a:extLst>
          </p:cNvPr>
          <p:cNvSpPr>
            <a:spLocks noGrp="1"/>
          </p:cNvSpPr>
          <p:nvPr>
            <p:ph idx="1"/>
          </p:nvPr>
        </p:nvSpPr>
        <p:spPr>
          <a:xfrm>
            <a:off x="327025" y="1816100"/>
            <a:ext cx="16859250" cy="6864350"/>
          </a:xfrm>
        </p:spPr>
        <p:txBody>
          <a:bodyPr>
            <a:normAutofit fontScale="70000" lnSpcReduction="20000"/>
          </a:bodyPr>
          <a:lstStyle/>
          <a:p>
            <a:pPr marL="85725" indent="0" algn="just">
              <a:buNone/>
            </a:pPr>
            <a:r>
              <a:rPr lang="nl-BE" sz="3200" b="1" dirty="0">
                <a:solidFill>
                  <a:srgbClr val="002060"/>
                </a:solidFill>
                <a:highlight>
                  <a:srgbClr val="FFFF00"/>
                </a:highlight>
              </a:rPr>
              <a:t>Gebruik databestand</a:t>
            </a:r>
            <a:r>
              <a:rPr lang="nl-BE" sz="3200" b="1" u="sng" dirty="0">
                <a:solidFill>
                  <a:srgbClr val="002060"/>
                </a:solidFill>
                <a:highlight>
                  <a:srgbClr val="FFFF00"/>
                </a:highlight>
              </a:rPr>
              <a:t>: </a:t>
            </a:r>
            <a:r>
              <a:rPr lang="nl-BE" sz="3200" b="1" u="sng" dirty="0" err="1">
                <a:solidFill>
                  <a:srgbClr val="002060"/>
                </a:solidFill>
                <a:highlight>
                  <a:srgbClr val="FFFF00"/>
                </a:highlight>
              </a:rPr>
              <a:t>Buurtbewoners.zsav</a:t>
            </a:r>
            <a:endParaRPr lang="nl-BE" sz="3200" b="1" dirty="0">
              <a:solidFill>
                <a:srgbClr val="002060"/>
              </a:solidFill>
              <a:highlight>
                <a:srgbClr val="FFFF00"/>
              </a:highlight>
            </a:endParaRPr>
          </a:p>
          <a:p>
            <a:pPr marL="85725" indent="0" algn="just">
              <a:buNone/>
            </a:pPr>
            <a:r>
              <a:rPr lang="nl-BE" sz="3200" b="1" dirty="0">
                <a:solidFill>
                  <a:srgbClr val="002060"/>
                </a:solidFill>
              </a:rPr>
              <a:t>Op basis van de item-vragen V14_1_Groen1 tot en met V14_3_Groen3 kan een schaal </a:t>
            </a:r>
            <a:r>
              <a:rPr lang="nl-BE" sz="3200" b="1" i="1" dirty="0" err="1">
                <a:solidFill>
                  <a:srgbClr val="002060"/>
                </a:solidFill>
              </a:rPr>
              <a:t>perceptie_groen</a:t>
            </a:r>
            <a:r>
              <a:rPr lang="nl-BE" sz="3200" b="1" i="1" dirty="0">
                <a:solidFill>
                  <a:srgbClr val="002060"/>
                </a:solidFill>
              </a:rPr>
              <a:t> in de straat </a:t>
            </a:r>
            <a:r>
              <a:rPr lang="nl-BE" sz="3200" b="1" dirty="0">
                <a:solidFill>
                  <a:srgbClr val="002060"/>
                </a:solidFill>
              </a:rPr>
              <a:t>gemaakt worden, waarbij hoge scores op de schaal verwijzen naar een positieve perceptie.</a:t>
            </a:r>
          </a:p>
          <a:p>
            <a:pPr marL="85725" indent="0" algn="just">
              <a:buNone/>
            </a:pPr>
            <a:endParaRPr lang="nl-BE" sz="3200" dirty="0">
              <a:solidFill>
                <a:srgbClr val="002060"/>
              </a:solidFill>
            </a:endParaRPr>
          </a:p>
          <a:p>
            <a:pPr marL="85725" indent="0" algn="just">
              <a:buNone/>
            </a:pPr>
            <a:r>
              <a:rPr lang="nl-BE" sz="3200" b="1" u="sng" dirty="0">
                <a:solidFill>
                  <a:srgbClr val="002060"/>
                </a:solidFill>
              </a:rPr>
              <a:t>Welke van de volgende uitspraken is JUIST (</a:t>
            </a:r>
            <a:r>
              <a:rPr lang="nl-BE" sz="3200" u="sng" dirty="0">
                <a:solidFill>
                  <a:srgbClr val="002060"/>
                </a:solidFill>
              </a:rPr>
              <a:t>Maak 1 keuze</a:t>
            </a:r>
            <a:r>
              <a:rPr lang="nl-BE" sz="3200" b="1" u="sng" dirty="0">
                <a:solidFill>
                  <a:srgbClr val="002060"/>
                </a:solidFill>
              </a:rPr>
              <a:t>).</a:t>
            </a:r>
            <a:endParaRPr lang="nl-BE" sz="3200" b="1" i="1" u="sng" dirty="0">
              <a:solidFill>
                <a:srgbClr val="002060"/>
              </a:solidFill>
            </a:endParaRPr>
          </a:p>
          <a:p>
            <a:pPr marL="85725" indent="0">
              <a:buNone/>
            </a:pPr>
            <a:endParaRPr lang="nl-BE" sz="3200" dirty="0">
              <a:solidFill>
                <a:srgbClr val="002060"/>
              </a:solidFill>
            </a:endParaRPr>
          </a:p>
          <a:p>
            <a:pPr marL="600075" indent="-514350">
              <a:buAutoNum type="arabicPeriod"/>
            </a:pPr>
            <a:r>
              <a:rPr lang="nl-BE" sz="3200" dirty="0">
                <a:solidFill>
                  <a:srgbClr val="002060"/>
                </a:solidFill>
              </a:rPr>
              <a:t>   De interne consistentie voor de schaal </a:t>
            </a:r>
            <a:r>
              <a:rPr lang="nl-BE" sz="3200" i="1" dirty="0" err="1">
                <a:solidFill>
                  <a:srgbClr val="002060"/>
                </a:solidFill>
              </a:rPr>
              <a:t>perceptie_groen</a:t>
            </a:r>
            <a:r>
              <a:rPr lang="nl-BE" sz="3200" i="1" dirty="0">
                <a:solidFill>
                  <a:srgbClr val="002060"/>
                </a:solidFill>
              </a:rPr>
              <a:t> in de straat </a:t>
            </a:r>
            <a:r>
              <a:rPr lang="nl-BE" sz="3200" dirty="0">
                <a:solidFill>
                  <a:srgbClr val="002060"/>
                </a:solidFill>
              </a:rPr>
              <a:t>kan verbeteren wanneer 1 vraag wordt   	weggelaten</a:t>
            </a:r>
            <a:endParaRPr lang="nl-BE" sz="3200" i="1" dirty="0">
              <a:solidFill>
                <a:srgbClr val="002060"/>
              </a:solidFill>
            </a:endParaRPr>
          </a:p>
          <a:p>
            <a:pPr marL="600075" indent="-514350">
              <a:buAutoNum type="arabicPeriod"/>
            </a:pPr>
            <a:endParaRPr lang="nl-BE" sz="3200" dirty="0">
              <a:solidFill>
                <a:srgbClr val="002060"/>
              </a:solidFill>
            </a:endParaRPr>
          </a:p>
          <a:p>
            <a:pPr marL="85725" indent="0">
              <a:buNone/>
            </a:pPr>
            <a:r>
              <a:rPr lang="nl-BE" sz="3200" dirty="0">
                <a:solidFill>
                  <a:srgbClr val="002060"/>
                </a:solidFill>
              </a:rPr>
              <a:t>2.     De interne consistentie voor de schaal </a:t>
            </a:r>
            <a:r>
              <a:rPr lang="nl-BE" sz="3200" i="1" dirty="0" err="1">
                <a:solidFill>
                  <a:srgbClr val="002060"/>
                </a:solidFill>
              </a:rPr>
              <a:t>perceptie_groen</a:t>
            </a:r>
            <a:r>
              <a:rPr lang="nl-BE" sz="3200" i="1" dirty="0">
                <a:solidFill>
                  <a:srgbClr val="002060"/>
                </a:solidFill>
              </a:rPr>
              <a:t> in de straat </a:t>
            </a:r>
            <a:r>
              <a:rPr lang="nl-BE" sz="3200" dirty="0">
                <a:solidFill>
                  <a:srgbClr val="002060"/>
                </a:solidFill>
              </a:rPr>
              <a:t>is niet voldoende om in verdere analyses te 		gebruiken.</a:t>
            </a:r>
            <a:endParaRPr lang="nl-BE" sz="3200" i="1" dirty="0">
              <a:solidFill>
                <a:srgbClr val="002060"/>
              </a:solidFill>
            </a:endParaRPr>
          </a:p>
          <a:p>
            <a:pPr marL="1000125" indent="-914400">
              <a:buAutoNum type="arabicPeriod"/>
            </a:pPr>
            <a:endParaRPr lang="nl-BE" sz="3200" dirty="0">
              <a:solidFill>
                <a:srgbClr val="002060"/>
              </a:solidFill>
            </a:endParaRPr>
          </a:p>
          <a:p>
            <a:pPr marL="85725" indent="0">
              <a:buNone/>
            </a:pPr>
            <a:r>
              <a:rPr lang="nl-BE" sz="3200" dirty="0">
                <a:solidFill>
                  <a:srgbClr val="002060"/>
                </a:solidFill>
              </a:rPr>
              <a:t>3.     De waarde van </a:t>
            </a:r>
            <a:r>
              <a:rPr lang="nl-BE" sz="3200" dirty="0" err="1">
                <a:solidFill>
                  <a:srgbClr val="002060"/>
                </a:solidFill>
              </a:rPr>
              <a:t>Cronbach’s</a:t>
            </a:r>
            <a:r>
              <a:rPr lang="nl-BE" sz="3200" dirty="0">
                <a:solidFill>
                  <a:srgbClr val="002060"/>
                </a:solidFill>
              </a:rPr>
              <a:t> </a:t>
            </a:r>
            <a:r>
              <a:rPr lang="nl-BE" sz="3200" dirty="0" err="1">
                <a:solidFill>
                  <a:srgbClr val="002060"/>
                </a:solidFill>
              </a:rPr>
              <a:t>alpha</a:t>
            </a:r>
            <a:r>
              <a:rPr lang="nl-BE" sz="3200" dirty="0">
                <a:solidFill>
                  <a:srgbClr val="002060"/>
                </a:solidFill>
              </a:rPr>
              <a:t> wijst erop dat de schaal </a:t>
            </a:r>
            <a:r>
              <a:rPr lang="nl-BE" sz="3200" i="1" dirty="0" err="1">
                <a:solidFill>
                  <a:srgbClr val="002060"/>
                </a:solidFill>
              </a:rPr>
              <a:t>perceptie_groen</a:t>
            </a:r>
            <a:r>
              <a:rPr lang="nl-BE" sz="3200" i="1" dirty="0">
                <a:solidFill>
                  <a:srgbClr val="002060"/>
                </a:solidFill>
              </a:rPr>
              <a:t> in de straat </a:t>
            </a:r>
            <a:r>
              <a:rPr lang="nl-BE" sz="3200" dirty="0">
                <a:solidFill>
                  <a:srgbClr val="002060"/>
                </a:solidFill>
              </a:rPr>
              <a:t>een goede 		    		   	    betrouwbaarheid heeft.</a:t>
            </a:r>
            <a:endParaRPr lang="nl-BE" sz="3200" i="1" dirty="0">
              <a:solidFill>
                <a:srgbClr val="002060"/>
              </a:solidFill>
            </a:endParaRPr>
          </a:p>
          <a:p>
            <a:pPr marL="1000125" indent="-914400">
              <a:buAutoNum type="arabicPeriod"/>
            </a:pPr>
            <a:endParaRPr lang="nl-BE" sz="3200" dirty="0">
              <a:solidFill>
                <a:srgbClr val="002060"/>
              </a:solidFill>
            </a:endParaRPr>
          </a:p>
          <a:p>
            <a:pPr marL="85725" indent="0">
              <a:buNone/>
            </a:pPr>
            <a:r>
              <a:rPr lang="nl-BE" sz="3200" dirty="0">
                <a:solidFill>
                  <a:srgbClr val="002060"/>
                </a:solidFill>
              </a:rPr>
              <a:t>4.     Geen van bovenstaande uitspraken is juist</a:t>
            </a:r>
            <a:r>
              <a:rPr lang="nl-BE" dirty="0">
                <a:solidFill>
                  <a:srgbClr val="002060"/>
                </a:solidFill>
              </a:rPr>
              <a:t>	. </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spTree>
    <p:extLst>
      <p:ext uri="{BB962C8B-B14F-4D97-AF65-F5344CB8AC3E}">
        <p14:creationId xmlns:p14="http://schemas.microsoft.com/office/powerpoint/2010/main" val="963434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D2A01D-B04B-48B8-B480-DA2F9E5D5425}"/>
              </a:ext>
            </a:extLst>
          </p:cNvPr>
          <p:cNvSpPr>
            <a:spLocks noGrp="1"/>
          </p:cNvSpPr>
          <p:nvPr>
            <p:ph type="title"/>
          </p:nvPr>
        </p:nvSpPr>
        <p:spPr/>
        <p:txBody>
          <a:bodyPr/>
          <a:lstStyle/>
          <a:p>
            <a:r>
              <a:rPr lang="nl-BE" dirty="0"/>
              <a:t>VOORBEELDEXAMENVRAAG 6</a:t>
            </a:r>
          </a:p>
        </p:txBody>
      </p:sp>
      <p:sp>
        <p:nvSpPr>
          <p:cNvPr id="4" name="Tijdelijke aanduiding voor dianummer 3">
            <a:extLst>
              <a:ext uri="{FF2B5EF4-FFF2-40B4-BE49-F238E27FC236}">
                <a16:creationId xmlns:a16="http://schemas.microsoft.com/office/drawing/2014/main" id="{16BF525A-4DE5-49DF-8E06-3923128242EE}"/>
              </a:ext>
            </a:extLst>
          </p:cNvPr>
          <p:cNvSpPr>
            <a:spLocks noGrp="1"/>
          </p:cNvSpPr>
          <p:nvPr>
            <p:ph type="sldNum" sz="quarter" idx="12"/>
          </p:nvPr>
        </p:nvSpPr>
        <p:spPr/>
        <p:txBody>
          <a:bodyPr/>
          <a:lstStyle/>
          <a:p>
            <a:fld id="{7AE184E0-0BD4-4705-A12B-9B71DDE63301}" type="slidenum">
              <a:rPr lang="en-GB" noProof="0" smtClean="0"/>
              <a:t>29</a:t>
            </a:fld>
            <a:endParaRPr lang="en-GB" noProof="0" dirty="0"/>
          </a:p>
        </p:txBody>
      </p:sp>
      <p:sp>
        <p:nvSpPr>
          <p:cNvPr id="5" name="Tijdelijke aanduiding voor inhoud 4">
            <a:extLst>
              <a:ext uri="{FF2B5EF4-FFF2-40B4-BE49-F238E27FC236}">
                <a16:creationId xmlns:a16="http://schemas.microsoft.com/office/drawing/2014/main" id="{5915A302-12AD-4785-ABBB-88E84BB9B23F}"/>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91CFBB3F-77E0-47DE-B964-65C9EEC68A01}"/>
              </a:ext>
            </a:extLst>
          </p:cNvPr>
          <p:cNvSpPr>
            <a:spLocks noGrp="1"/>
          </p:cNvSpPr>
          <p:nvPr>
            <p:ph idx="1"/>
          </p:nvPr>
        </p:nvSpPr>
        <p:spPr>
          <a:xfrm>
            <a:off x="327025" y="1816100"/>
            <a:ext cx="16859250" cy="6864350"/>
          </a:xfrm>
        </p:spPr>
        <p:txBody>
          <a:bodyPr>
            <a:normAutofit fontScale="70000" lnSpcReduction="20000"/>
          </a:bodyPr>
          <a:lstStyle/>
          <a:p>
            <a:pPr marL="85725" indent="0" algn="just">
              <a:buNone/>
            </a:pPr>
            <a:r>
              <a:rPr lang="nl-BE" sz="3200" b="1" dirty="0">
                <a:solidFill>
                  <a:srgbClr val="002060"/>
                </a:solidFill>
              </a:rPr>
              <a:t>Gebruik databestand</a:t>
            </a:r>
            <a:r>
              <a:rPr lang="nl-BE" sz="3200" b="1" u="sng" dirty="0">
                <a:solidFill>
                  <a:srgbClr val="002060"/>
                </a:solidFill>
              </a:rPr>
              <a:t>: </a:t>
            </a:r>
            <a:r>
              <a:rPr lang="nl-BE" sz="3200" b="1" u="sng" dirty="0" err="1">
                <a:solidFill>
                  <a:srgbClr val="002060"/>
                </a:solidFill>
              </a:rPr>
              <a:t>Buurtbewoners.zsav</a:t>
            </a:r>
            <a:endParaRPr lang="nl-BE" sz="3200" b="1" dirty="0">
              <a:solidFill>
                <a:srgbClr val="002060"/>
              </a:solidFill>
            </a:endParaRPr>
          </a:p>
          <a:p>
            <a:pPr marL="85725" indent="0" algn="just">
              <a:buNone/>
            </a:pPr>
            <a:r>
              <a:rPr lang="nl-BE" sz="3200" b="1" dirty="0">
                <a:solidFill>
                  <a:srgbClr val="002060"/>
                </a:solidFill>
              </a:rPr>
              <a:t>Op basis van de item-vragen V14_1_Groen1 tot en met V14_3_Groen3 kan een schaal </a:t>
            </a:r>
            <a:r>
              <a:rPr lang="nl-BE" sz="3200" b="1" i="1" dirty="0" err="1">
                <a:solidFill>
                  <a:srgbClr val="002060"/>
                </a:solidFill>
              </a:rPr>
              <a:t>perceptie_groen</a:t>
            </a:r>
            <a:r>
              <a:rPr lang="nl-BE" sz="3200" b="1" i="1" dirty="0">
                <a:solidFill>
                  <a:srgbClr val="002060"/>
                </a:solidFill>
              </a:rPr>
              <a:t> in de straat </a:t>
            </a:r>
            <a:r>
              <a:rPr lang="nl-BE" sz="3200" b="1" dirty="0">
                <a:solidFill>
                  <a:srgbClr val="002060"/>
                </a:solidFill>
              </a:rPr>
              <a:t>gemaakt worden, waarbij hoge scores op de schaal verwijzen naar een positieve perceptie.</a:t>
            </a:r>
          </a:p>
          <a:p>
            <a:pPr marL="85725" indent="0" algn="just">
              <a:buNone/>
            </a:pPr>
            <a:endParaRPr lang="nl-BE" sz="3200" dirty="0">
              <a:solidFill>
                <a:srgbClr val="002060"/>
              </a:solidFill>
            </a:endParaRPr>
          </a:p>
          <a:p>
            <a:pPr marL="85725" indent="0" algn="just">
              <a:buNone/>
            </a:pPr>
            <a:r>
              <a:rPr lang="nl-BE" sz="3200" b="1" u="sng" dirty="0">
                <a:solidFill>
                  <a:srgbClr val="002060"/>
                </a:solidFill>
              </a:rPr>
              <a:t>Welke van de volgende uitspraken is JUIST (</a:t>
            </a:r>
            <a:r>
              <a:rPr lang="nl-BE" sz="3200" u="sng" dirty="0">
                <a:solidFill>
                  <a:srgbClr val="002060"/>
                </a:solidFill>
              </a:rPr>
              <a:t>Maak 1 keuze</a:t>
            </a:r>
            <a:r>
              <a:rPr lang="nl-BE" sz="3200" b="1" u="sng" dirty="0">
                <a:solidFill>
                  <a:srgbClr val="002060"/>
                </a:solidFill>
              </a:rPr>
              <a:t>).</a:t>
            </a:r>
            <a:endParaRPr lang="nl-BE" sz="3200" b="1" i="1" u="sng" dirty="0">
              <a:solidFill>
                <a:srgbClr val="002060"/>
              </a:solidFill>
            </a:endParaRPr>
          </a:p>
          <a:p>
            <a:pPr marL="85725" indent="0">
              <a:buNone/>
            </a:pPr>
            <a:endParaRPr lang="nl-BE" sz="3200" dirty="0">
              <a:solidFill>
                <a:srgbClr val="002060"/>
              </a:solidFill>
            </a:endParaRPr>
          </a:p>
          <a:p>
            <a:pPr marL="600075" indent="-514350">
              <a:buAutoNum type="arabicPeriod"/>
            </a:pPr>
            <a:r>
              <a:rPr lang="nl-BE" sz="3200" dirty="0">
                <a:solidFill>
                  <a:srgbClr val="002060"/>
                </a:solidFill>
              </a:rPr>
              <a:t>   De interne consistentie voor de schaal </a:t>
            </a:r>
            <a:r>
              <a:rPr lang="nl-BE" sz="3200" i="1" dirty="0" err="1">
                <a:solidFill>
                  <a:srgbClr val="002060"/>
                </a:solidFill>
              </a:rPr>
              <a:t>perceptie_groen</a:t>
            </a:r>
            <a:r>
              <a:rPr lang="nl-BE" sz="3200" i="1" dirty="0">
                <a:solidFill>
                  <a:srgbClr val="002060"/>
                </a:solidFill>
              </a:rPr>
              <a:t> in de straat </a:t>
            </a:r>
            <a:r>
              <a:rPr lang="nl-BE" sz="3200" dirty="0">
                <a:solidFill>
                  <a:srgbClr val="002060"/>
                </a:solidFill>
              </a:rPr>
              <a:t>kan verbeteren wanneer 1 vraag wordt   	weggelaten</a:t>
            </a:r>
            <a:endParaRPr lang="nl-BE" sz="3200" i="1" dirty="0">
              <a:solidFill>
                <a:srgbClr val="002060"/>
              </a:solidFill>
            </a:endParaRPr>
          </a:p>
          <a:p>
            <a:pPr marL="600075" indent="-514350">
              <a:buAutoNum type="arabicPeriod"/>
            </a:pPr>
            <a:endParaRPr lang="nl-BE" sz="3200" dirty="0">
              <a:solidFill>
                <a:srgbClr val="002060"/>
              </a:solidFill>
            </a:endParaRPr>
          </a:p>
          <a:p>
            <a:pPr marL="85725" indent="0">
              <a:buNone/>
            </a:pPr>
            <a:r>
              <a:rPr lang="nl-BE" sz="3200" dirty="0">
                <a:solidFill>
                  <a:srgbClr val="002060"/>
                </a:solidFill>
              </a:rPr>
              <a:t>2.     De interne consistentie voor de schaal </a:t>
            </a:r>
            <a:r>
              <a:rPr lang="nl-BE" sz="3200" i="1" dirty="0" err="1">
                <a:solidFill>
                  <a:srgbClr val="002060"/>
                </a:solidFill>
              </a:rPr>
              <a:t>perceptie_groen</a:t>
            </a:r>
            <a:r>
              <a:rPr lang="nl-BE" sz="3200" i="1" dirty="0">
                <a:solidFill>
                  <a:srgbClr val="002060"/>
                </a:solidFill>
              </a:rPr>
              <a:t> in de straat </a:t>
            </a:r>
            <a:r>
              <a:rPr lang="nl-BE" sz="3200" dirty="0">
                <a:solidFill>
                  <a:srgbClr val="002060"/>
                </a:solidFill>
              </a:rPr>
              <a:t>is niet voldoende om in verdere analyses te 		gebruiken</a:t>
            </a:r>
            <a:endParaRPr lang="nl-BE" sz="3200" i="1" dirty="0">
              <a:solidFill>
                <a:srgbClr val="002060"/>
              </a:solidFill>
            </a:endParaRPr>
          </a:p>
          <a:p>
            <a:pPr marL="1000125" indent="-914400">
              <a:buAutoNum type="arabicPeriod"/>
            </a:pPr>
            <a:endParaRPr lang="nl-BE" sz="3200" dirty="0">
              <a:solidFill>
                <a:srgbClr val="002060"/>
              </a:solidFill>
            </a:endParaRPr>
          </a:p>
          <a:p>
            <a:pPr marL="85725" indent="0">
              <a:buNone/>
            </a:pPr>
            <a:r>
              <a:rPr lang="nl-BE" sz="3200" b="1" dirty="0">
                <a:solidFill>
                  <a:srgbClr val="C00000"/>
                </a:solidFill>
                <a:highlight>
                  <a:srgbClr val="FFFF00"/>
                </a:highlight>
              </a:rPr>
              <a:t>3.     De waarde van </a:t>
            </a:r>
            <a:r>
              <a:rPr lang="nl-BE" sz="3200" b="1" dirty="0" err="1">
                <a:solidFill>
                  <a:srgbClr val="C00000"/>
                </a:solidFill>
                <a:highlight>
                  <a:srgbClr val="FFFF00"/>
                </a:highlight>
              </a:rPr>
              <a:t>Cronbach’s</a:t>
            </a:r>
            <a:r>
              <a:rPr lang="nl-BE" sz="3200" b="1" dirty="0">
                <a:solidFill>
                  <a:srgbClr val="C00000"/>
                </a:solidFill>
                <a:highlight>
                  <a:srgbClr val="FFFF00"/>
                </a:highlight>
              </a:rPr>
              <a:t> </a:t>
            </a:r>
            <a:r>
              <a:rPr lang="nl-BE" sz="3200" b="1" dirty="0" err="1">
                <a:solidFill>
                  <a:srgbClr val="C00000"/>
                </a:solidFill>
                <a:highlight>
                  <a:srgbClr val="FFFF00"/>
                </a:highlight>
              </a:rPr>
              <a:t>alpha</a:t>
            </a:r>
            <a:r>
              <a:rPr lang="nl-BE" sz="3200" b="1" dirty="0">
                <a:solidFill>
                  <a:srgbClr val="C00000"/>
                </a:solidFill>
                <a:highlight>
                  <a:srgbClr val="FFFF00"/>
                </a:highlight>
              </a:rPr>
              <a:t> wijst erop dat de schaal </a:t>
            </a:r>
            <a:r>
              <a:rPr lang="nl-BE" sz="3200" b="1" i="1" dirty="0" err="1">
                <a:solidFill>
                  <a:srgbClr val="C00000"/>
                </a:solidFill>
                <a:highlight>
                  <a:srgbClr val="FFFF00"/>
                </a:highlight>
              </a:rPr>
              <a:t>perceptie_groen</a:t>
            </a:r>
            <a:r>
              <a:rPr lang="nl-BE" sz="3200" b="1" i="1" dirty="0">
                <a:solidFill>
                  <a:srgbClr val="C00000"/>
                </a:solidFill>
                <a:highlight>
                  <a:srgbClr val="FFFF00"/>
                </a:highlight>
              </a:rPr>
              <a:t> in de straat </a:t>
            </a:r>
            <a:r>
              <a:rPr lang="nl-BE" sz="3200" b="1" dirty="0">
                <a:solidFill>
                  <a:srgbClr val="C00000"/>
                </a:solidFill>
                <a:highlight>
                  <a:srgbClr val="FFFF00"/>
                </a:highlight>
              </a:rPr>
              <a:t>een 			   		goede betrouwbaarheid heeft.</a:t>
            </a:r>
            <a:endParaRPr lang="nl-BE" sz="3200" b="1" i="1" dirty="0">
              <a:solidFill>
                <a:srgbClr val="C00000"/>
              </a:solidFill>
              <a:highlight>
                <a:srgbClr val="FFFF00"/>
              </a:highlight>
            </a:endParaRPr>
          </a:p>
          <a:p>
            <a:pPr marL="1000125" indent="-914400">
              <a:buAutoNum type="arabicPeriod"/>
            </a:pPr>
            <a:endParaRPr lang="nl-BE" sz="3200" dirty="0">
              <a:solidFill>
                <a:srgbClr val="002060"/>
              </a:solidFill>
            </a:endParaRPr>
          </a:p>
          <a:p>
            <a:pPr marL="85725" indent="0">
              <a:buNone/>
            </a:pPr>
            <a:r>
              <a:rPr lang="nl-BE" sz="3200" dirty="0">
                <a:solidFill>
                  <a:srgbClr val="002060"/>
                </a:solidFill>
              </a:rPr>
              <a:t>4.     Geen van bovenstaande uitspraken is juist</a:t>
            </a:r>
            <a:r>
              <a:rPr lang="nl-BE" dirty="0">
                <a:solidFill>
                  <a:srgbClr val="002060"/>
                </a:solidFill>
              </a:rPr>
              <a:t>	   </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pic>
        <p:nvPicPr>
          <p:cNvPr id="3" name="Afbeelding 2">
            <a:extLst>
              <a:ext uri="{FF2B5EF4-FFF2-40B4-BE49-F238E27FC236}">
                <a16:creationId xmlns:a16="http://schemas.microsoft.com/office/drawing/2014/main" id="{AA60B52E-9071-A0C8-FFA7-9C65EC502E50}"/>
              </a:ext>
            </a:extLst>
          </p:cNvPr>
          <p:cNvPicPr>
            <a:picLocks noChangeAspect="1"/>
          </p:cNvPicPr>
          <p:nvPr/>
        </p:nvPicPr>
        <p:blipFill>
          <a:blip r:embed="rId3"/>
          <a:stretch>
            <a:fillRect/>
          </a:stretch>
        </p:blipFill>
        <p:spPr>
          <a:xfrm>
            <a:off x="12487164" y="598281"/>
            <a:ext cx="4493141" cy="2798307"/>
          </a:xfrm>
          <a:prstGeom prst="rect">
            <a:avLst/>
          </a:prstGeom>
        </p:spPr>
      </p:pic>
    </p:spTree>
    <p:extLst>
      <p:ext uri="{BB962C8B-B14F-4D97-AF65-F5344CB8AC3E}">
        <p14:creationId xmlns:p14="http://schemas.microsoft.com/office/powerpoint/2010/main" val="1383222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9658DA-C5B5-4BD5-B21A-6A17F384091E}"/>
              </a:ext>
            </a:extLst>
          </p:cNvPr>
          <p:cNvSpPr>
            <a:spLocks noGrp="1"/>
          </p:cNvSpPr>
          <p:nvPr>
            <p:ph type="title"/>
          </p:nvPr>
        </p:nvSpPr>
        <p:spPr/>
        <p:txBody>
          <a:bodyPr/>
          <a:lstStyle/>
          <a:p>
            <a:r>
              <a:rPr lang="nl-BE" dirty="0"/>
              <a:t>VOORBEELDEXAMENVRAAG 7</a:t>
            </a:r>
          </a:p>
        </p:txBody>
      </p:sp>
      <p:sp>
        <p:nvSpPr>
          <p:cNvPr id="4" name="Tijdelijke aanduiding voor dianummer 3">
            <a:extLst>
              <a:ext uri="{FF2B5EF4-FFF2-40B4-BE49-F238E27FC236}">
                <a16:creationId xmlns:a16="http://schemas.microsoft.com/office/drawing/2014/main" id="{42739842-1E72-4E86-B480-029C6FD0AF85}"/>
              </a:ext>
            </a:extLst>
          </p:cNvPr>
          <p:cNvSpPr>
            <a:spLocks noGrp="1"/>
          </p:cNvSpPr>
          <p:nvPr>
            <p:ph type="sldNum" sz="quarter" idx="12"/>
          </p:nvPr>
        </p:nvSpPr>
        <p:spPr/>
        <p:txBody>
          <a:bodyPr/>
          <a:lstStyle/>
          <a:p>
            <a:fld id="{7AE184E0-0BD4-4705-A12B-9B71DDE63301}" type="slidenum">
              <a:rPr lang="en-GB" noProof="0" smtClean="0"/>
              <a:t>30</a:t>
            </a:fld>
            <a:endParaRPr lang="en-GB" noProof="0" dirty="0"/>
          </a:p>
        </p:txBody>
      </p:sp>
      <p:sp>
        <p:nvSpPr>
          <p:cNvPr id="5" name="Tijdelijke aanduiding voor inhoud 4">
            <a:extLst>
              <a:ext uri="{FF2B5EF4-FFF2-40B4-BE49-F238E27FC236}">
                <a16:creationId xmlns:a16="http://schemas.microsoft.com/office/drawing/2014/main" id="{29CED0A0-0E96-4E9E-952D-8407EE07B0BB}"/>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20BD2403-AA16-4A49-A2A1-556431E7170D}"/>
              </a:ext>
            </a:extLst>
          </p:cNvPr>
          <p:cNvSpPr>
            <a:spLocks noGrp="1"/>
          </p:cNvSpPr>
          <p:nvPr>
            <p:ph idx="1"/>
          </p:nvPr>
        </p:nvSpPr>
        <p:spPr>
          <a:xfrm>
            <a:off x="327025" y="1816100"/>
            <a:ext cx="16859250" cy="6864350"/>
          </a:xfrm>
        </p:spPr>
        <p:txBody>
          <a:bodyPr>
            <a:normAutofit/>
          </a:bodyPr>
          <a:lstStyle/>
          <a:p>
            <a:pPr marL="85725" indent="0">
              <a:buNone/>
            </a:pPr>
            <a:r>
              <a:rPr lang="nl-BE" sz="3600" b="1" dirty="0">
                <a:solidFill>
                  <a:srgbClr val="002060"/>
                </a:solidFill>
              </a:rPr>
              <a:t>Welke regressie-assumptie wordt getoetst door de </a:t>
            </a:r>
            <a:r>
              <a:rPr lang="nl-BE" sz="3600" b="1" dirty="0" err="1">
                <a:solidFill>
                  <a:srgbClr val="002060"/>
                </a:solidFill>
              </a:rPr>
              <a:t>Durbin</a:t>
            </a:r>
            <a:r>
              <a:rPr lang="nl-BE" sz="3600" b="1" dirty="0">
                <a:solidFill>
                  <a:srgbClr val="002060"/>
                </a:solidFill>
              </a:rPr>
              <a:t>-Watson teststatistiek?</a:t>
            </a:r>
          </a:p>
          <a:p>
            <a:pPr marL="85725" indent="0">
              <a:buNone/>
            </a:pPr>
            <a:r>
              <a:rPr lang="nl-BE" sz="3600" u="sng" dirty="0">
                <a:solidFill>
                  <a:srgbClr val="002060"/>
                </a:solidFill>
              </a:rPr>
              <a:t>Maak 1 keuze.</a:t>
            </a:r>
          </a:p>
          <a:p>
            <a:pPr marL="85725" indent="0">
              <a:buNone/>
            </a:pPr>
            <a:endParaRPr lang="nl-BE" dirty="0">
              <a:solidFill>
                <a:srgbClr val="002060"/>
              </a:solidFill>
            </a:endParaRPr>
          </a:p>
          <a:p>
            <a:pPr marL="1000125" indent="-914400">
              <a:buAutoNum type="arabicPeriod"/>
            </a:pPr>
            <a:r>
              <a:rPr lang="nl-BE" dirty="0" err="1">
                <a:solidFill>
                  <a:srgbClr val="002060"/>
                </a:solidFill>
              </a:rPr>
              <a:t>Lineariteit</a:t>
            </a:r>
            <a:r>
              <a:rPr lang="nl-BE" dirty="0">
                <a:solidFill>
                  <a:srgbClr val="002060"/>
                </a:solidFill>
              </a:rPr>
              <a:t>.</a:t>
            </a:r>
          </a:p>
          <a:p>
            <a:pPr marL="1000125" indent="-914400">
              <a:buAutoNum type="arabicPeriod"/>
            </a:pPr>
            <a:endParaRPr lang="nl-BE" dirty="0">
              <a:solidFill>
                <a:srgbClr val="002060"/>
              </a:solidFill>
            </a:endParaRPr>
          </a:p>
          <a:p>
            <a:pPr marL="1000125" indent="-914400">
              <a:buAutoNum type="arabicPeriod"/>
            </a:pPr>
            <a:r>
              <a:rPr lang="nl-BE" dirty="0" err="1">
                <a:solidFill>
                  <a:srgbClr val="002060"/>
                </a:solidFill>
              </a:rPr>
              <a:t>Homoscedasticiteit</a:t>
            </a:r>
            <a:r>
              <a:rPr lang="nl-BE" dirty="0">
                <a:solidFill>
                  <a:srgbClr val="002060"/>
                </a:solidFill>
              </a:rPr>
              <a:t>.</a:t>
            </a:r>
          </a:p>
          <a:p>
            <a:pPr marL="1000125" indent="-914400">
              <a:buAutoNum type="arabicPeriod"/>
            </a:pPr>
            <a:endParaRPr lang="nl-BE" dirty="0">
              <a:solidFill>
                <a:srgbClr val="002060"/>
              </a:solidFill>
            </a:endParaRPr>
          </a:p>
          <a:p>
            <a:pPr marL="1000125" indent="-914400">
              <a:buAutoNum type="arabicPeriod"/>
            </a:pPr>
            <a:r>
              <a:rPr lang="nl-BE" dirty="0">
                <a:solidFill>
                  <a:srgbClr val="002060"/>
                </a:solidFill>
              </a:rPr>
              <a:t>Multicollineariteit.</a:t>
            </a:r>
          </a:p>
          <a:p>
            <a:pPr marL="1000125" indent="-914400">
              <a:buAutoNum type="arabicPeriod"/>
            </a:pPr>
            <a:endParaRPr lang="nl-BE" dirty="0">
              <a:solidFill>
                <a:srgbClr val="002060"/>
              </a:solidFill>
            </a:endParaRPr>
          </a:p>
          <a:p>
            <a:pPr marL="1000125" indent="-914400">
              <a:buAutoNum type="arabicPeriod"/>
            </a:pPr>
            <a:r>
              <a:rPr lang="nl-BE" dirty="0">
                <a:solidFill>
                  <a:srgbClr val="002060"/>
                </a:solidFill>
              </a:rPr>
              <a:t>Onafhankelijkheid van de errortermen.</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spTree>
    <p:extLst>
      <p:ext uri="{BB962C8B-B14F-4D97-AF65-F5344CB8AC3E}">
        <p14:creationId xmlns:p14="http://schemas.microsoft.com/office/powerpoint/2010/main" val="2461882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9658DA-C5B5-4BD5-B21A-6A17F384091E}"/>
              </a:ext>
            </a:extLst>
          </p:cNvPr>
          <p:cNvSpPr>
            <a:spLocks noGrp="1"/>
          </p:cNvSpPr>
          <p:nvPr>
            <p:ph type="title"/>
          </p:nvPr>
        </p:nvSpPr>
        <p:spPr/>
        <p:txBody>
          <a:bodyPr/>
          <a:lstStyle/>
          <a:p>
            <a:r>
              <a:rPr lang="nl-BE" dirty="0"/>
              <a:t>VOORBEELDEXAMENVRAAG 7</a:t>
            </a:r>
          </a:p>
        </p:txBody>
      </p:sp>
      <p:sp>
        <p:nvSpPr>
          <p:cNvPr id="4" name="Tijdelijke aanduiding voor dianummer 3">
            <a:extLst>
              <a:ext uri="{FF2B5EF4-FFF2-40B4-BE49-F238E27FC236}">
                <a16:creationId xmlns:a16="http://schemas.microsoft.com/office/drawing/2014/main" id="{42739842-1E72-4E86-B480-029C6FD0AF85}"/>
              </a:ext>
            </a:extLst>
          </p:cNvPr>
          <p:cNvSpPr>
            <a:spLocks noGrp="1"/>
          </p:cNvSpPr>
          <p:nvPr>
            <p:ph type="sldNum" sz="quarter" idx="12"/>
          </p:nvPr>
        </p:nvSpPr>
        <p:spPr/>
        <p:txBody>
          <a:bodyPr/>
          <a:lstStyle/>
          <a:p>
            <a:fld id="{7AE184E0-0BD4-4705-A12B-9B71DDE63301}" type="slidenum">
              <a:rPr lang="en-GB" noProof="0" smtClean="0"/>
              <a:t>31</a:t>
            </a:fld>
            <a:endParaRPr lang="en-GB" noProof="0" dirty="0"/>
          </a:p>
        </p:txBody>
      </p:sp>
      <p:sp>
        <p:nvSpPr>
          <p:cNvPr id="5" name="Tijdelijke aanduiding voor inhoud 4">
            <a:extLst>
              <a:ext uri="{FF2B5EF4-FFF2-40B4-BE49-F238E27FC236}">
                <a16:creationId xmlns:a16="http://schemas.microsoft.com/office/drawing/2014/main" id="{29CED0A0-0E96-4E9E-952D-8407EE07B0BB}"/>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20BD2403-AA16-4A49-A2A1-556431E7170D}"/>
              </a:ext>
            </a:extLst>
          </p:cNvPr>
          <p:cNvSpPr>
            <a:spLocks noGrp="1"/>
          </p:cNvSpPr>
          <p:nvPr>
            <p:ph idx="1"/>
          </p:nvPr>
        </p:nvSpPr>
        <p:spPr>
          <a:xfrm>
            <a:off x="327025" y="1816100"/>
            <a:ext cx="16859250" cy="6864350"/>
          </a:xfrm>
        </p:spPr>
        <p:txBody>
          <a:bodyPr>
            <a:normAutofit/>
          </a:bodyPr>
          <a:lstStyle/>
          <a:p>
            <a:pPr marL="85725" indent="0">
              <a:buNone/>
            </a:pPr>
            <a:r>
              <a:rPr lang="nl-BE" sz="3600" b="1" dirty="0">
                <a:solidFill>
                  <a:srgbClr val="002060"/>
                </a:solidFill>
              </a:rPr>
              <a:t>Welke regressie-assumptie wordt getoetst door de </a:t>
            </a:r>
            <a:r>
              <a:rPr lang="nl-BE" sz="3600" b="1" dirty="0" err="1">
                <a:solidFill>
                  <a:srgbClr val="002060"/>
                </a:solidFill>
              </a:rPr>
              <a:t>Durbin</a:t>
            </a:r>
            <a:r>
              <a:rPr lang="nl-BE" sz="3600" b="1" dirty="0">
                <a:solidFill>
                  <a:srgbClr val="002060"/>
                </a:solidFill>
              </a:rPr>
              <a:t>-Watson teststatistiek?</a:t>
            </a:r>
          </a:p>
          <a:p>
            <a:pPr marL="85725" indent="0">
              <a:buNone/>
            </a:pPr>
            <a:r>
              <a:rPr lang="nl-BE" sz="3600" u="sng" dirty="0">
                <a:solidFill>
                  <a:srgbClr val="002060"/>
                </a:solidFill>
              </a:rPr>
              <a:t>Maak 1 keuze.</a:t>
            </a:r>
          </a:p>
          <a:p>
            <a:pPr marL="85725" indent="0">
              <a:buNone/>
            </a:pPr>
            <a:endParaRPr lang="nl-BE" dirty="0">
              <a:solidFill>
                <a:srgbClr val="002060"/>
              </a:solidFill>
            </a:endParaRPr>
          </a:p>
          <a:p>
            <a:pPr marL="1000125" indent="-914400">
              <a:buAutoNum type="arabicPeriod"/>
            </a:pPr>
            <a:r>
              <a:rPr lang="nl-BE" dirty="0" err="1">
                <a:solidFill>
                  <a:srgbClr val="002060"/>
                </a:solidFill>
              </a:rPr>
              <a:t>Lineariteit</a:t>
            </a:r>
            <a:r>
              <a:rPr lang="nl-BE" dirty="0">
                <a:solidFill>
                  <a:srgbClr val="002060"/>
                </a:solidFill>
              </a:rPr>
              <a:t>.</a:t>
            </a:r>
          </a:p>
          <a:p>
            <a:pPr marL="1000125" indent="-914400">
              <a:buAutoNum type="arabicPeriod"/>
            </a:pPr>
            <a:endParaRPr lang="nl-BE" dirty="0">
              <a:solidFill>
                <a:srgbClr val="002060"/>
              </a:solidFill>
            </a:endParaRPr>
          </a:p>
          <a:p>
            <a:pPr marL="1000125" indent="-914400">
              <a:buAutoNum type="arabicPeriod"/>
            </a:pPr>
            <a:r>
              <a:rPr lang="nl-BE" dirty="0" err="1">
                <a:solidFill>
                  <a:srgbClr val="002060"/>
                </a:solidFill>
              </a:rPr>
              <a:t>Homoscedasticiteit</a:t>
            </a:r>
            <a:r>
              <a:rPr lang="nl-BE" dirty="0">
                <a:solidFill>
                  <a:srgbClr val="002060"/>
                </a:solidFill>
              </a:rPr>
              <a:t>.</a:t>
            </a:r>
          </a:p>
          <a:p>
            <a:pPr marL="1000125" indent="-914400">
              <a:buAutoNum type="arabicPeriod"/>
            </a:pPr>
            <a:endParaRPr lang="nl-BE" dirty="0">
              <a:solidFill>
                <a:srgbClr val="002060"/>
              </a:solidFill>
            </a:endParaRPr>
          </a:p>
          <a:p>
            <a:pPr marL="1000125" indent="-914400">
              <a:buAutoNum type="arabicPeriod"/>
            </a:pPr>
            <a:r>
              <a:rPr lang="nl-BE" dirty="0">
                <a:solidFill>
                  <a:srgbClr val="002060"/>
                </a:solidFill>
              </a:rPr>
              <a:t>Multicollineariteit.</a:t>
            </a:r>
          </a:p>
          <a:p>
            <a:pPr marL="1000125" indent="-914400">
              <a:buAutoNum type="arabicPeriod"/>
            </a:pPr>
            <a:endParaRPr lang="nl-BE" dirty="0">
              <a:solidFill>
                <a:srgbClr val="002060"/>
              </a:solidFill>
            </a:endParaRPr>
          </a:p>
          <a:p>
            <a:pPr marL="1000125" indent="-914400">
              <a:buAutoNum type="arabicPeriod"/>
            </a:pPr>
            <a:r>
              <a:rPr lang="nl-BE" b="1" dirty="0">
                <a:solidFill>
                  <a:srgbClr val="C00000"/>
                </a:solidFill>
                <a:highlight>
                  <a:srgbClr val="FFFF00"/>
                </a:highlight>
              </a:rPr>
              <a:t>Onafhankelijkheid van de errortermen.</a:t>
            </a:r>
          </a:p>
          <a:p>
            <a:pPr marL="85725" indent="0">
              <a:buNone/>
            </a:pPr>
            <a:endParaRPr lang="nl-BE" b="1" dirty="0"/>
          </a:p>
          <a:p>
            <a:pPr marL="85725" indent="0">
              <a:buNone/>
            </a:pPr>
            <a:endParaRPr lang="nl-BE" b="1" dirty="0"/>
          </a:p>
          <a:p>
            <a:pPr marL="85725" indent="0">
              <a:buNone/>
            </a:pPr>
            <a:endParaRPr lang="nl-BE" dirty="0"/>
          </a:p>
          <a:p>
            <a:endParaRPr lang="nl-BE" dirty="0"/>
          </a:p>
          <a:p>
            <a:pPr marL="85725" indent="0">
              <a:buNone/>
            </a:pPr>
            <a:endParaRPr lang="nl-BE" dirty="0"/>
          </a:p>
          <a:p>
            <a:endParaRPr lang="nl-BE" dirty="0"/>
          </a:p>
        </p:txBody>
      </p:sp>
    </p:spTree>
    <p:extLst>
      <p:ext uri="{BB962C8B-B14F-4D97-AF65-F5344CB8AC3E}">
        <p14:creationId xmlns:p14="http://schemas.microsoft.com/office/powerpoint/2010/main" val="3407929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7630D759-096E-98F0-C811-D90D3860965C}"/>
              </a:ext>
            </a:extLst>
          </p:cNvPr>
          <p:cNvSpPr>
            <a:spLocks noGrp="1"/>
          </p:cNvSpPr>
          <p:nvPr>
            <p:ph idx="1"/>
          </p:nvPr>
        </p:nvSpPr>
        <p:spPr/>
        <p:txBody>
          <a:bodyPr/>
          <a:lstStyle/>
          <a:p>
            <a:r>
              <a:rPr lang="nl-NL" b="1" dirty="0"/>
              <a:t>Hoeveel procent van de variantie is gedeeld tussen twee variabelen bij een Pearson correlatie </a:t>
            </a:r>
            <a:r>
              <a:rPr lang="nl-NL" b="1" i="1" dirty="0"/>
              <a:t>r</a:t>
            </a:r>
            <a:r>
              <a:rPr lang="nl-NL" b="1" dirty="0"/>
              <a:t>=.90?</a:t>
            </a:r>
          </a:p>
          <a:p>
            <a:endParaRPr lang="nl-NL" u="sng" dirty="0"/>
          </a:p>
          <a:p>
            <a:r>
              <a:rPr lang="nl-NL" u="sng" dirty="0"/>
              <a:t>MAAK 1 KEUZE</a:t>
            </a:r>
          </a:p>
          <a:p>
            <a:endParaRPr lang="nl-NL" u="sng" dirty="0"/>
          </a:p>
          <a:p>
            <a:r>
              <a:rPr lang="nl-NL" dirty="0"/>
              <a:t>A. 18%</a:t>
            </a:r>
          </a:p>
          <a:p>
            <a:r>
              <a:rPr lang="nl-NL" dirty="0"/>
              <a:t>B. 9%</a:t>
            </a:r>
          </a:p>
          <a:p>
            <a:r>
              <a:rPr lang="nl-NL" dirty="0"/>
              <a:t>C. 81%</a:t>
            </a:r>
          </a:p>
          <a:p>
            <a:r>
              <a:rPr lang="nl-NL" dirty="0"/>
              <a:t>D. geen enkele antwoordoptie is juist.</a:t>
            </a:r>
          </a:p>
        </p:txBody>
      </p:sp>
      <p:sp>
        <p:nvSpPr>
          <p:cNvPr id="4" name="Tijdelijke aanduiding voor dianummer 3">
            <a:extLst>
              <a:ext uri="{FF2B5EF4-FFF2-40B4-BE49-F238E27FC236}">
                <a16:creationId xmlns:a16="http://schemas.microsoft.com/office/drawing/2014/main" id="{7C2A14A3-2239-F6E2-CC1E-8ECEA034FE9F}"/>
              </a:ext>
            </a:extLst>
          </p:cNvPr>
          <p:cNvSpPr>
            <a:spLocks noGrp="1"/>
          </p:cNvSpPr>
          <p:nvPr>
            <p:ph type="sldNum" sz="quarter" idx="12"/>
          </p:nvPr>
        </p:nvSpPr>
        <p:spPr/>
        <p:txBody>
          <a:bodyPr/>
          <a:lstStyle/>
          <a:p>
            <a:fld id="{7AE184E0-0BD4-4705-A12B-9B71DDE63301}" type="slidenum">
              <a:rPr lang="en-GB" noProof="0" smtClean="0"/>
              <a:t>32</a:t>
            </a:fld>
            <a:endParaRPr lang="en-GB" noProof="0" dirty="0"/>
          </a:p>
        </p:txBody>
      </p:sp>
      <p:sp>
        <p:nvSpPr>
          <p:cNvPr id="5" name="Tijdelijke aanduiding voor inhoud 4">
            <a:extLst>
              <a:ext uri="{FF2B5EF4-FFF2-40B4-BE49-F238E27FC236}">
                <a16:creationId xmlns:a16="http://schemas.microsoft.com/office/drawing/2014/main" id="{39791C10-A32E-0135-6F1A-99881FE62C0D}"/>
              </a:ext>
            </a:extLst>
          </p:cNvPr>
          <p:cNvSpPr>
            <a:spLocks noGrp="1"/>
          </p:cNvSpPr>
          <p:nvPr>
            <p:ph idx="13"/>
          </p:nvPr>
        </p:nvSpPr>
        <p:spPr/>
        <p:txBody>
          <a:bodyPr/>
          <a:lstStyle/>
          <a:p>
            <a:endParaRPr lang="nl-NL"/>
          </a:p>
        </p:txBody>
      </p:sp>
      <p:sp>
        <p:nvSpPr>
          <p:cNvPr id="6" name="Titel 1">
            <a:extLst>
              <a:ext uri="{FF2B5EF4-FFF2-40B4-BE49-F238E27FC236}">
                <a16:creationId xmlns:a16="http://schemas.microsoft.com/office/drawing/2014/main" id="{7B0561EB-B7E1-4463-A017-F69791D467DA}"/>
              </a:ext>
            </a:extLst>
          </p:cNvPr>
          <p:cNvSpPr>
            <a:spLocks noGrp="1"/>
          </p:cNvSpPr>
          <p:nvPr>
            <p:ph type="title"/>
          </p:nvPr>
        </p:nvSpPr>
        <p:spPr>
          <a:xfrm>
            <a:off x="2060575" y="123825"/>
            <a:ext cx="14951075" cy="949325"/>
          </a:xfrm>
        </p:spPr>
        <p:txBody>
          <a:bodyPr/>
          <a:lstStyle/>
          <a:p>
            <a:r>
              <a:rPr lang="nl-BE" dirty="0"/>
              <a:t>VOORBEELDEXAMENVRAAG 8</a:t>
            </a:r>
          </a:p>
        </p:txBody>
      </p:sp>
    </p:spTree>
    <p:extLst>
      <p:ext uri="{BB962C8B-B14F-4D97-AF65-F5344CB8AC3E}">
        <p14:creationId xmlns:p14="http://schemas.microsoft.com/office/powerpoint/2010/main" val="1856111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7630D759-096E-98F0-C811-D90D3860965C}"/>
              </a:ext>
            </a:extLst>
          </p:cNvPr>
          <p:cNvSpPr>
            <a:spLocks noGrp="1"/>
          </p:cNvSpPr>
          <p:nvPr>
            <p:ph idx="1"/>
          </p:nvPr>
        </p:nvSpPr>
        <p:spPr/>
        <p:txBody>
          <a:bodyPr/>
          <a:lstStyle/>
          <a:p>
            <a:r>
              <a:rPr lang="nl-NL" b="1" dirty="0"/>
              <a:t>Hoeveel procent van de variantie is gedeeld tussen twee variabelen bij een Pearson correlatie </a:t>
            </a:r>
            <a:r>
              <a:rPr lang="nl-NL" b="1" i="1" dirty="0"/>
              <a:t>r</a:t>
            </a:r>
            <a:r>
              <a:rPr lang="nl-NL" b="1" dirty="0"/>
              <a:t>=.90?</a:t>
            </a:r>
          </a:p>
          <a:p>
            <a:endParaRPr lang="nl-NL" u="sng" dirty="0"/>
          </a:p>
          <a:p>
            <a:r>
              <a:rPr lang="nl-NL" u="sng" dirty="0"/>
              <a:t>MAAK 1 KEUZE</a:t>
            </a:r>
          </a:p>
          <a:p>
            <a:endParaRPr lang="nl-NL" u="sng" dirty="0"/>
          </a:p>
          <a:p>
            <a:r>
              <a:rPr lang="nl-NL" dirty="0"/>
              <a:t>A. 18%</a:t>
            </a:r>
          </a:p>
          <a:p>
            <a:r>
              <a:rPr lang="nl-NL" dirty="0"/>
              <a:t>B. 9%</a:t>
            </a:r>
          </a:p>
          <a:p>
            <a:r>
              <a:rPr lang="nl-NL" b="1" dirty="0">
                <a:solidFill>
                  <a:srgbClr val="C00000"/>
                </a:solidFill>
                <a:highlight>
                  <a:srgbClr val="FFFF00"/>
                </a:highlight>
              </a:rPr>
              <a:t>C. 81% (= r² = .90²)</a:t>
            </a:r>
          </a:p>
          <a:p>
            <a:r>
              <a:rPr lang="nl-NL" dirty="0"/>
              <a:t>D. Geen enkele antwoordoptie is juist.</a:t>
            </a:r>
          </a:p>
        </p:txBody>
      </p:sp>
      <p:sp>
        <p:nvSpPr>
          <p:cNvPr id="4" name="Tijdelijke aanduiding voor dianummer 3">
            <a:extLst>
              <a:ext uri="{FF2B5EF4-FFF2-40B4-BE49-F238E27FC236}">
                <a16:creationId xmlns:a16="http://schemas.microsoft.com/office/drawing/2014/main" id="{7C2A14A3-2239-F6E2-CC1E-8ECEA034FE9F}"/>
              </a:ext>
            </a:extLst>
          </p:cNvPr>
          <p:cNvSpPr>
            <a:spLocks noGrp="1"/>
          </p:cNvSpPr>
          <p:nvPr>
            <p:ph type="sldNum" sz="quarter" idx="12"/>
          </p:nvPr>
        </p:nvSpPr>
        <p:spPr/>
        <p:txBody>
          <a:bodyPr/>
          <a:lstStyle/>
          <a:p>
            <a:fld id="{7AE184E0-0BD4-4705-A12B-9B71DDE63301}" type="slidenum">
              <a:rPr lang="en-GB" noProof="0" smtClean="0"/>
              <a:t>33</a:t>
            </a:fld>
            <a:endParaRPr lang="en-GB" noProof="0" dirty="0"/>
          </a:p>
        </p:txBody>
      </p:sp>
      <p:sp>
        <p:nvSpPr>
          <p:cNvPr id="5" name="Tijdelijke aanduiding voor inhoud 4">
            <a:extLst>
              <a:ext uri="{FF2B5EF4-FFF2-40B4-BE49-F238E27FC236}">
                <a16:creationId xmlns:a16="http://schemas.microsoft.com/office/drawing/2014/main" id="{39791C10-A32E-0135-6F1A-99881FE62C0D}"/>
              </a:ext>
            </a:extLst>
          </p:cNvPr>
          <p:cNvSpPr>
            <a:spLocks noGrp="1"/>
          </p:cNvSpPr>
          <p:nvPr>
            <p:ph idx="13"/>
          </p:nvPr>
        </p:nvSpPr>
        <p:spPr/>
        <p:txBody>
          <a:bodyPr/>
          <a:lstStyle/>
          <a:p>
            <a:endParaRPr lang="nl-NL"/>
          </a:p>
        </p:txBody>
      </p:sp>
      <p:sp>
        <p:nvSpPr>
          <p:cNvPr id="6" name="Titel 1">
            <a:extLst>
              <a:ext uri="{FF2B5EF4-FFF2-40B4-BE49-F238E27FC236}">
                <a16:creationId xmlns:a16="http://schemas.microsoft.com/office/drawing/2014/main" id="{7B0561EB-B7E1-4463-A017-F69791D467DA}"/>
              </a:ext>
            </a:extLst>
          </p:cNvPr>
          <p:cNvSpPr>
            <a:spLocks noGrp="1"/>
          </p:cNvSpPr>
          <p:nvPr>
            <p:ph type="title"/>
          </p:nvPr>
        </p:nvSpPr>
        <p:spPr>
          <a:xfrm>
            <a:off x="2060575" y="123825"/>
            <a:ext cx="14951075" cy="949325"/>
          </a:xfrm>
        </p:spPr>
        <p:txBody>
          <a:bodyPr/>
          <a:lstStyle/>
          <a:p>
            <a:r>
              <a:rPr lang="nl-BE" dirty="0"/>
              <a:t>VOORBEELDEXAMENVRAAG 8</a:t>
            </a:r>
          </a:p>
        </p:txBody>
      </p:sp>
    </p:spTree>
    <p:extLst>
      <p:ext uri="{BB962C8B-B14F-4D97-AF65-F5344CB8AC3E}">
        <p14:creationId xmlns:p14="http://schemas.microsoft.com/office/powerpoint/2010/main" val="2764905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FA8517-C4B1-4451-8012-B5C17C244F8B}"/>
              </a:ext>
            </a:extLst>
          </p:cNvPr>
          <p:cNvSpPr>
            <a:spLocks noGrp="1"/>
          </p:cNvSpPr>
          <p:nvPr>
            <p:ph type="title"/>
          </p:nvPr>
        </p:nvSpPr>
        <p:spPr/>
        <p:txBody>
          <a:bodyPr/>
          <a:lstStyle/>
          <a:p>
            <a:r>
              <a:rPr lang="nl-BE" dirty="0"/>
              <a:t>VOORBEELDEXAMENVRAAG 9</a:t>
            </a:r>
          </a:p>
        </p:txBody>
      </p:sp>
      <p:sp>
        <p:nvSpPr>
          <p:cNvPr id="4" name="Tijdelijke aanduiding voor dianummer 3">
            <a:extLst>
              <a:ext uri="{FF2B5EF4-FFF2-40B4-BE49-F238E27FC236}">
                <a16:creationId xmlns:a16="http://schemas.microsoft.com/office/drawing/2014/main" id="{8362B125-0172-475B-910B-BAA92BEE4C88}"/>
              </a:ext>
            </a:extLst>
          </p:cNvPr>
          <p:cNvSpPr>
            <a:spLocks noGrp="1"/>
          </p:cNvSpPr>
          <p:nvPr>
            <p:ph type="sldNum" sz="quarter" idx="12"/>
          </p:nvPr>
        </p:nvSpPr>
        <p:spPr/>
        <p:txBody>
          <a:bodyPr/>
          <a:lstStyle/>
          <a:p>
            <a:fld id="{7AE184E0-0BD4-4705-A12B-9B71DDE63301}" type="slidenum">
              <a:rPr lang="en-GB" noProof="0" smtClean="0"/>
              <a:t>34</a:t>
            </a:fld>
            <a:endParaRPr lang="en-GB" noProof="0" dirty="0"/>
          </a:p>
        </p:txBody>
      </p:sp>
      <p:sp>
        <p:nvSpPr>
          <p:cNvPr id="5" name="Tijdelijke aanduiding voor inhoud 4">
            <a:extLst>
              <a:ext uri="{FF2B5EF4-FFF2-40B4-BE49-F238E27FC236}">
                <a16:creationId xmlns:a16="http://schemas.microsoft.com/office/drawing/2014/main" id="{0CAA0399-61D1-4A59-BBCB-396D83DEE15C}"/>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6CD06EFE-3E54-4210-AC41-15F91D0F6F23}"/>
              </a:ext>
            </a:extLst>
          </p:cNvPr>
          <p:cNvSpPr>
            <a:spLocks noGrp="1"/>
          </p:cNvSpPr>
          <p:nvPr>
            <p:ph idx="1"/>
          </p:nvPr>
        </p:nvSpPr>
        <p:spPr>
          <a:xfrm>
            <a:off x="327025" y="1816100"/>
            <a:ext cx="16859250" cy="6864350"/>
          </a:xfrm>
        </p:spPr>
        <p:txBody>
          <a:bodyPr>
            <a:normAutofit fontScale="77500" lnSpcReduction="20000"/>
          </a:bodyPr>
          <a:lstStyle/>
          <a:p>
            <a:pPr marL="85725" indent="0">
              <a:buNone/>
            </a:pPr>
            <a:r>
              <a:rPr lang="nl-BE" sz="2800" b="1" dirty="0">
                <a:solidFill>
                  <a:srgbClr val="002060"/>
                </a:solidFill>
                <a:highlight>
                  <a:srgbClr val="FFFF00"/>
                </a:highlight>
              </a:rPr>
              <a:t>Bekijk </a:t>
            </a:r>
            <a:r>
              <a:rPr lang="nl-BE" sz="2800" b="1" dirty="0" err="1">
                <a:solidFill>
                  <a:srgbClr val="002060"/>
                </a:solidFill>
                <a:highlight>
                  <a:srgbClr val="FFFF00"/>
                </a:highlight>
              </a:rPr>
              <a:t>output_Voorbeeldexamenvraag</a:t>
            </a:r>
            <a:r>
              <a:rPr lang="nl-BE" sz="2800" b="1" dirty="0">
                <a:solidFill>
                  <a:srgbClr val="002060"/>
                </a:solidFill>
                <a:highlight>
                  <a:srgbClr val="FFFF00"/>
                </a:highlight>
              </a:rPr>
              <a:t> 9</a:t>
            </a:r>
          </a:p>
          <a:p>
            <a:pPr marL="85725" indent="0">
              <a:buNone/>
            </a:pPr>
            <a:r>
              <a:rPr lang="nl-BE" sz="2800" b="1" dirty="0">
                <a:solidFill>
                  <a:srgbClr val="002060"/>
                </a:solidFill>
              </a:rPr>
              <a:t>Voer een </a:t>
            </a:r>
            <a:r>
              <a:rPr lang="nl-BE" sz="2800" b="1" u="sng" dirty="0">
                <a:solidFill>
                  <a:srgbClr val="002060"/>
                </a:solidFill>
              </a:rPr>
              <a:t>meervoudige</a:t>
            </a:r>
            <a:r>
              <a:rPr lang="nl-BE" sz="2800" b="1" dirty="0">
                <a:solidFill>
                  <a:srgbClr val="002060"/>
                </a:solidFill>
              </a:rPr>
              <a:t> regressie uit met als afhankelijke variabele </a:t>
            </a:r>
            <a:r>
              <a:rPr lang="nl-BE" sz="2800" b="1" i="1" dirty="0">
                <a:solidFill>
                  <a:srgbClr val="002060"/>
                </a:solidFill>
              </a:rPr>
              <a:t>V7_mijdgedrag3.  </a:t>
            </a:r>
          </a:p>
          <a:p>
            <a:pPr marL="85725" indent="0">
              <a:buNone/>
            </a:pPr>
            <a:r>
              <a:rPr lang="nl-BE" sz="2800" b="1" dirty="0">
                <a:solidFill>
                  <a:srgbClr val="002060"/>
                </a:solidFill>
              </a:rPr>
              <a:t>Als onafhankelijke variabelen selecteer je </a:t>
            </a:r>
          </a:p>
          <a:p>
            <a:pPr>
              <a:buFont typeface="Arial" panose="020B0604020202020204" pitchFamily="34" charset="0"/>
              <a:buChar char="•"/>
            </a:pPr>
            <a:r>
              <a:rPr lang="nl-BE" sz="2800" b="1" i="1" dirty="0">
                <a:solidFill>
                  <a:srgbClr val="002060"/>
                </a:solidFill>
              </a:rPr>
              <a:t>leeftijd, V0_4_geslacht</a:t>
            </a:r>
          </a:p>
          <a:p>
            <a:pPr>
              <a:buFont typeface="Arial" panose="020B0604020202020204" pitchFamily="34" charset="0"/>
              <a:buChar char="•"/>
            </a:pPr>
            <a:r>
              <a:rPr lang="nl-BE" b="1" i="1" dirty="0">
                <a:solidFill>
                  <a:srgbClr val="002060"/>
                </a:solidFill>
              </a:rPr>
              <a:t>S</a:t>
            </a:r>
            <a:r>
              <a:rPr lang="nl-BE" sz="2800" b="1" i="1" dirty="0">
                <a:solidFill>
                  <a:srgbClr val="002060"/>
                </a:solidFill>
              </a:rPr>
              <a:t>upport (1 schaal bestaande uit de 4 support-vragen) </a:t>
            </a:r>
          </a:p>
          <a:p>
            <a:pPr>
              <a:buFont typeface="Arial" panose="020B0604020202020204" pitchFamily="34" charset="0"/>
              <a:buChar char="•"/>
            </a:pPr>
            <a:r>
              <a:rPr lang="nl-BE" sz="2800" b="1" i="1" dirty="0">
                <a:solidFill>
                  <a:srgbClr val="002060"/>
                </a:solidFill>
              </a:rPr>
              <a:t>V11_opleidingsniveau. </a:t>
            </a:r>
          </a:p>
          <a:p>
            <a:pPr marL="86400" indent="0">
              <a:buNone/>
            </a:pPr>
            <a:endParaRPr lang="nl-BE" sz="2800" b="1" dirty="0">
              <a:solidFill>
                <a:srgbClr val="002060"/>
              </a:solidFill>
            </a:endParaRPr>
          </a:p>
          <a:p>
            <a:pPr marL="85725" indent="0">
              <a:buNone/>
            </a:pPr>
            <a:r>
              <a:rPr lang="nl-BE" sz="3200" b="1" dirty="0">
                <a:solidFill>
                  <a:srgbClr val="002060"/>
                </a:solidFill>
              </a:rPr>
              <a:t>Zijn er aanwijzingen voor multicollineariteit ? (</a:t>
            </a:r>
            <a:r>
              <a:rPr lang="nl-BE" sz="3200" u="sng" dirty="0">
                <a:solidFill>
                  <a:srgbClr val="002060"/>
                </a:solidFill>
              </a:rPr>
              <a:t>Maak 1 keuze</a:t>
            </a:r>
            <a:r>
              <a:rPr lang="nl-BE" sz="3200" b="1" dirty="0">
                <a:solidFill>
                  <a:srgbClr val="002060"/>
                </a:solidFill>
              </a:rPr>
              <a:t>)</a:t>
            </a:r>
          </a:p>
          <a:p>
            <a:pPr marL="85725" indent="0">
              <a:buNone/>
            </a:pPr>
            <a:endParaRPr lang="nl-BE" b="1" dirty="0">
              <a:solidFill>
                <a:srgbClr val="0070C0"/>
              </a:solidFill>
            </a:endParaRPr>
          </a:p>
          <a:p>
            <a:pPr marL="600075" indent="-514350">
              <a:buAutoNum type="arabicPeriod"/>
            </a:pPr>
            <a:r>
              <a:rPr lang="nl-BE" sz="2800" dirty="0">
                <a:solidFill>
                  <a:srgbClr val="002060"/>
                </a:solidFill>
              </a:rPr>
              <a:t>Multicollineariteit is in het kader van deze meervoudige regressie niet van toepassing.</a:t>
            </a:r>
          </a:p>
          <a:p>
            <a:pPr marL="600075" indent="-514350">
              <a:buAutoNum type="arabicPeriod"/>
            </a:pPr>
            <a:endParaRPr lang="nl-BE" sz="2800" dirty="0">
              <a:solidFill>
                <a:srgbClr val="002060"/>
              </a:solidFill>
            </a:endParaRPr>
          </a:p>
          <a:p>
            <a:pPr marL="600075" indent="-514350">
              <a:buAutoNum type="arabicPeriod"/>
            </a:pPr>
            <a:r>
              <a:rPr lang="nl-BE" sz="2800" dirty="0">
                <a:solidFill>
                  <a:srgbClr val="002060"/>
                </a:solidFill>
              </a:rPr>
              <a:t>Dit kunnen we op basis van deze output niet beantwoorden.  We moeten de </a:t>
            </a:r>
            <a:r>
              <a:rPr lang="nl-BE" sz="2800" dirty="0" err="1">
                <a:solidFill>
                  <a:srgbClr val="002060"/>
                </a:solidFill>
              </a:rPr>
              <a:t>bivariate</a:t>
            </a:r>
            <a:r>
              <a:rPr lang="nl-BE" sz="2800" dirty="0">
                <a:solidFill>
                  <a:srgbClr val="002060"/>
                </a:solidFill>
              </a:rPr>
              <a:t> correlaties tussen de onafhankelijke variabelen apart berekenen.</a:t>
            </a:r>
          </a:p>
          <a:p>
            <a:pPr marL="600075" indent="-514350">
              <a:buAutoNum type="arabicPeriod"/>
            </a:pPr>
            <a:endParaRPr lang="nl-BE" sz="2800" dirty="0">
              <a:solidFill>
                <a:srgbClr val="002060"/>
              </a:solidFill>
            </a:endParaRPr>
          </a:p>
          <a:p>
            <a:pPr marL="600075" indent="-514350">
              <a:buAutoNum type="arabicPeriod"/>
            </a:pPr>
            <a:r>
              <a:rPr lang="nl-BE" sz="2800" dirty="0">
                <a:solidFill>
                  <a:srgbClr val="002060"/>
                </a:solidFill>
              </a:rPr>
              <a:t>Ja, er zijn aanwijzingen voor multicollineariteit.</a:t>
            </a:r>
          </a:p>
          <a:p>
            <a:pPr marL="600075" indent="-514350">
              <a:buAutoNum type="arabicPeriod"/>
            </a:pPr>
            <a:endParaRPr lang="nl-BE" sz="2800" dirty="0">
              <a:solidFill>
                <a:srgbClr val="002060"/>
              </a:solidFill>
            </a:endParaRPr>
          </a:p>
          <a:p>
            <a:pPr marL="600075" indent="-514350">
              <a:buAutoNum type="arabicPeriod"/>
            </a:pPr>
            <a:r>
              <a:rPr lang="nl-BE" sz="2800" dirty="0">
                <a:solidFill>
                  <a:srgbClr val="002060"/>
                </a:solidFill>
              </a:rPr>
              <a:t>Nee, er zijn geen problemen met betrekking tot multicollineariteit.</a:t>
            </a:r>
          </a:p>
          <a:p>
            <a:pPr marL="600075" indent="-514350">
              <a:buAutoNum type="arabicPeriod"/>
            </a:pPr>
            <a:endParaRPr lang="nl-BE" sz="2800" b="1" dirty="0">
              <a:solidFill>
                <a:srgbClr val="0070C0"/>
              </a:solidFill>
            </a:endParaRPr>
          </a:p>
          <a:p>
            <a:pPr marL="85725" indent="0">
              <a:buNone/>
            </a:pPr>
            <a:endParaRPr lang="nl-BE" b="1" dirty="0">
              <a:solidFill>
                <a:srgbClr val="0070C0"/>
              </a:solidFill>
            </a:endParaRPr>
          </a:p>
          <a:p>
            <a:pPr marL="85725" indent="0" algn="just">
              <a:buNone/>
            </a:pPr>
            <a:endParaRPr lang="nl-BE" sz="4500" b="1" u="sng" dirty="0">
              <a:solidFill>
                <a:srgbClr val="0070C0"/>
              </a:solidFill>
            </a:endParaRPr>
          </a:p>
          <a:p>
            <a:pPr marL="85725" indent="0" algn="just">
              <a:buNone/>
            </a:pPr>
            <a:endParaRPr lang="nl-BE" sz="4500" b="1" u="sng" dirty="0">
              <a:solidFill>
                <a:srgbClr val="0070C0"/>
              </a:solidFill>
            </a:endParaRPr>
          </a:p>
        </p:txBody>
      </p:sp>
    </p:spTree>
    <p:extLst>
      <p:ext uri="{BB962C8B-B14F-4D97-AF65-F5344CB8AC3E}">
        <p14:creationId xmlns:p14="http://schemas.microsoft.com/office/powerpoint/2010/main" val="39346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FA8517-C4B1-4451-8012-B5C17C244F8B}"/>
              </a:ext>
            </a:extLst>
          </p:cNvPr>
          <p:cNvSpPr>
            <a:spLocks noGrp="1"/>
          </p:cNvSpPr>
          <p:nvPr>
            <p:ph type="title"/>
          </p:nvPr>
        </p:nvSpPr>
        <p:spPr/>
        <p:txBody>
          <a:bodyPr/>
          <a:lstStyle/>
          <a:p>
            <a:r>
              <a:rPr lang="nl-BE" dirty="0"/>
              <a:t>VOORBEELDEXAMENVRAAG 9</a:t>
            </a:r>
          </a:p>
        </p:txBody>
      </p:sp>
      <p:sp>
        <p:nvSpPr>
          <p:cNvPr id="4" name="Tijdelijke aanduiding voor dianummer 3">
            <a:extLst>
              <a:ext uri="{FF2B5EF4-FFF2-40B4-BE49-F238E27FC236}">
                <a16:creationId xmlns:a16="http://schemas.microsoft.com/office/drawing/2014/main" id="{8362B125-0172-475B-910B-BAA92BEE4C88}"/>
              </a:ext>
            </a:extLst>
          </p:cNvPr>
          <p:cNvSpPr>
            <a:spLocks noGrp="1"/>
          </p:cNvSpPr>
          <p:nvPr>
            <p:ph type="sldNum" sz="quarter" idx="12"/>
          </p:nvPr>
        </p:nvSpPr>
        <p:spPr/>
        <p:txBody>
          <a:bodyPr/>
          <a:lstStyle/>
          <a:p>
            <a:fld id="{7AE184E0-0BD4-4705-A12B-9B71DDE63301}" type="slidenum">
              <a:rPr lang="en-GB" noProof="0" smtClean="0"/>
              <a:t>35</a:t>
            </a:fld>
            <a:endParaRPr lang="en-GB" noProof="0" dirty="0"/>
          </a:p>
        </p:txBody>
      </p:sp>
      <p:sp>
        <p:nvSpPr>
          <p:cNvPr id="5" name="Tijdelijke aanduiding voor inhoud 4">
            <a:extLst>
              <a:ext uri="{FF2B5EF4-FFF2-40B4-BE49-F238E27FC236}">
                <a16:creationId xmlns:a16="http://schemas.microsoft.com/office/drawing/2014/main" id="{0CAA0399-61D1-4A59-BBCB-396D83DEE15C}"/>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6CD06EFE-3E54-4210-AC41-15F91D0F6F23}"/>
              </a:ext>
            </a:extLst>
          </p:cNvPr>
          <p:cNvSpPr>
            <a:spLocks noGrp="1"/>
          </p:cNvSpPr>
          <p:nvPr>
            <p:ph idx="1"/>
          </p:nvPr>
        </p:nvSpPr>
        <p:spPr>
          <a:xfrm>
            <a:off x="327025" y="1816100"/>
            <a:ext cx="16859250" cy="6864350"/>
          </a:xfrm>
        </p:spPr>
        <p:txBody>
          <a:bodyPr>
            <a:normAutofit fontScale="77500" lnSpcReduction="20000"/>
          </a:bodyPr>
          <a:lstStyle/>
          <a:p>
            <a:pPr marL="85725" indent="0">
              <a:buNone/>
            </a:pPr>
            <a:r>
              <a:rPr lang="nl-BE" sz="2800" b="1" dirty="0">
                <a:solidFill>
                  <a:srgbClr val="002060"/>
                </a:solidFill>
              </a:rPr>
              <a:t>Voer een </a:t>
            </a:r>
            <a:r>
              <a:rPr lang="nl-BE" sz="2800" b="1" u="sng" dirty="0">
                <a:solidFill>
                  <a:srgbClr val="002060"/>
                </a:solidFill>
              </a:rPr>
              <a:t>meervoudige</a:t>
            </a:r>
            <a:r>
              <a:rPr lang="nl-BE" sz="2800" b="1" dirty="0">
                <a:solidFill>
                  <a:srgbClr val="002060"/>
                </a:solidFill>
              </a:rPr>
              <a:t> regressie uit met als afhankelijke variabele </a:t>
            </a:r>
            <a:r>
              <a:rPr lang="nl-BE" sz="2800" b="1" i="1" dirty="0">
                <a:solidFill>
                  <a:srgbClr val="002060"/>
                </a:solidFill>
              </a:rPr>
              <a:t>V7_mijdgedrag3.  </a:t>
            </a:r>
          </a:p>
          <a:p>
            <a:pPr marL="85725" indent="0">
              <a:buNone/>
            </a:pPr>
            <a:r>
              <a:rPr lang="nl-BE" sz="2800" b="1" dirty="0">
                <a:solidFill>
                  <a:srgbClr val="002060"/>
                </a:solidFill>
              </a:rPr>
              <a:t>Als onafhankelijke variabelen selecteer je </a:t>
            </a:r>
          </a:p>
          <a:p>
            <a:pPr>
              <a:buFont typeface="Arial" panose="020B0604020202020204" pitchFamily="34" charset="0"/>
              <a:buChar char="•"/>
            </a:pPr>
            <a:r>
              <a:rPr lang="nl-BE" sz="2800" b="1" i="1" dirty="0">
                <a:solidFill>
                  <a:srgbClr val="002060"/>
                </a:solidFill>
              </a:rPr>
              <a:t>leeftijd, V0_4_geslacht</a:t>
            </a:r>
          </a:p>
          <a:p>
            <a:pPr>
              <a:buFont typeface="Arial" panose="020B0604020202020204" pitchFamily="34" charset="0"/>
              <a:buChar char="•"/>
            </a:pPr>
            <a:r>
              <a:rPr lang="nl-BE" sz="2800" b="1" i="1" dirty="0">
                <a:solidFill>
                  <a:srgbClr val="002060"/>
                </a:solidFill>
              </a:rPr>
              <a:t>support (1 schaal bestaande uit de 4 support-vragen) </a:t>
            </a:r>
          </a:p>
          <a:p>
            <a:pPr>
              <a:buFont typeface="Arial" panose="020B0604020202020204" pitchFamily="34" charset="0"/>
              <a:buChar char="•"/>
            </a:pPr>
            <a:r>
              <a:rPr lang="nl-BE" sz="2800" b="1" i="1" dirty="0">
                <a:solidFill>
                  <a:srgbClr val="002060"/>
                </a:solidFill>
              </a:rPr>
              <a:t>V11_opleidingsniveau. (</a:t>
            </a:r>
            <a:r>
              <a:rPr lang="nl-BE" sz="2800" b="1" i="1" u="sng" dirty="0">
                <a:solidFill>
                  <a:srgbClr val="002060"/>
                </a:solidFill>
              </a:rPr>
              <a:t>data: Buurtbewoners</a:t>
            </a:r>
            <a:r>
              <a:rPr lang="nl-BE" sz="2800" b="1" i="1" dirty="0">
                <a:solidFill>
                  <a:srgbClr val="002060"/>
                </a:solidFill>
              </a:rPr>
              <a:t>)</a:t>
            </a:r>
          </a:p>
          <a:p>
            <a:pPr marL="85725" indent="0">
              <a:buNone/>
            </a:pPr>
            <a:endParaRPr lang="nl-BE" sz="2800" b="1" dirty="0">
              <a:solidFill>
                <a:srgbClr val="002060"/>
              </a:solidFill>
            </a:endParaRPr>
          </a:p>
          <a:p>
            <a:pPr marL="85725" indent="0">
              <a:buNone/>
            </a:pPr>
            <a:r>
              <a:rPr lang="nl-BE" sz="3200" b="1" dirty="0">
                <a:solidFill>
                  <a:srgbClr val="002060"/>
                </a:solidFill>
              </a:rPr>
              <a:t>Zijn er aanwijzingen voor multicollineariteit ? (</a:t>
            </a:r>
            <a:r>
              <a:rPr lang="nl-BE" sz="3200" u="sng" dirty="0">
                <a:solidFill>
                  <a:srgbClr val="002060"/>
                </a:solidFill>
              </a:rPr>
              <a:t>Maak 1 keuze</a:t>
            </a:r>
            <a:r>
              <a:rPr lang="nl-BE" sz="3200" b="1" dirty="0">
                <a:solidFill>
                  <a:srgbClr val="002060"/>
                </a:solidFill>
              </a:rPr>
              <a:t>)</a:t>
            </a:r>
          </a:p>
          <a:p>
            <a:pPr marL="85725" indent="0">
              <a:buNone/>
            </a:pPr>
            <a:endParaRPr lang="nl-BE" b="1" dirty="0">
              <a:solidFill>
                <a:srgbClr val="0070C0"/>
              </a:solidFill>
            </a:endParaRPr>
          </a:p>
          <a:p>
            <a:pPr marL="600075" indent="-514350">
              <a:buAutoNum type="arabicPeriod"/>
            </a:pPr>
            <a:r>
              <a:rPr lang="nl-BE" sz="2800" dirty="0">
                <a:solidFill>
                  <a:srgbClr val="002060"/>
                </a:solidFill>
              </a:rPr>
              <a:t>Multicollineariteit is in het kader van deze meervoudige regressie niet van toepassing</a:t>
            </a:r>
          </a:p>
          <a:p>
            <a:pPr marL="600075" indent="-514350">
              <a:buAutoNum type="arabicPeriod"/>
            </a:pPr>
            <a:endParaRPr lang="nl-BE" sz="2800" dirty="0">
              <a:solidFill>
                <a:srgbClr val="002060"/>
              </a:solidFill>
            </a:endParaRPr>
          </a:p>
          <a:p>
            <a:pPr marL="600075" indent="-514350">
              <a:buAutoNum type="arabicPeriod"/>
            </a:pPr>
            <a:r>
              <a:rPr lang="nl-BE" sz="2800" dirty="0">
                <a:solidFill>
                  <a:srgbClr val="002060"/>
                </a:solidFill>
              </a:rPr>
              <a:t>Dit kunnen we op basis van deze output niet beantwoorden.  We moeten de </a:t>
            </a:r>
            <a:r>
              <a:rPr lang="nl-BE" sz="2800" dirty="0" err="1">
                <a:solidFill>
                  <a:srgbClr val="002060"/>
                </a:solidFill>
              </a:rPr>
              <a:t>bivariate</a:t>
            </a:r>
            <a:r>
              <a:rPr lang="nl-BE" sz="2800" dirty="0">
                <a:solidFill>
                  <a:srgbClr val="002060"/>
                </a:solidFill>
              </a:rPr>
              <a:t> correlaties tussen de onafhankelijke variabelen apart berekenen</a:t>
            </a:r>
          </a:p>
          <a:p>
            <a:pPr marL="600075" indent="-514350">
              <a:buAutoNum type="arabicPeriod"/>
            </a:pPr>
            <a:endParaRPr lang="nl-BE" sz="2800" dirty="0">
              <a:solidFill>
                <a:srgbClr val="002060"/>
              </a:solidFill>
            </a:endParaRPr>
          </a:p>
          <a:p>
            <a:pPr marL="600075" indent="-514350">
              <a:buAutoNum type="arabicPeriod"/>
            </a:pPr>
            <a:r>
              <a:rPr lang="nl-BE" sz="2800" dirty="0">
                <a:solidFill>
                  <a:srgbClr val="002060"/>
                </a:solidFill>
              </a:rPr>
              <a:t>Ja, er zijn aanwijzingen voor multicollineariteit</a:t>
            </a:r>
          </a:p>
          <a:p>
            <a:pPr marL="600075" indent="-514350">
              <a:buAutoNum type="arabicPeriod"/>
            </a:pPr>
            <a:endParaRPr lang="nl-BE" sz="2800" dirty="0">
              <a:solidFill>
                <a:srgbClr val="002060"/>
              </a:solidFill>
            </a:endParaRPr>
          </a:p>
          <a:p>
            <a:pPr marL="600075" indent="-514350">
              <a:buFont typeface="Wingdings" panose="05000000000000000000" pitchFamily="2" charset="2"/>
              <a:buAutoNum type="arabicPeriod"/>
            </a:pPr>
            <a:r>
              <a:rPr lang="nl-BE" sz="2800" dirty="0">
                <a:solidFill>
                  <a:srgbClr val="002060"/>
                </a:solidFill>
                <a:highlight>
                  <a:srgbClr val="FFFF00"/>
                </a:highlight>
              </a:rPr>
              <a:t>Nee, er zijn geen problemen met betrekking tot multicollineariteit</a:t>
            </a:r>
          </a:p>
          <a:p>
            <a:pPr marL="85725" indent="0">
              <a:buNone/>
            </a:pPr>
            <a:r>
              <a:rPr lang="nl-BE" b="1" dirty="0">
                <a:solidFill>
                  <a:srgbClr val="C00000"/>
                </a:solidFill>
                <a:highlight>
                  <a:srgbClr val="FFFF00"/>
                </a:highlight>
                <a:sym typeface="Wingdings" panose="05000000000000000000" pitchFamily="2" charset="2"/>
              </a:rPr>
              <a:t> </a:t>
            </a:r>
            <a:r>
              <a:rPr lang="nl-BE" b="1" dirty="0" err="1">
                <a:solidFill>
                  <a:srgbClr val="C00000"/>
                </a:solidFill>
                <a:highlight>
                  <a:srgbClr val="FFFF00"/>
                </a:highlight>
                <a:sym typeface="Wingdings" panose="05000000000000000000" pitchFamily="2" charset="2"/>
              </a:rPr>
              <a:t>Bivariate</a:t>
            </a:r>
            <a:r>
              <a:rPr lang="nl-BE" b="1" dirty="0">
                <a:solidFill>
                  <a:srgbClr val="C00000"/>
                </a:solidFill>
                <a:highlight>
                  <a:srgbClr val="FFFF00"/>
                </a:highlight>
                <a:sym typeface="Wingdings" panose="05000000000000000000" pitchFamily="2" charset="2"/>
              </a:rPr>
              <a:t> correlaties &lt; .60 en </a:t>
            </a:r>
            <a:r>
              <a:rPr lang="nl-BE" b="1" dirty="0" err="1">
                <a:solidFill>
                  <a:srgbClr val="C00000"/>
                </a:solidFill>
                <a:highlight>
                  <a:srgbClr val="FFFF00"/>
                </a:highlight>
              </a:rPr>
              <a:t>Variance</a:t>
            </a:r>
            <a:r>
              <a:rPr lang="nl-BE" b="1" dirty="0">
                <a:solidFill>
                  <a:srgbClr val="C00000"/>
                </a:solidFill>
                <a:highlight>
                  <a:srgbClr val="FFFF00"/>
                </a:highlight>
              </a:rPr>
              <a:t> </a:t>
            </a:r>
            <a:r>
              <a:rPr lang="nl-BE" b="1" dirty="0" err="1">
                <a:solidFill>
                  <a:srgbClr val="C00000"/>
                </a:solidFill>
                <a:highlight>
                  <a:srgbClr val="FFFF00"/>
                </a:highlight>
              </a:rPr>
              <a:t>Inflation</a:t>
            </a:r>
            <a:r>
              <a:rPr lang="nl-BE" b="1" dirty="0">
                <a:solidFill>
                  <a:srgbClr val="C00000"/>
                </a:solidFill>
                <a:highlight>
                  <a:srgbClr val="FFFF00"/>
                </a:highlight>
              </a:rPr>
              <a:t> Factor &lt; 5 = geen aanwijzingen voor multicollineariteit</a:t>
            </a:r>
          </a:p>
          <a:p>
            <a:pPr marL="600075" indent="-514350">
              <a:buAutoNum type="arabicPeriod"/>
            </a:pPr>
            <a:endParaRPr lang="nl-BE" sz="2800" dirty="0">
              <a:solidFill>
                <a:srgbClr val="002060"/>
              </a:solidFill>
              <a:highlight>
                <a:srgbClr val="FFFF00"/>
              </a:highlight>
            </a:endParaRPr>
          </a:p>
          <a:p>
            <a:pPr marL="600075" indent="-514350">
              <a:buAutoNum type="arabicPeriod"/>
            </a:pPr>
            <a:endParaRPr lang="nl-BE" sz="2800" b="1" dirty="0">
              <a:solidFill>
                <a:srgbClr val="0070C0"/>
              </a:solidFill>
            </a:endParaRPr>
          </a:p>
          <a:p>
            <a:pPr marL="85725" indent="0">
              <a:buNone/>
            </a:pPr>
            <a:endParaRPr lang="nl-BE" b="1" dirty="0">
              <a:solidFill>
                <a:srgbClr val="0070C0"/>
              </a:solidFill>
            </a:endParaRPr>
          </a:p>
          <a:p>
            <a:pPr marL="85725" indent="0" algn="just">
              <a:buNone/>
            </a:pPr>
            <a:endParaRPr lang="nl-BE" sz="4500" b="1" u="sng" dirty="0">
              <a:solidFill>
                <a:srgbClr val="0070C0"/>
              </a:solidFill>
            </a:endParaRPr>
          </a:p>
          <a:p>
            <a:pPr marL="85725" indent="0" algn="just">
              <a:buNone/>
            </a:pPr>
            <a:endParaRPr lang="nl-BE" sz="4500" b="1" u="sng" dirty="0">
              <a:solidFill>
                <a:srgbClr val="0070C0"/>
              </a:solidFill>
            </a:endParaRPr>
          </a:p>
        </p:txBody>
      </p:sp>
    </p:spTree>
    <p:extLst>
      <p:ext uri="{BB962C8B-B14F-4D97-AF65-F5344CB8AC3E}">
        <p14:creationId xmlns:p14="http://schemas.microsoft.com/office/powerpoint/2010/main" val="91674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5AC6D1-F69E-4EC2-A458-94B89E7CF191}"/>
              </a:ext>
            </a:extLst>
          </p:cNvPr>
          <p:cNvSpPr>
            <a:spLocks noGrp="1"/>
          </p:cNvSpPr>
          <p:nvPr>
            <p:ph type="title"/>
          </p:nvPr>
        </p:nvSpPr>
        <p:spPr/>
        <p:txBody>
          <a:bodyPr/>
          <a:lstStyle/>
          <a:p>
            <a:r>
              <a:rPr lang="nl-BE" dirty="0"/>
              <a:t>VOORBEELDEXAMENVRAAG 10</a:t>
            </a:r>
          </a:p>
        </p:txBody>
      </p:sp>
      <p:sp>
        <p:nvSpPr>
          <p:cNvPr id="4" name="Tijdelijke aanduiding voor dianummer 3">
            <a:extLst>
              <a:ext uri="{FF2B5EF4-FFF2-40B4-BE49-F238E27FC236}">
                <a16:creationId xmlns:a16="http://schemas.microsoft.com/office/drawing/2014/main" id="{6C2D1DF3-FF0C-47F1-B912-CED6366FD874}"/>
              </a:ext>
            </a:extLst>
          </p:cNvPr>
          <p:cNvSpPr>
            <a:spLocks noGrp="1"/>
          </p:cNvSpPr>
          <p:nvPr>
            <p:ph type="sldNum" sz="quarter" idx="12"/>
          </p:nvPr>
        </p:nvSpPr>
        <p:spPr/>
        <p:txBody>
          <a:bodyPr/>
          <a:lstStyle/>
          <a:p>
            <a:fld id="{7AE184E0-0BD4-4705-A12B-9B71DDE63301}" type="slidenum">
              <a:rPr lang="en-GB" noProof="0" smtClean="0"/>
              <a:t>36</a:t>
            </a:fld>
            <a:endParaRPr lang="en-GB" noProof="0" dirty="0"/>
          </a:p>
        </p:txBody>
      </p:sp>
      <p:sp>
        <p:nvSpPr>
          <p:cNvPr id="5" name="Tijdelijke aanduiding voor inhoud 4">
            <a:extLst>
              <a:ext uri="{FF2B5EF4-FFF2-40B4-BE49-F238E27FC236}">
                <a16:creationId xmlns:a16="http://schemas.microsoft.com/office/drawing/2014/main" id="{03606EDF-DF4F-4873-878E-89AF8BE44932}"/>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6BEE2090-BCA6-4510-8180-25EB6F4396AC}"/>
              </a:ext>
            </a:extLst>
          </p:cNvPr>
          <p:cNvSpPr>
            <a:spLocks noGrp="1"/>
          </p:cNvSpPr>
          <p:nvPr>
            <p:ph idx="1"/>
          </p:nvPr>
        </p:nvSpPr>
        <p:spPr>
          <a:xfrm>
            <a:off x="327025" y="1816100"/>
            <a:ext cx="16859250" cy="6864350"/>
          </a:xfrm>
        </p:spPr>
        <p:txBody>
          <a:bodyPr>
            <a:normAutofit fontScale="92500" lnSpcReduction="10000"/>
          </a:bodyPr>
          <a:lstStyle/>
          <a:p>
            <a:pPr marL="85725" indent="0" algn="just">
              <a:buNone/>
            </a:pPr>
            <a:r>
              <a:rPr lang="nl-BE" sz="2800" b="1" dirty="0">
                <a:solidFill>
                  <a:srgbClr val="002060"/>
                </a:solidFill>
              </a:rPr>
              <a:t>Voer een </a:t>
            </a:r>
            <a:r>
              <a:rPr lang="nl-BE" sz="2800" b="1" u="sng" dirty="0">
                <a:solidFill>
                  <a:srgbClr val="002060"/>
                </a:solidFill>
              </a:rPr>
              <a:t>hiërarchische</a:t>
            </a:r>
            <a:r>
              <a:rPr lang="nl-BE" sz="2800" b="1" dirty="0">
                <a:solidFill>
                  <a:srgbClr val="002060"/>
                </a:solidFill>
              </a:rPr>
              <a:t> meervoudige regressie uit met als afhankelijke variabele </a:t>
            </a:r>
            <a:r>
              <a:rPr lang="nl-BE" sz="2800" b="1" i="1" dirty="0">
                <a:solidFill>
                  <a:srgbClr val="002060"/>
                </a:solidFill>
              </a:rPr>
              <a:t>V7_mijdgedrag3. </a:t>
            </a:r>
            <a:r>
              <a:rPr lang="nl-BE" sz="2800" b="1" dirty="0">
                <a:solidFill>
                  <a:srgbClr val="002060"/>
                </a:solidFill>
              </a:rPr>
              <a:t>Als onafhankelijke variabelen selecteer je </a:t>
            </a:r>
          </a:p>
          <a:p>
            <a:pPr algn="just">
              <a:buFont typeface="Arial" panose="020B0604020202020204" pitchFamily="34" charset="0"/>
              <a:buChar char="•"/>
            </a:pPr>
            <a:r>
              <a:rPr lang="nl-BE" sz="2800" b="1" i="1" dirty="0">
                <a:solidFill>
                  <a:srgbClr val="002060"/>
                </a:solidFill>
              </a:rPr>
              <a:t>leeftijd, V0_4_geslacht </a:t>
            </a:r>
            <a:r>
              <a:rPr lang="nl-BE" sz="2800" b="1" dirty="0">
                <a:solidFill>
                  <a:srgbClr val="002060"/>
                </a:solidFill>
              </a:rPr>
              <a:t>(blok 1)</a:t>
            </a:r>
          </a:p>
          <a:p>
            <a:pPr algn="just">
              <a:buFont typeface="Arial" panose="020B0604020202020204" pitchFamily="34" charset="0"/>
              <a:buChar char="•"/>
            </a:pPr>
            <a:r>
              <a:rPr lang="nl-BE" sz="2800" b="1" i="1" dirty="0">
                <a:solidFill>
                  <a:srgbClr val="002060"/>
                </a:solidFill>
              </a:rPr>
              <a:t>support </a:t>
            </a:r>
            <a:r>
              <a:rPr lang="nl-BE" sz="2800" b="1" dirty="0">
                <a:solidFill>
                  <a:srgbClr val="002060"/>
                </a:solidFill>
              </a:rPr>
              <a:t>(schaal) en </a:t>
            </a:r>
            <a:r>
              <a:rPr lang="nl-BE" sz="2800" b="1" i="1" dirty="0">
                <a:solidFill>
                  <a:srgbClr val="002060"/>
                </a:solidFill>
              </a:rPr>
              <a:t>V11_opleidingsniveau </a:t>
            </a:r>
            <a:r>
              <a:rPr lang="nl-BE" sz="2800" b="1" dirty="0">
                <a:solidFill>
                  <a:srgbClr val="002060"/>
                </a:solidFill>
              </a:rPr>
              <a:t>(blok 2).</a:t>
            </a:r>
          </a:p>
          <a:p>
            <a:pPr marL="85725" indent="0" algn="just">
              <a:buNone/>
            </a:pPr>
            <a:endParaRPr lang="nl-BE" sz="2800" b="1" u="sng" dirty="0">
              <a:solidFill>
                <a:srgbClr val="002060"/>
              </a:solidFill>
            </a:endParaRPr>
          </a:p>
          <a:p>
            <a:pPr marL="85725" indent="0" algn="just">
              <a:buNone/>
            </a:pPr>
            <a:r>
              <a:rPr lang="nl-BE" sz="2800" b="1" dirty="0">
                <a:solidFill>
                  <a:srgbClr val="002060"/>
                </a:solidFill>
              </a:rPr>
              <a:t>Welke uitspraak is </a:t>
            </a:r>
            <a:r>
              <a:rPr lang="nl-BE" b="1" dirty="0">
                <a:solidFill>
                  <a:srgbClr val="002060"/>
                </a:solidFill>
              </a:rPr>
              <a:t>JUIST</a:t>
            </a:r>
            <a:r>
              <a:rPr lang="nl-BE" sz="2800" b="1" dirty="0">
                <a:solidFill>
                  <a:srgbClr val="002060"/>
                </a:solidFill>
              </a:rPr>
              <a:t>?  (</a:t>
            </a:r>
            <a:r>
              <a:rPr lang="nl-BE" sz="2800" u="sng" dirty="0">
                <a:solidFill>
                  <a:srgbClr val="002060"/>
                </a:solidFill>
              </a:rPr>
              <a:t>Maak 1 keuze</a:t>
            </a:r>
            <a:r>
              <a:rPr lang="nl-BE" sz="2800" b="1" u="sng" dirty="0">
                <a:solidFill>
                  <a:srgbClr val="002060"/>
                </a:solidFill>
              </a:rPr>
              <a:t>)</a:t>
            </a:r>
            <a:endParaRPr lang="nl-BE" sz="2800" b="1" dirty="0">
              <a:solidFill>
                <a:srgbClr val="002060"/>
              </a:solidFill>
            </a:endParaRPr>
          </a:p>
          <a:p>
            <a:pPr marL="85725" indent="0" algn="just">
              <a:buNone/>
            </a:pPr>
            <a:endParaRPr lang="nl-BE" sz="2800" b="1" dirty="0">
              <a:solidFill>
                <a:srgbClr val="002060"/>
              </a:solidFill>
            </a:endParaRPr>
          </a:p>
          <a:p>
            <a:pPr marL="600075" indent="-514350" algn="just">
              <a:buAutoNum type="arabicPeriod"/>
            </a:pPr>
            <a:r>
              <a:rPr lang="nl-BE" sz="2800" dirty="0">
                <a:solidFill>
                  <a:srgbClr val="002060"/>
                </a:solidFill>
              </a:rPr>
              <a:t>Alle onafhankelijke variabelen verklaren samen 49,1% van de variantie in </a:t>
            </a:r>
            <a:r>
              <a:rPr lang="nl-BE" sz="2800" i="1" dirty="0">
                <a:solidFill>
                  <a:srgbClr val="002060"/>
                </a:solidFill>
              </a:rPr>
              <a:t>mijdgedrag.</a:t>
            </a:r>
          </a:p>
          <a:p>
            <a:pPr marL="600075" indent="-514350" algn="just">
              <a:buAutoNum type="arabicPeriod"/>
            </a:pPr>
            <a:endParaRPr lang="nl-BE" sz="2800" dirty="0">
              <a:solidFill>
                <a:srgbClr val="002060"/>
              </a:solidFill>
            </a:endParaRPr>
          </a:p>
          <a:p>
            <a:pPr marL="600075" indent="-514350" algn="just">
              <a:buAutoNum type="arabicPeriod"/>
            </a:pPr>
            <a:r>
              <a:rPr lang="nl-BE" sz="2800" i="1" dirty="0">
                <a:solidFill>
                  <a:srgbClr val="002060"/>
                </a:solidFill>
              </a:rPr>
              <a:t>Opleidingsniveau </a:t>
            </a:r>
            <a:r>
              <a:rPr lang="nl-BE" sz="2800" dirty="0">
                <a:solidFill>
                  <a:srgbClr val="002060"/>
                </a:solidFill>
              </a:rPr>
              <a:t>en</a:t>
            </a:r>
            <a:r>
              <a:rPr lang="nl-BE" sz="2800" i="1" dirty="0">
                <a:solidFill>
                  <a:srgbClr val="002060"/>
                </a:solidFill>
              </a:rPr>
              <a:t> support </a:t>
            </a:r>
            <a:r>
              <a:rPr lang="nl-BE" sz="2800" dirty="0">
                <a:solidFill>
                  <a:srgbClr val="002060"/>
                </a:solidFill>
              </a:rPr>
              <a:t>verklaren samen 6% van de variantie in</a:t>
            </a:r>
            <a:r>
              <a:rPr lang="nl-BE" sz="2800" i="1" dirty="0">
                <a:solidFill>
                  <a:srgbClr val="002060"/>
                </a:solidFill>
              </a:rPr>
              <a:t> mijdgedrag.</a:t>
            </a:r>
          </a:p>
          <a:p>
            <a:pPr marL="600075" indent="-514350" algn="just">
              <a:buAutoNum type="arabicPeriod"/>
            </a:pPr>
            <a:endParaRPr lang="nl-BE" sz="2800" dirty="0">
              <a:solidFill>
                <a:srgbClr val="002060"/>
              </a:solidFill>
            </a:endParaRPr>
          </a:p>
          <a:p>
            <a:pPr marL="600075" indent="-514350" algn="just">
              <a:buAutoNum type="arabicPeriod"/>
            </a:pPr>
            <a:r>
              <a:rPr lang="nl-BE" sz="2800" i="1" dirty="0">
                <a:solidFill>
                  <a:srgbClr val="002060"/>
                </a:solidFill>
              </a:rPr>
              <a:t>Geslacht</a:t>
            </a:r>
            <a:r>
              <a:rPr lang="nl-BE" sz="2800" dirty="0">
                <a:solidFill>
                  <a:srgbClr val="002060"/>
                </a:solidFill>
              </a:rPr>
              <a:t> en </a:t>
            </a:r>
            <a:r>
              <a:rPr lang="nl-BE" sz="2800" i="1" dirty="0">
                <a:solidFill>
                  <a:srgbClr val="002060"/>
                </a:solidFill>
              </a:rPr>
              <a:t>leeftijd</a:t>
            </a:r>
            <a:r>
              <a:rPr lang="nl-BE" sz="2800" dirty="0">
                <a:solidFill>
                  <a:srgbClr val="002060"/>
                </a:solidFill>
              </a:rPr>
              <a:t> verklaren samen 42,5% van de variantie in </a:t>
            </a:r>
            <a:r>
              <a:rPr lang="nl-BE" sz="2800" i="1" dirty="0">
                <a:solidFill>
                  <a:srgbClr val="002060"/>
                </a:solidFill>
              </a:rPr>
              <a:t>mijdgedrag.</a:t>
            </a:r>
          </a:p>
          <a:p>
            <a:pPr marL="600075" indent="-514350" algn="just">
              <a:buAutoNum type="arabicPeriod"/>
            </a:pPr>
            <a:endParaRPr lang="nl-BE" sz="2800" i="1" dirty="0">
              <a:solidFill>
                <a:srgbClr val="002060"/>
              </a:solidFill>
            </a:endParaRPr>
          </a:p>
          <a:p>
            <a:pPr marL="85725" indent="0" algn="just">
              <a:buNone/>
            </a:pPr>
            <a:r>
              <a:rPr lang="nl-BE" sz="2800" dirty="0">
                <a:solidFill>
                  <a:srgbClr val="002060"/>
                </a:solidFill>
              </a:rPr>
              <a:t>4.   Er </a:t>
            </a:r>
            <a:r>
              <a:rPr lang="nl-BE" dirty="0">
                <a:solidFill>
                  <a:srgbClr val="002060"/>
                </a:solidFill>
              </a:rPr>
              <a:t>is niet voldaan aan de assumptie van </a:t>
            </a:r>
            <a:r>
              <a:rPr lang="nl-BE" dirty="0" err="1">
                <a:solidFill>
                  <a:srgbClr val="002060"/>
                </a:solidFill>
              </a:rPr>
              <a:t>lineariteit</a:t>
            </a:r>
            <a:r>
              <a:rPr lang="nl-BE" dirty="0">
                <a:solidFill>
                  <a:srgbClr val="002060"/>
                </a:solidFill>
              </a:rPr>
              <a:t>.</a:t>
            </a:r>
            <a:endParaRPr lang="nl-BE" sz="2800" b="1" dirty="0">
              <a:solidFill>
                <a:srgbClr val="0070C0"/>
              </a:solidFill>
            </a:endParaRPr>
          </a:p>
        </p:txBody>
      </p:sp>
    </p:spTree>
    <p:extLst>
      <p:ext uri="{BB962C8B-B14F-4D97-AF65-F5344CB8AC3E}">
        <p14:creationId xmlns:p14="http://schemas.microsoft.com/office/powerpoint/2010/main" val="163889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5AC6D1-F69E-4EC2-A458-94B89E7CF191}"/>
              </a:ext>
            </a:extLst>
          </p:cNvPr>
          <p:cNvSpPr>
            <a:spLocks noGrp="1"/>
          </p:cNvSpPr>
          <p:nvPr>
            <p:ph type="title"/>
          </p:nvPr>
        </p:nvSpPr>
        <p:spPr/>
        <p:txBody>
          <a:bodyPr/>
          <a:lstStyle/>
          <a:p>
            <a:r>
              <a:rPr lang="nl-BE" dirty="0"/>
              <a:t>VOORBEELDEXAMENVRAAG 10</a:t>
            </a:r>
          </a:p>
        </p:txBody>
      </p:sp>
      <p:sp>
        <p:nvSpPr>
          <p:cNvPr id="4" name="Tijdelijke aanduiding voor dianummer 3">
            <a:extLst>
              <a:ext uri="{FF2B5EF4-FFF2-40B4-BE49-F238E27FC236}">
                <a16:creationId xmlns:a16="http://schemas.microsoft.com/office/drawing/2014/main" id="{6C2D1DF3-FF0C-47F1-B912-CED6366FD874}"/>
              </a:ext>
            </a:extLst>
          </p:cNvPr>
          <p:cNvSpPr>
            <a:spLocks noGrp="1"/>
          </p:cNvSpPr>
          <p:nvPr>
            <p:ph type="sldNum" sz="quarter" idx="12"/>
          </p:nvPr>
        </p:nvSpPr>
        <p:spPr/>
        <p:txBody>
          <a:bodyPr/>
          <a:lstStyle/>
          <a:p>
            <a:fld id="{7AE184E0-0BD4-4705-A12B-9B71DDE63301}" type="slidenum">
              <a:rPr lang="en-GB" noProof="0" smtClean="0"/>
              <a:t>37</a:t>
            </a:fld>
            <a:endParaRPr lang="en-GB" noProof="0" dirty="0"/>
          </a:p>
        </p:txBody>
      </p:sp>
      <p:sp>
        <p:nvSpPr>
          <p:cNvPr id="5" name="Tijdelijke aanduiding voor inhoud 4">
            <a:extLst>
              <a:ext uri="{FF2B5EF4-FFF2-40B4-BE49-F238E27FC236}">
                <a16:creationId xmlns:a16="http://schemas.microsoft.com/office/drawing/2014/main" id="{03606EDF-DF4F-4873-878E-89AF8BE44932}"/>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6BEE2090-BCA6-4510-8180-25EB6F4396AC}"/>
              </a:ext>
            </a:extLst>
          </p:cNvPr>
          <p:cNvSpPr>
            <a:spLocks noGrp="1"/>
          </p:cNvSpPr>
          <p:nvPr>
            <p:ph idx="1"/>
          </p:nvPr>
        </p:nvSpPr>
        <p:spPr>
          <a:xfrm>
            <a:off x="327025" y="1816100"/>
            <a:ext cx="16859250" cy="6864350"/>
          </a:xfrm>
        </p:spPr>
        <p:txBody>
          <a:bodyPr>
            <a:normAutofit fontScale="92500" lnSpcReduction="10000"/>
          </a:bodyPr>
          <a:lstStyle/>
          <a:p>
            <a:pPr marL="85725" indent="0" algn="just">
              <a:buNone/>
            </a:pPr>
            <a:r>
              <a:rPr lang="nl-BE" sz="2800" b="1" dirty="0">
                <a:solidFill>
                  <a:srgbClr val="002060"/>
                </a:solidFill>
              </a:rPr>
              <a:t>Voer een </a:t>
            </a:r>
            <a:r>
              <a:rPr lang="nl-BE" sz="2800" b="1" u="sng" dirty="0">
                <a:solidFill>
                  <a:srgbClr val="002060"/>
                </a:solidFill>
              </a:rPr>
              <a:t>hiërarchische</a:t>
            </a:r>
            <a:r>
              <a:rPr lang="nl-BE" sz="2800" b="1" dirty="0">
                <a:solidFill>
                  <a:srgbClr val="002060"/>
                </a:solidFill>
              </a:rPr>
              <a:t> meervoudige regressie uit met als afhankelijke variabele </a:t>
            </a:r>
            <a:r>
              <a:rPr lang="nl-BE" sz="2800" b="1" i="1" dirty="0">
                <a:solidFill>
                  <a:srgbClr val="002060"/>
                </a:solidFill>
              </a:rPr>
              <a:t>V7_mijdgedrag3. </a:t>
            </a:r>
            <a:r>
              <a:rPr lang="nl-BE" sz="2800" b="1" dirty="0">
                <a:solidFill>
                  <a:srgbClr val="002060"/>
                </a:solidFill>
              </a:rPr>
              <a:t>Als onafhankelijke variabelen selecteer je </a:t>
            </a:r>
          </a:p>
          <a:p>
            <a:pPr algn="just">
              <a:buFont typeface="Arial" panose="020B0604020202020204" pitchFamily="34" charset="0"/>
              <a:buChar char="•"/>
            </a:pPr>
            <a:r>
              <a:rPr lang="nl-BE" sz="2800" b="1" i="1" dirty="0">
                <a:solidFill>
                  <a:srgbClr val="002060"/>
                </a:solidFill>
              </a:rPr>
              <a:t>leeftijd, V0_4_geslacht </a:t>
            </a:r>
            <a:r>
              <a:rPr lang="nl-BE" sz="2800" b="1" dirty="0">
                <a:solidFill>
                  <a:srgbClr val="002060"/>
                </a:solidFill>
              </a:rPr>
              <a:t>(blok 1)</a:t>
            </a:r>
          </a:p>
          <a:p>
            <a:pPr algn="just">
              <a:buFont typeface="Arial" panose="020B0604020202020204" pitchFamily="34" charset="0"/>
              <a:buChar char="•"/>
            </a:pPr>
            <a:r>
              <a:rPr lang="nl-BE" sz="2800" b="1" i="1" dirty="0">
                <a:solidFill>
                  <a:srgbClr val="002060"/>
                </a:solidFill>
              </a:rPr>
              <a:t>support </a:t>
            </a:r>
            <a:r>
              <a:rPr lang="nl-BE" sz="2800" b="1" dirty="0">
                <a:solidFill>
                  <a:srgbClr val="002060"/>
                </a:solidFill>
              </a:rPr>
              <a:t>(schaal) en </a:t>
            </a:r>
            <a:r>
              <a:rPr lang="nl-BE" sz="2800" b="1" i="1" dirty="0">
                <a:solidFill>
                  <a:srgbClr val="002060"/>
                </a:solidFill>
              </a:rPr>
              <a:t>V11_opleidingsniveau </a:t>
            </a:r>
            <a:r>
              <a:rPr lang="nl-BE" sz="2800" b="1" dirty="0">
                <a:solidFill>
                  <a:srgbClr val="002060"/>
                </a:solidFill>
              </a:rPr>
              <a:t>(blok 2).</a:t>
            </a:r>
          </a:p>
          <a:p>
            <a:pPr marL="85725" indent="0" algn="just">
              <a:buNone/>
            </a:pPr>
            <a:endParaRPr lang="nl-BE" sz="2800" b="1" u="sng" dirty="0">
              <a:solidFill>
                <a:srgbClr val="002060"/>
              </a:solidFill>
            </a:endParaRPr>
          </a:p>
          <a:p>
            <a:pPr marL="85725" indent="0" algn="just">
              <a:buNone/>
            </a:pPr>
            <a:r>
              <a:rPr lang="nl-BE" sz="2800" b="1" dirty="0">
                <a:solidFill>
                  <a:srgbClr val="002060"/>
                </a:solidFill>
              </a:rPr>
              <a:t>Welke uitspraak is </a:t>
            </a:r>
            <a:r>
              <a:rPr lang="nl-BE" b="1" dirty="0">
                <a:solidFill>
                  <a:srgbClr val="002060"/>
                </a:solidFill>
              </a:rPr>
              <a:t>JUIST</a:t>
            </a:r>
            <a:r>
              <a:rPr lang="nl-BE" sz="2800" b="1" dirty="0">
                <a:solidFill>
                  <a:srgbClr val="002060"/>
                </a:solidFill>
              </a:rPr>
              <a:t>?  (</a:t>
            </a:r>
            <a:r>
              <a:rPr lang="nl-BE" sz="2800" u="sng" dirty="0">
                <a:solidFill>
                  <a:srgbClr val="002060"/>
                </a:solidFill>
              </a:rPr>
              <a:t>Maak 1 keuze</a:t>
            </a:r>
            <a:r>
              <a:rPr lang="nl-BE" sz="2800" b="1" dirty="0">
                <a:solidFill>
                  <a:srgbClr val="002060"/>
                </a:solidFill>
              </a:rPr>
              <a:t>)</a:t>
            </a:r>
          </a:p>
          <a:p>
            <a:pPr marL="85725" indent="0" algn="just">
              <a:buNone/>
            </a:pPr>
            <a:endParaRPr lang="nl-BE" sz="2800" b="1" dirty="0">
              <a:solidFill>
                <a:srgbClr val="002060"/>
              </a:solidFill>
            </a:endParaRPr>
          </a:p>
          <a:p>
            <a:pPr marL="600075" indent="-514350" algn="just">
              <a:buAutoNum type="arabicPeriod"/>
            </a:pPr>
            <a:r>
              <a:rPr lang="nl-BE" sz="2800" dirty="0">
                <a:solidFill>
                  <a:srgbClr val="002060"/>
                </a:solidFill>
              </a:rPr>
              <a:t>Alle onafhankelijke variabelen verklaren samen 49,1% van de variantie in </a:t>
            </a:r>
            <a:r>
              <a:rPr lang="nl-BE" sz="2800" i="1" dirty="0">
                <a:solidFill>
                  <a:srgbClr val="002060"/>
                </a:solidFill>
              </a:rPr>
              <a:t>mijdgedrag.</a:t>
            </a:r>
          </a:p>
          <a:p>
            <a:pPr marL="600075" indent="-514350" algn="just">
              <a:buAutoNum type="arabicPeriod"/>
            </a:pPr>
            <a:endParaRPr lang="nl-BE" sz="2800" dirty="0">
              <a:solidFill>
                <a:srgbClr val="002060"/>
              </a:solidFill>
            </a:endParaRPr>
          </a:p>
          <a:p>
            <a:pPr marL="600075" indent="-514350" algn="just">
              <a:buAutoNum type="arabicPeriod"/>
            </a:pPr>
            <a:r>
              <a:rPr lang="nl-BE" sz="2800" b="1" i="1" dirty="0">
                <a:solidFill>
                  <a:srgbClr val="C00000"/>
                </a:solidFill>
                <a:highlight>
                  <a:srgbClr val="FFFF00"/>
                </a:highlight>
              </a:rPr>
              <a:t>Opleidingsniveau </a:t>
            </a:r>
            <a:r>
              <a:rPr lang="nl-BE" sz="2800" b="1" dirty="0">
                <a:solidFill>
                  <a:srgbClr val="C00000"/>
                </a:solidFill>
                <a:highlight>
                  <a:srgbClr val="FFFF00"/>
                </a:highlight>
              </a:rPr>
              <a:t>en</a:t>
            </a:r>
            <a:r>
              <a:rPr lang="nl-BE" sz="2800" b="1" i="1" dirty="0">
                <a:solidFill>
                  <a:srgbClr val="C00000"/>
                </a:solidFill>
                <a:highlight>
                  <a:srgbClr val="FFFF00"/>
                </a:highlight>
              </a:rPr>
              <a:t> support </a:t>
            </a:r>
            <a:r>
              <a:rPr lang="nl-BE" sz="2800" b="1" dirty="0">
                <a:solidFill>
                  <a:srgbClr val="C00000"/>
                </a:solidFill>
                <a:highlight>
                  <a:srgbClr val="FFFF00"/>
                </a:highlight>
              </a:rPr>
              <a:t>verklaren samen 6% van de variantie in</a:t>
            </a:r>
            <a:r>
              <a:rPr lang="nl-BE" sz="2800" b="1" i="1" dirty="0">
                <a:solidFill>
                  <a:srgbClr val="C00000"/>
                </a:solidFill>
                <a:highlight>
                  <a:srgbClr val="FFFF00"/>
                </a:highlight>
              </a:rPr>
              <a:t> mijdgedrag.</a:t>
            </a:r>
          </a:p>
          <a:p>
            <a:pPr marL="600075" indent="-514350" algn="just">
              <a:buAutoNum type="arabicPeriod"/>
            </a:pPr>
            <a:endParaRPr lang="nl-BE" sz="2800" dirty="0">
              <a:solidFill>
                <a:srgbClr val="002060"/>
              </a:solidFill>
            </a:endParaRPr>
          </a:p>
          <a:p>
            <a:pPr marL="600075" indent="-514350" algn="just">
              <a:buAutoNum type="arabicPeriod"/>
            </a:pPr>
            <a:r>
              <a:rPr lang="nl-BE" sz="2800" i="1" dirty="0">
                <a:solidFill>
                  <a:srgbClr val="002060"/>
                </a:solidFill>
              </a:rPr>
              <a:t>Geslacht</a:t>
            </a:r>
            <a:r>
              <a:rPr lang="nl-BE" sz="2800" dirty="0">
                <a:solidFill>
                  <a:srgbClr val="002060"/>
                </a:solidFill>
              </a:rPr>
              <a:t> en </a:t>
            </a:r>
            <a:r>
              <a:rPr lang="nl-BE" sz="2800" i="1" dirty="0">
                <a:solidFill>
                  <a:srgbClr val="002060"/>
                </a:solidFill>
              </a:rPr>
              <a:t>leeftijd</a:t>
            </a:r>
            <a:r>
              <a:rPr lang="nl-BE" sz="2800" dirty="0">
                <a:solidFill>
                  <a:srgbClr val="002060"/>
                </a:solidFill>
              </a:rPr>
              <a:t> verklaren samen 42,5% van de variantie in </a:t>
            </a:r>
            <a:r>
              <a:rPr lang="nl-BE" sz="2800" i="1" dirty="0">
                <a:solidFill>
                  <a:srgbClr val="002060"/>
                </a:solidFill>
              </a:rPr>
              <a:t>mijdgedrag.</a:t>
            </a:r>
          </a:p>
          <a:p>
            <a:pPr marL="600075" indent="-514350" algn="just">
              <a:buAutoNum type="arabicPeriod"/>
            </a:pPr>
            <a:endParaRPr lang="nl-BE" sz="2800" i="1" dirty="0">
              <a:solidFill>
                <a:srgbClr val="002060"/>
              </a:solidFill>
            </a:endParaRPr>
          </a:p>
          <a:p>
            <a:pPr marL="85725" indent="0" algn="just">
              <a:buNone/>
            </a:pPr>
            <a:r>
              <a:rPr lang="nl-BE" sz="2800" dirty="0">
                <a:solidFill>
                  <a:srgbClr val="002060"/>
                </a:solidFill>
              </a:rPr>
              <a:t>4.   Er is niet voldaan aan de assumptie van </a:t>
            </a:r>
            <a:r>
              <a:rPr lang="nl-BE" sz="2800" dirty="0" err="1">
                <a:solidFill>
                  <a:srgbClr val="002060"/>
                </a:solidFill>
              </a:rPr>
              <a:t>lineariteit</a:t>
            </a:r>
            <a:r>
              <a:rPr lang="nl-BE" sz="2800" dirty="0">
                <a:solidFill>
                  <a:srgbClr val="002060"/>
                </a:solidFill>
              </a:rPr>
              <a:t>.</a:t>
            </a:r>
          </a:p>
          <a:p>
            <a:pPr marL="600075" indent="-514350" algn="just">
              <a:buAutoNum type="arabicPeriod"/>
            </a:pPr>
            <a:endParaRPr lang="nl-BE" sz="2800" b="1" dirty="0">
              <a:solidFill>
                <a:srgbClr val="0070C0"/>
              </a:solidFill>
            </a:endParaRPr>
          </a:p>
        </p:txBody>
      </p:sp>
    </p:spTree>
    <p:extLst>
      <p:ext uri="{BB962C8B-B14F-4D97-AF65-F5344CB8AC3E}">
        <p14:creationId xmlns:p14="http://schemas.microsoft.com/office/powerpoint/2010/main" val="2116096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5AC6D1-F69E-4EC2-A458-94B89E7CF191}"/>
              </a:ext>
            </a:extLst>
          </p:cNvPr>
          <p:cNvSpPr>
            <a:spLocks noGrp="1"/>
          </p:cNvSpPr>
          <p:nvPr>
            <p:ph type="title"/>
          </p:nvPr>
        </p:nvSpPr>
        <p:spPr/>
        <p:txBody>
          <a:bodyPr/>
          <a:lstStyle/>
          <a:p>
            <a:r>
              <a:rPr lang="nl-BE" dirty="0"/>
              <a:t>VOORBEELDEXAMENVRAAG 10</a:t>
            </a:r>
          </a:p>
        </p:txBody>
      </p:sp>
      <p:sp>
        <p:nvSpPr>
          <p:cNvPr id="4" name="Tijdelijke aanduiding voor dianummer 3">
            <a:extLst>
              <a:ext uri="{FF2B5EF4-FFF2-40B4-BE49-F238E27FC236}">
                <a16:creationId xmlns:a16="http://schemas.microsoft.com/office/drawing/2014/main" id="{6C2D1DF3-FF0C-47F1-B912-CED6366FD874}"/>
              </a:ext>
            </a:extLst>
          </p:cNvPr>
          <p:cNvSpPr>
            <a:spLocks noGrp="1"/>
          </p:cNvSpPr>
          <p:nvPr>
            <p:ph type="sldNum" sz="quarter" idx="12"/>
          </p:nvPr>
        </p:nvSpPr>
        <p:spPr/>
        <p:txBody>
          <a:bodyPr/>
          <a:lstStyle/>
          <a:p>
            <a:fld id="{7AE184E0-0BD4-4705-A12B-9B71DDE63301}" type="slidenum">
              <a:rPr lang="en-GB" noProof="0" smtClean="0"/>
              <a:t>38</a:t>
            </a:fld>
            <a:endParaRPr lang="en-GB" noProof="0" dirty="0"/>
          </a:p>
        </p:txBody>
      </p:sp>
      <p:sp>
        <p:nvSpPr>
          <p:cNvPr id="5" name="Tijdelijke aanduiding voor inhoud 4">
            <a:extLst>
              <a:ext uri="{FF2B5EF4-FFF2-40B4-BE49-F238E27FC236}">
                <a16:creationId xmlns:a16="http://schemas.microsoft.com/office/drawing/2014/main" id="{03606EDF-DF4F-4873-878E-89AF8BE44932}"/>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6BEE2090-BCA6-4510-8180-25EB6F4396AC}"/>
              </a:ext>
            </a:extLst>
          </p:cNvPr>
          <p:cNvSpPr>
            <a:spLocks noGrp="1"/>
          </p:cNvSpPr>
          <p:nvPr>
            <p:ph idx="1"/>
          </p:nvPr>
        </p:nvSpPr>
        <p:spPr>
          <a:xfrm>
            <a:off x="327025" y="1816100"/>
            <a:ext cx="16859250" cy="6864350"/>
          </a:xfrm>
        </p:spPr>
        <p:txBody>
          <a:bodyPr>
            <a:normAutofit/>
          </a:bodyPr>
          <a:lstStyle/>
          <a:p>
            <a:pPr marL="600075" indent="-514350" algn="just">
              <a:buAutoNum type="arabicPeriod"/>
            </a:pPr>
            <a:endParaRPr lang="nl-BE" sz="2800" dirty="0">
              <a:solidFill>
                <a:srgbClr val="002060"/>
              </a:solidFill>
            </a:endParaRPr>
          </a:p>
          <a:p>
            <a:pPr marL="600075" indent="-514350" algn="just">
              <a:buAutoNum type="arabicPeriod"/>
            </a:pPr>
            <a:r>
              <a:rPr lang="nl-BE" sz="2800" b="1" i="1" dirty="0">
                <a:solidFill>
                  <a:srgbClr val="C00000"/>
                </a:solidFill>
                <a:highlight>
                  <a:srgbClr val="FFFF00"/>
                </a:highlight>
              </a:rPr>
              <a:t>Opleidingsniveau </a:t>
            </a:r>
            <a:r>
              <a:rPr lang="nl-BE" sz="2800" b="1" dirty="0">
                <a:solidFill>
                  <a:srgbClr val="C00000"/>
                </a:solidFill>
                <a:highlight>
                  <a:srgbClr val="FFFF00"/>
                </a:highlight>
              </a:rPr>
              <a:t>en</a:t>
            </a:r>
            <a:r>
              <a:rPr lang="nl-BE" sz="2800" b="1" i="1" dirty="0">
                <a:solidFill>
                  <a:srgbClr val="C00000"/>
                </a:solidFill>
                <a:highlight>
                  <a:srgbClr val="FFFF00"/>
                </a:highlight>
              </a:rPr>
              <a:t> support </a:t>
            </a:r>
            <a:r>
              <a:rPr lang="nl-BE" sz="2800" b="1" dirty="0">
                <a:solidFill>
                  <a:srgbClr val="C00000"/>
                </a:solidFill>
                <a:highlight>
                  <a:srgbClr val="FFFF00"/>
                </a:highlight>
              </a:rPr>
              <a:t>verklaren samen 6% van de variantie in</a:t>
            </a:r>
            <a:r>
              <a:rPr lang="nl-BE" sz="2800" b="1" i="1" dirty="0">
                <a:solidFill>
                  <a:srgbClr val="C00000"/>
                </a:solidFill>
                <a:highlight>
                  <a:srgbClr val="FFFF00"/>
                </a:highlight>
              </a:rPr>
              <a:t> mijdgedrag.</a:t>
            </a:r>
          </a:p>
          <a:p>
            <a:pPr marL="600075" indent="-514350" algn="just">
              <a:buAutoNum type="arabicPeriod"/>
            </a:pPr>
            <a:endParaRPr lang="nl-BE" sz="2800" dirty="0">
              <a:solidFill>
                <a:srgbClr val="002060"/>
              </a:solidFill>
            </a:endParaRPr>
          </a:p>
          <a:p>
            <a:pPr marL="600075" indent="-514350" algn="just">
              <a:buAutoNum type="arabicPeriod"/>
            </a:pPr>
            <a:endParaRPr lang="nl-BE" sz="2800" b="1" dirty="0">
              <a:solidFill>
                <a:srgbClr val="0070C0"/>
              </a:solidFill>
            </a:endParaRPr>
          </a:p>
        </p:txBody>
      </p:sp>
      <p:pic>
        <p:nvPicPr>
          <p:cNvPr id="7" name="Afbeelding 6">
            <a:extLst>
              <a:ext uri="{FF2B5EF4-FFF2-40B4-BE49-F238E27FC236}">
                <a16:creationId xmlns:a16="http://schemas.microsoft.com/office/drawing/2014/main" id="{B203DD83-AAFF-0BE2-B4A8-9F2B97AC0B42}"/>
              </a:ext>
            </a:extLst>
          </p:cNvPr>
          <p:cNvPicPr>
            <a:picLocks noChangeAspect="1"/>
          </p:cNvPicPr>
          <p:nvPr/>
        </p:nvPicPr>
        <p:blipFill>
          <a:blip r:embed="rId3"/>
          <a:stretch>
            <a:fillRect/>
          </a:stretch>
        </p:blipFill>
        <p:spPr>
          <a:xfrm>
            <a:off x="560279" y="3509351"/>
            <a:ext cx="15703551" cy="3477848"/>
          </a:xfrm>
          <a:prstGeom prst="rect">
            <a:avLst/>
          </a:prstGeom>
        </p:spPr>
      </p:pic>
      <p:sp>
        <p:nvSpPr>
          <p:cNvPr id="8" name="Ovaal 7">
            <a:extLst>
              <a:ext uri="{FF2B5EF4-FFF2-40B4-BE49-F238E27FC236}">
                <a16:creationId xmlns:a16="http://schemas.microsoft.com/office/drawing/2014/main" id="{B0D9A11E-F550-D35C-2BDD-FA290C214E09}"/>
              </a:ext>
            </a:extLst>
          </p:cNvPr>
          <p:cNvSpPr/>
          <p:nvPr/>
        </p:nvSpPr>
        <p:spPr>
          <a:xfrm>
            <a:off x="8439150" y="5267325"/>
            <a:ext cx="811104" cy="638175"/>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Tree>
    <p:extLst>
      <p:ext uri="{BB962C8B-B14F-4D97-AF65-F5344CB8AC3E}">
        <p14:creationId xmlns:p14="http://schemas.microsoft.com/office/powerpoint/2010/main" val="666925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2E54A9-A946-4381-AC53-F077D3DD4DA6}"/>
              </a:ext>
            </a:extLst>
          </p:cNvPr>
          <p:cNvSpPr>
            <a:spLocks noGrp="1"/>
          </p:cNvSpPr>
          <p:nvPr>
            <p:ph type="title"/>
          </p:nvPr>
        </p:nvSpPr>
        <p:spPr/>
        <p:txBody>
          <a:bodyPr/>
          <a:lstStyle/>
          <a:p>
            <a:r>
              <a:rPr lang="nl-BE" dirty="0"/>
              <a:t>VOORBEELDEXAMENVRAAG 11</a:t>
            </a:r>
          </a:p>
        </p:txBody>
      </p:sp>
      <p:sp>
        <p:nvSpPr>
          <p:cNvPr id="4" name="Tijdelijke aanduiding voor dianummer 3">
            <a:extLst>
              <a:ext uri="{FF2B5EF4-FFF2-40B4-BE49-F238E27FC236}">
                <a16:creationId xmlns:a16="http://schemas.microsoft.com/office/drawing/2014/main" id="{01BF9AE9-4D65-4858-8EBD-E85A68C28A99}"/>
              </a:ext>
            </a:extLst>
          </p:cNvPr>
          <p:cNvSpPr>
            <a:spLocks noGrp="1"/>
          </p:cNvSpPr>
          <p:nvPr>
            <p:ph type="sldNum" sz="quarter" idx="12"/>
          </p:nvPr>
        </p:nvSpPr>
        <p:spPr/>
        <p:txBody>
          <a:bodyPr/>
          <a:lstStyle/>
          <a:p>
            <a:fld id="{7AE184E0-0BD4-4705-A12B-9B71DDE63301}" type="slidenum">
              <a:rPr lang="en-GB" noProof="0" smtClean="0"/>
              <a:t>39</a:t>
            </a:fld>
            <a:endParaRPr lang="en-GB" noProof="0" dirty="0"/>
          </a:p>
        </p:txBody>
      </p:sp>
      <p:sp>
        <p:nvSpPr>
          <p:cNvPr id="5" name="Tijdelijke aanduiding voor inhoud 4">
            <a:extLst>
              <a:ext uri="{FF2B5EF4-FFF2-40B4-BE49-F238E27FC236}">
                <a16:creationId xmlns:a16="http://schemas.microsoft.com/office/drawing/2014/main" id="{1D96025D-41E2-4C18-8817-BB9EB4C00694}"/>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E65C55ED-78EF-4C3D-9D4D-480FA5FB6FA1}"/>
              </a:ext>
            </a:extLst>
          </p:cNvPr>
          <p:cNvSpPr>
            <a:spLocks noGrp="1"/>
          </p:cNvSpPr>
          <p:nvPr>
            <p:ph idx="1"/>
          </p:nvPr>
        </p:nvSpPr>
        <p:spPr>
          <a:xfrm>
            <a:off x="327025" y="1816100"/>
            <a:ext cx="16859250" cy="6864350"/>
          </a:xfrm>
        </p:spPr>
        <p:txBody>
          <a:bodyPr>
            <a:normAutofit fontScale="55000" lnSpcReduction="20000"/>
          </a:bodyPr>
          <a:lstStyle/>
          <a:p>
            <a:pPr marL="85725" indent="0" algn="just">
              <a:buNone/>
            </a:pPr>
            <a:r>
              <a:rPr lang="nl-BE" sz="4500" b="1" dirty="0">
                <a:solidFill>
                  <a:srgbClr val="002060"/>
                </a:solidFill>
                <a:highlight>
                  <a:srgbClr val="FFFF00"/>
                </a:highlight>
              </a:rPr>
              <a:t>Zie output volgende slide.</a:t>
            </a:r>
          </a:p>
          <a:p>
            <a:pPr marL="85725" indent="0" algn="just">
              <a:buNone/>
            </a:pPr>
            <a:r>
              <a:rPr lang="nl-BE" sz="4500" b="1" dirty="0">
                <a:solidFill>
                  <a:srgbClr val="002060"/>
                </a:solidFill>
              </a:rPr>
              <a:t>In deze output worden de resultaten gepresenteerd van een onafhankelijke t-toets waarbij gekeken wordt of jongens en meisjes significant van elkaar verschillen op gemiddelde beer/alcoholconsumptie in de afgelopen maand.</a:t>
            </a:r>
          </a:p>
          <a:p>
            <a:pPr marL="85725" indent="0" algn="just">
              <a:buNone/>
            </a:pPr>
            <a:r>
              <a:rPr lang="nl-BE" sz="4500" b="1" dirty="0">
                <a:solidFill>
                  <a:srgbClr val="002060"/>
                </a:solidFill>
              </a:rPr>
              <a:t>Uit de resultaten blijkt dat…….</a:t>
            </a:r>
          </a:p>
          <a:p>
            <a:pPr marL="85725" indent="0" algn="just">
              <a:buNone/>
            </a:pPr>
            <a:r>
              <a:rPr lang="nl-BE" sz="4500" u="sng" dirty="0">
                <a:solidFill>
                  <a:srgbClr val="002060"/>
                </a:solidFill>
              </a:rPr>
              <a:t>Maak 1 keuze</a:t>
            </a:r>
          </a:p>
          <a:p>
            <a:pPr marL="85725" indent="0" algn="just">
              <a:buNone/>
            </a:pPr>
            <a:endParaRPr lang="nl-BE" sz="4500" b="1" dirty="0">
              <a:solidFill>
                <a:srgbClr val="002060"/>
              </a:solidFill>
            </a:endParaRPr>
          </a:p>
          <a:p>
            <a:pPr marL="1000125" indent="-914400" algn="just">
              <a:buAutoNum type="arabicPeriod"/>
            </a:pPr>
            <a:r>
              <a:rPr lang="nl-BE" sz="4500" dirty="0">
                <a:solidFill>
                  <a:srgbClr val="002060"/>
                </a:solidFill>
              </a:rPr>
              <a:t>… </a:t>
            </a:r>
            <a:r>
              <a:rPr lang="nl-BE" sz="4500" dirty="0" err="1">
                <a:solidFill>
                  <a:srgbClr val="002060"/>
                </a:solidFill>
              </a:rPr>
              <a:t>Levene’s</a:t>
            </a:r>
            <a:r>
              <a:rPr lang="nl-BE" sz="4500" dirty="0">
                <a:solidFill>
                  <a:srgbClr val="002060"/>
                </a:solidFill>
              </a:rPr>
              <a:t> test niet significant is.</a:t>
            </a:r>
          </a:p>
          <a:p>
            <a:pPr marL="1000125" indent="-914400" algn="just">
              <a:buAutoNum type="arabicPeriod"/>
            </a:pPr>
            <a:endParaRPr lang="nl-BE" sz="4500" dirty="0">
              <a:solidFill>
                <a:srgbClr val="002060"/>
              </a:solidFill>
            </a:endParaRPr>
          </a:p>
          <a:p>
            <a:pPr marL="1000125" indent="-914400" algn="just">
              <a:buAutoNum type="arabicPeriod"/>
            </a:pPr>
            <a:r>
              <a:rPr lang="nl-BE" sz="4500" dirty="0">
                <a:solidFill>
                  <a:srgbClr val="002060"/>
                </a:solidFill>
              </a:rPr>
              <a:t>… we de t-waarde -5,669 moeten interpreteren.</a:t>
            </a:r>
          </a:p>
          <a:p>
            <a:pPr marL="1000125" indent="-914400" algn="just">
              <a:buAutoNum type="arabicPeriod"/>
            </a:pPr>
            <a:endParaRPr lang="nl-BE" sz="4500" dirty="0">
              <a:solidFill>
                <a:srgbClr val="002060"/>
              </a:solidFill>
            </a:endParaRPr>
          </a:p>
          <a:p>
            <a:pPr marL="1000125" indent="-914400" algn="just">
              <a:buAutoNum type="arabicPeriod"/>
            </a:pPr>
            <a:r>
              <a:rPr lang="nl-BE" sz="4500" dirty="0">
                <a:solidFill>
                  <a:srgbClr val="002060"/>
                </a:solidFill>
              </a:rPr>
              <a:t>… aan de assumptie van homogeniteit van variantie in beide groepen is voldaan.</a:t>
            </a:r>
          </a:p>
          <a:p>
            <a:pPr marL="1000125" indent="-914400" algn="just">
              <a:buAutoNum type="arabicPeriod"/>
            </a:pPr>
            <a:endParaRPr lang="nl-BE" sz="4500" dirty="0">
              <a:solidFill>
                <a:srgbClr val="002060"/>
              </a:solidFill>
            </a:endParaRPr>
          </a:p>
          <a:p>
            <a:pPr marL="1000125" indent="-914400" algn="just">
              <a:buAutoNum type="arabicPeriod"/>
            </a:pPr>
            <a:r>
              <a:rPr lang="nl-BE" sz="4500" dirty="0">
                <a:solidFill>
                  <a:srgbClr val="002060"/>
                </a:solidFill>
              </a:rPr>
              <a:t>… jongens en meisjes niet significant van elkaar verschillen op gemiddelde beer/alcohol    consumptie in de afgelopen maand.</a:t>
            </a:r>
          </a:p>
        </p:txBody>
      </p:sp>
    </p:spTree>
    <p:extLst>
      <p:ext uri="{BB962C8B-B14F-4D97-AF65-F5344CB8AC3E}">
        <p14:creationId xmlns:p14="http://schemas.microsoft.com/office/powerpoint/2010/main" val="2547542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893125-E227-4DEA-B138-1734603B0923}"/>
              </a:ext>
            </a:extLst>
          </p:cNvPr>
          <p:cNvSpPr>
            <a:spLocks noGrp="1"/>
          </p:cNvSpPr>
          <p:nvPr>
            <p:ph type="title"/>
          </p:nvPr>
        </p:nvSpPr>
        <p:spPr/>
        <p:txBody>
          <a:bodyPr/>
          <a:lstStyle/>
          <a:p>
            <a:r>
              <a:rPr lang="nl-BE" dirty="0"/>
              <a:t>VOORBEELDEXAMENVRAAG 11</a:t>
            </a:r>
          </a:p>
        </p:txBody>
      </p:sp>
      <p:sp>
        <p:nvSpPr>
          <p:cNvPr id="3" name="Tijdelijke aanduiding voor inhoud 2">
            <a:extLst>
              <a:ext uri="{FF2B5EF4-FFF2-40B4-BE49-F238E27FC236}">
                <a16:creationId xmlns:a16="http://schemas.microsoft.com/office/drawing/2014/main" id="{21B008AB-07BB-4884-879F-285887D773C7}"/>
              </a:ext>
            </a:extLst>
          </p:cNvPr>
          <p:cNvSpPr>
            <a:spLocks noGrp="1"/>
          </p:cNvSpPr>
          <p:nvPr>
            <p:ph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23959FC4-D7B2-4342-AE64-280F7F195461}"/>
              </a:ext>
            </a:extLst>
          </p:cNvPr>
          <p:cNvSpPr>
            <a:spLocks noGrp="1"/>
          </p:cNvSpPr>
          <p:nvPr>
            <p:ph type="sldNum" sz="quarter" idx="12"/>
          </p:nvPr>
        </p:nvSpPr>
        <p:spPr/>
        <p:txBody>
          <a:bodyPr/>
          <a:lstStyle/>
          <a:p>
            <a:fld id="{7AE184E0-0BD4-4705-A12B-9B71DDE63301}" type="slidenum">
              <a:rPr lang="en-GB" noProof="0" smtClean="0"/>
              <a:t>40</a:t>
            </a:fld>
            <a:endParaRPr lang="en-GB" noProof="0" dirty="0"/>
          </a:p>
        </p:txBody>
      </p:sp>
      <p:sp>
        <p:nvSpPr>
          <p:cNvPr id="5" name="Tijdelijke aanduiding voor inhoud 4">
            <a:extLst>
              <a:ext uri="{FF2B5EF4-FFF2-40B4-BE49-F238E27FC236}">
                <a16:creationId xmlns:a16="http://schemas.microsoft.com/office/drawing/2014/main" id="{E8398217-0720-4BD6-8F39-032CE1AB7910}"/>
              </a:ext>
            </a:extLst>
          </p:cNvPr>
          <p:cNvSpPr>
            <a:spLocks noGrp="1"/>
          </p:cNvSpPr>
          <p:nvPr>
            <p:ph idx="13"/>
          </p:nvPr>
        </p:nvSpPr>
        <p:spPr/>
        <p:txBody>
          <a:bodyPr/>
          <a:lstStyle/>
          <a:p>
            <a:endParaRPr lang="nl-BE"/>
          </a:p>
        </p:txBody>
      </p:sp>
      <p:graphicFrame>
        <p:nvGraphicFramePr>
          <p:cNvPr id="6" name="Object 5">
            <a:extLst>
              <a:ext uri="{FF2B5EF4-FFF2-40B4-BE49-F238E27FC236}">
                <a16:creationId xmlns:a16="http://schemas.microsoft.com/office/drawing/2014/main" id="{E35D348D-72C3-454B-A841-4CD28579649A}"/>
              </a:ext>
            </a:extLst>
          </p:cNvPr>
          <p:cNvGraphicFramePr>
            <a:graphicFrameLocks noChangeAspect="1"/>
          </p:cNvGraphicFramePr>
          <p:nvPr>
            <p:extLst>
              <p:ext uri="{D42A27DB-BD31-4B8C-83A1-F6EECF244321}">
                <p14:modId xmlns:p14="http://schemas.microsoft.com/office/powerpoint/2010/main" val="1511701921"/>
              </p:ext>
            </p:extLst>
          </p:nvPr>
        </p:nvGraphicFramePr>
        <p:xfrm>
          <a:off x="420624" y="2578607"/>
          <a:ext cx="16590982" cy="5065199"/>
        </p:xfrm>
        <a:graphic>
          <a:graphicData uri="http://schemas.openxmlformats.org/presentationml/2006/ole">
            <mc:AlternateContent xmlns:mc="http://schemas.openxmlformats.org/markup-compatibility/2006">
              <mc:Choice xmlns:v="urn:schemas-microsoft-com:vml" Requires="v">
                <p:oleObj name="Document" r:id="rId3" imgW="12526071" imgH="2562961" progId="Word.Document.12">
                  <p:embed/>
                </p:oleObj>
              </mc:Choice>
              <mc:Fallback>
                <p:oleObj name="Document" r:id="rId3" imgW="12526071" imgH="2562961" progId="Word.Document.12">
                  <p:embed/>
                  <p:pic>
                    <p:nvPicPr>
                      <p:cNvPr id="6" name="Object 5">
                        <a:extLst>
                          <a:ext uri="{FF2B5EF4-FFF2-40B4-BE49-F238E27FC236}">
                            <a16:creationId xmlns:a16="http://schemas.microsoft.com/office/drawing/2014/main" id="{E35D348D-72C3-454B-A841-4CD28579649A}"/>
                          </a:ext>
                        </a:extLst>
                      </p:cNvPr>
                      <p:cNvPicPr/>
                      <p:nvPr/>
                    </p:nvPicPr>
                    <p:blipFill>
                      <a:blip r:embed="rId4"/>
                      <a:stretch>
                        <a:fillRect/>
                      </a:stretch>
                    </p:blipFill>
                    <p:spPr>
                      <a:xfrm>
                        <a:off x="420624" y="2578607"/>
                        <a:ext cx="16590982" cy="5065199"/>
                      </a:xfrm>
                      <a:prstGeom prst="rect">
                        <a:avLst/>
                      </a:prstGeom>
                    </p:spPr>
                  </p:pic>
                </p:oleObj>
              </mc:Fallback>
            </mc:AlternateContent>
          </a:graphicData>
        </a:graphic>
      </p:graphicFrame>
      <p:sp>
        <p:nvSpPr>
          <p:cNvPr id="7" name="Ovaal 6">
            <a:extLst>
              <a:ext uri="{FF2B5EF4-FFF2-40B4-BE49-F238E27FC236}">
                <a16:creationId xmlns:a16="http://schemas.microsoft.com/office/drawing/2014/main" id="{6A40BC9A-4C2C-C070-2989-19999E299F31}"/>
              </a:ext>
            </a:extLst>
          </p:cNvPr>
          <p:cNvSpPr/>
          <p:nvPr/>
        </p:nvSpPr>
        <p:spPr>
          <a:xfrm>
            <a:off x="6229350" y="44196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Tree>
    <p:extLst>
      <p:ext uri="{BB962C8B-B14F-4D97-AF65-F5344CB8AC3E}">
        <p14:creationId xmlns:p14="http://schemas.microsoft.com/office/powerpoint/2010/main" val="2891654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893125-E227-4DEA-B138-1734603B0923}"/>
              </a:ext>
            </a:extLst>
          </p:cNvPr>
          <p:cNvSpPr>
            <a:spLocks noGrp="1"/>
          </p:cNvSpPr>
          <p:nvPr>
            <p:ph type="title"/>
          </p:nvPr>
        </p:nvSpPr>
        <p:spPr/>
        <p:txBody>
          <a:bodyPr/>
          <a:lstStyle/>
          <a:p>
            <a:r>
              <a:rPr lang="nl-BE" dirty="0"/>
              <a:t>VOORBEELDEXAMENVRAAG 11</a:t>
            </a:r>
          </a:p>
        </p:txBody>
      </p:sp>
      <p:sp>
        <p:nvSpPr>
          <p:cNvPr id="3" name="Tijdelijke aanduiding voor inhoud 2">
            <a:extLst>
              <a:ext uri="{FF2B5EF4-FFF2-40B4-BE49-F238E27FC236}">
                <a16:creationId xmlns:a16="http://schemas.microsoft.com/office/drawing/2014/main" id="{21B008AB-07BB-4884-879F-285887D773C7}"/>
              </a:ext>
            </a:extLst>
          </p:cNvPr>
          <p:cNvSpPr>
            <a:spLocks noGrp="1"/>
          </p:cNvSpPr>
          <p:nvPr>
            <p:ph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23959FC4-D7B2-4342-AE64-280F7F195461}"/>
              </a:ext>
            </a:extLst>
          </p:cNvPr>
          <p:cNvSpPr>
            <a:spLocks noGrp="1"/>
          </p:cNvSpPr>
          <p:nvPr>
            <p:ph type="sldNum" sz="quarter" idx="12"/>
          </p:nvPr>
        </p:nvSpPr>
        <p:spPr/>
        <p:txBody>
          <a:bodyPr/>
          <a:lstStyle/>
          <a:p>
            <a:fld id="{7AE184E0-0BD4-4705-A12B-9B71DDE63301}" type="slidenum">
              <a:rPr lang="en-GB" noProof="0" smtClean="0"/>
              <a:t>41</a:t>
            </a:fld>
            <a:endParaRPr lang="en-GB" noProof="0" dirty="0"/>
          </a:p>
        </p:txBody>
      </p:sp>
      <p:sp>
        <p:nvSpPr>
          <p:cNvPr id="5" name="Tijdelijke aanduiding voor inhoud 4">
            <a:extLst>
              <a:ext uri="{FF2B5EF4-FFF2-40B4-BE49-F238E27FC236}">
                <a16:creationId xmlns:a16="http://schemas.microsoft.com/office/drawing/2014/main" id="{E8398217-0720-4BD6-8F39-032CE1AB7910}"/>
              </a:ext>
            </a:extLst>
          </p:cNvPr>
          <p:cNvSpPr>
            <a:spLocks noGrp="1"/>
          </p:cNvSpPr>
          <p:nvPr>
            <p:ph idx="13"/>
          </p:nvPr>
        </p:nvSpPr>
        <p:spPr/>
        <p:txBody>
          <a:bodyPr/>
          <a:lstStyle/>
          <a:p>
            <a:endParaRPr lang="nl-BE"/>
          </a:p>
        </p:txBody>
      </p:sp>
      <p:graphicFrame>
        <p:nvGraphicFramePr>
          <p:cNvPr id="6" name="Object 5">
            <a:extLst>
              <a:ext uri="{FF2B5EF4-FFF2-40B4-BE49-F238E27FC236}">
                <a16:creationId xmlns:a16="http://schemas.microsoft.com/office/drawing/2014/main" id="{E35D348D-72C3-454B-A841-4CD28579649A}"/>
              </a:ext>
            </a:extLst>
          </p:cNvPr>
          <p:cNvGraphicFramePr>
            <a:graphicFrameLocks noChangeAspect="1"/>
          </p:cNvGraphicFramePr>
          <p:nvPr/>
        </p:nvGraphicFramePr>
        <p:xfrm>
          <a:off x="420624" y="2578607"/>
          <a:ext cx="16590982" cy="5065199"/>
        </p:xfrm>
        <a:graphic>
          <a:graphicData uri="http://schemas.openxmlformats.org/presentationml/2006/ole">
            <mc:AlternateContent xmlns:mc="http://schemas.openxmlformats.org/markup-compatibility/2006">
              <mc:Choice xmlns:v="urn:schemas-microsoft-com:vml" Requires="v">
                <p:oleObj name="Document" r:id="rId3" imgW="12526071" imgH="2562961" progId="Word.Document.12">
                  <p:embed/>
                </p:oleObj>
              </mc:Choice>
              <mc:Fallback>
                <p:oleObj name="Document" r:id="rId3" imgW="12526071" imgH="2562961" progId="Word.Document.12">
                  <p:embed/>
                  <p:pic>
                    <p:nvPicPr>
                      <p:cNvPr id="6" name="Object 5">
                        <a:extLst>
                          <a:ext uri="{FF2B5EF4-FFF2-40B4-BE49-F238E27FC236}">
                            <a16:creationId xmlns:a16="http://schemas.microsoft.com/office/drawing/2014/main" id="{E35D348D-72C3-454B-A841-4CD28579649A}"/>
                          </a:ext>
                        </a:extLst>
                      </p:cNvPr>
                      <p:cNvPicPr/>
                      <p:nvPr/>
                    </p:nvPicPr>
                    <p:blipFill>
                      <a:blip r:embed="rId4"/>
                      <a:stretch>
                        <a:fillRect/>
                      </a:stretch>
                    </p:blipFill>
                    <p:spPr>
                      <a:xfrm>
                        <a:off x="420624" y="2578607"/>
                        <a:ext cx="16590982" cy="5065199"/>
                      </a:xfrm>
                      <a:prstGeom prst="rect">
                        <a:avLst/>
                      </a:prstGeom>
                    </p:spPr>
                  </p:pic>
                </p:oleObj>
              </mc:Fallback>
            </mc:AlternateContent>
          </a:graphicData>
        </a:graphic>
      </p:graphicFrame>
      <p:sp>
        <p:nvSpPr>
          <p:cNvPr id="7" name="Ovaal 6">
            <a:extLst>
              <a:ext uri="{FF2B5EF4-FFF2-40B4-BE49-F238E27FC236}">
                <a16:creationId xmlns:a16="http://schemas.microsoft.com/office/drawing/2014/main" id="{6A40BC9A-4C2C-C070-2989-19999E299F31}"/>
              </a:ext>
            </a:extLst>
          </p:cNvPr>
          <p:cNvSpPr/>
          <p:nvPr/>
        </p:nvSpPr>
        <p:spPr>
          <a:xfrm>
            <a:off x="6229350" y="44196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
        <p:nvSpPr>
          <p:cNvPr id="9" name="Ovaal 8">
            <a:extLst>
              <a:ext uri="{FF2B5EF4-FFF2-40B4-BE49-F238E27FC236}">
                <a16:creationId xmlns:a16="http://schemas.microsoft.com/office/drawing/2014/main" id="{28AE1963-93D6-3496-A6AB-5E8298DC2847}"/>
              </a:ext>
            </a:extLst>
          </p:cNvPr>
          <p:cNvSpPr/>
          <p:nvPr/>
        </p:nvSpPr>
        <p:spPr>
          <a:xfrm>
            <a:off x="9563100" y="56007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Tree>
    <p:extLst>
      <p:ext uri="{BB962C8B-B14F-4D97-AF65-F5344CB8AC3E}">
        <p14:creationId xmlns:p14="http://schemas.microsoft.com/office/powerpoint/2010/main" val="147171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893125-E227-4DEA-B138-1734603B0923}"/>
              </a:ext>
            </a:extLst>
          </p:cNvPr>
          <p:cNvSpPr>
            <a:spLocks noGrp="1"/>
          </p:cNvSpPr>
          <p:nvPr>
            <p:ph type="title"/>
          </p:nvPr>
        </p:nvSpPr>
        <p:spPr/>
        <p:txBody>
          <a:bodyPr/>
          <a:lstStyle/>
          <a:p>
            <a:r>
              <a:rPr lang="nl-BE" dirty="0"/>
              <a:t>VOORBEELDEXAMENVRAAG 11</a:t>
            </a:r>
          </a:p>
        </p:txBody>
      </p:sp>
      <p:sp>
        <p:nvSpPr>
          <p:cNvPr id="3" name="Tijdelijke aanduiding voor inhoud 2">
            <a:extLst>
              <a:ext uri="{FF2B5EF4-FFF2-40B4-BE49-F238E27FC236}">
                <a16:creationId xmlns:a16="http://schemas.microsoft.com/office/drawing/2014/main" id="{21B008AB-07BB-4884-879F-285887D773C7}"/>
              </a:ext>
            </a:extLst>
          </p:cNvPr>
          <p:cNvSpPr>
            <a:spLocks noGrp="1"/>
          </p:cNvSpPr>
          <p:nvPr>
            <p:ph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23959FC4-D7B2-4342-AE64-280F7F195461}"/>
              </a:ext>
            </a:extLst>
          </p:cNvPr>
          <p:cNvSpPr>
            <a:spLocks noGrp="1"/>
          </p:cNvSpPr>
          <p:nvPr>
            <p:ph type="sldNum" sz="quarter" idx="12"/>
          </p:nvPr>
        </p:nvSpPr>
        <p:spPr/>
        <p:txBody>
          <a:bodyPr/>
          <a:lstStyle/>
          <a:p>
            <a:fld id="{7AE184E0-0BD4-4705-A12B-9B71DDE63301}" type="slidenum">
              <a:rPr lang="en-GB" noProof="0" smtClean="0"/>
              <a:t>42</a:t>
            </a:fld>
            <a:endParaRPr lang="en-GB" noProof="0" dirty="0"/>
          </a:p>
        </p:txBody>
      </p:sp>
      <p:sp>
        <p:nvSpPr>
          <p:cNvPr id="5" name="Tijdelijke aanduiding voor inhoud 4">
            <a:extLst>
              <a:ext uri="{FF2B5EF4-FFF2-40B4-BE49-F238E27FC236}">
                <a16:creationId xmlns:a16="http://schemas.microsoft.com/office/drawing/2014/main" id="{E8398217-0720-4BD6-8F39-032CE1AB7910}"/>
              </a:ext>
            </a:extLst>
          </p:cNvPr>
          <p:cNvSpPr>
            <a:spLocks noGrp="1"/>
          </p:cNvSpPr>
          <p:nvPr>
            <p:ph idx="13"/>
          </p:nvPr>
        </p:nvSpPr>
        <p:spPr/>
        <p:txBody>
          <a:bodyPr/>
          <a:lstStyle/>
          <a:p>
            <a:endParaRPr lang="nl-BE"/>
          </a:p>
        </p:txBody>
      </p:sp>
      <p:graphicFrame>
        <p:nvGraphicFramePr>
          <p:cNvPr id="6" name="Object 5">
            <a:extLst>
              <a:ext uri="{FF2B5EF4-FFF2-40B4-BE49-F238E27FC236}">
                <a16:creationId xmlns:a16="http://schemas.microsoft.com/office/drawing/2014/main" id="{E35D348D-72C3-454B-A841-4CD28579649A}"/>
              </a:ext>
            </a:extLst>
          </p:cNvPr>
          <p:cNvGraphicFramePr>
            <a:graphicFrameLocks noChangeAspect="1"/>
          </p:cNvGraphicFramePr>
          <p:nvPr/>
        </p:nvGraphicFramePr>
        <p:xfrm>
          <a:off x="420624" y="2578607"/>
          <a:ext cx="16590982" cy="5065199"/>
        </p:xfrm>
        <a:graphic>
          <a:graphicData uri="http://schemas.openxmlformats.org/presentationml/2006/ole">
            <mc:AlternateContent xmlns:mc="http://schemas.openxmlformats.org/markup-compatibility/2006">
              <mc:Choice xmlns:v="urn:schemas-microsoft-com:vml" Requires="v">
                <p:oleObj name="Document" r:id="rId3" imgW="12526071" imgH="2562961" progId="Word.Document.12">
                  <p:embed/>
                </p:oleObj>
              </mc:Choice>
              <mc:Fallback>
                <p:oleObj name="Document" r:id="rId3" imgW="12526071" imgH="2562961" progId="Word.Document.12">
                  <p:embed/>
                  <p:pic>
                    <p:nvPicPr>
                      <p:cNvPr id="6" name="Object 5">
                        <a:extLst>
                          <a:ext uri="{FF2B5EF4-FFF2-40B4-BE49-F238E27FC236}">
                            <a16:creationId xmlns:a16="http://schemas.microsoft.com/office/drawing/2014/main" id="{E35D348D-72C3-454B-A841-4CD28579649A}"/>
                          </a:ext>
                        </a:extLst>
                      </p:cNvPr>
                      <p:cNvPicPr/>
                      <p:nvPr/>
                    </p:nvPicPr>
                    <p:blipFill>
                      <a:blip r:embed="rId4"/>
                      <a:stretch>
                        <a:fillRect/>
                      </a:stretch>
                    </p:blipFill>
                    <p:spPr>
                      <a:xfrm>
                        <a:off x="420624" y="2578607"/>
                        <a:ext cx="16590982" cy="5065199"/>
                      </a:xfrm>
                      <a:prstGeom prst="rect">
                        <a:avLst/>
                      </a:prstGeom>
                    </p:spPr>
                  </p:pic>
                </p:oleObj>
              </mc:Fallback>
            </mc:AlternateContent>
          </a:graphicData>
        </a:graphic>
      </p:graphicFrame>
      <p:sp>
        <p:nvSpPr>
          <p:cNvPr id="7" name="Ovaal 6">
            <a:extLst>
              <a:ext uri="{FF2B5EF4-FFF2-40B4-BE49-F238E27FC236}">
                <a16:creationId xmlns:a16="http://schemas.microsoft.com/office/drawing/2014/main" id="{6A40BC9A-4C2C-C070-2989-19999E299F31}"/>
              </a:ext>
            </a:extLst>
          </p:cNvPr>
          <p:cNvSpPr/>
          <p:nvPr/>
        </p:nvSpPr>
        <p:spPr>
          <a:xfrm>
            <a:off x="6229350" y="44196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
        <p:nvSpPr>
          <p:cNvPr id="8" name="Ovaal 7">
            <a:extLst>
              <a:ext uri="{FF2B5EF4-FFF2-40B4-BE49-F238E27FC236}">
                <a16:creationId xmlns:a16="http://schemas.microsoft.com/office/drawing/2014/main" id="{D7A056C3-ABC7-6401-11E5-F9F731A710FB}"/>
              </a:ext>
            </a:extLst>
          </p:cNvPr>
          <p:cNvSpPr/>
          <p:nvPr/>
        </p:nvSpPr>
        <p:spPr>
          <a:xfrm>
            <a:off x="7258050" y="56007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
        <p:nvSpPr>
          <p:cNvPr id="9" name="Ovaal 8">
            <a:extLst>
              <a:ext uri="{FF2B5EF4-FFF2-40B4-BE49-F238E27FC236}">
                <a16:creationId xmlns:a16="http://schemas.microsoft.com/office/drawing/2014/main" id="{28AE1963-93D6-3496-A6AB-5E8298DC2847}"/>
              </a:ext>
            </a:extLst>
          </p:cNvPr>
          <p:cNvSpPr/>
          <p:nvPr/>
        </p:nvSpPr>
        <p:spPr>
          <a:xfrm>
            <a:off x="9563100" y="5600700"/>
            <a:ext cx="1276350" cy="1238250"/>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solidFill>
                <a:schemeClr val="tx1"/>
              </a:solidFill>
            </a:endParaRPr>
          </a:p>
        </p:txBody>
      </p:sp>
    </p:spTree>
    <p:extLst>
      <p:ext uri="{BB962C8B-B14F-4D97-AF65-F5344CB8AC3E}">
        <p14:creationId xmlns:p14="http://schemas.microsoft.com/office/powerpoint/2010/main" val="21961101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2E54A9-A946-4381-AC53-F077D3DD4DA6}"/>
              </a:ext>
            </a:extLst>
          </p:cNvPr>
          <p:cNvSpPr>
            <a:spLocks noGrp="1"/>
          </p:cNvSpPr>
          <p:nvPr>
            <p:ph type="title"/>
          </p:nvPr>
        </p:nvSpPr>
        <p:spPr/>
        <p:txBody>
          <a:bodyPr/>
          <a:lstStyle/>
          <a:p>
            <a:r>
              <a:rPr lang="nl-BE" dirty="0"/>
              <a:t>VOORBEELDEXAMENVRAAG 11</a:t>
            </a:r>
          </a:p>
        </p:txBody>
      </p:sp>
      <p:sp>
        <p:nvSpPr>
          <p:cNvPr id="4" name="Tijdelijke aanduiding voor dianummer 3">
            <a:extLst>
              <a:ext uri="{FF2B5EF4-FFF2-40B4-BE49-F238E27FC236}">
                <a16:creationId xmlns:a16="http://schemas.microsoft.com/office/drawing/2014/main" id="{01BF9AE9-4D65-4858-8EBD-E85A68C28A99}"/>
              </a:ext>
            </a:extLst>
          </p:cNvPr>
          <p:cNvSpPr>
            <a:spLocks noGrp="1"/>
          </p:cNvSpPr>
          <p:nvPr>
            <p:ph type="sldNum" sz="quarter" idx="12"/>
          </p:nvPr>
        </p:nvSpPr>
        <p:spPr/>
        <p:txBody>
          <a:bodyPr/>
          <a:lstStyle/>
          <a:p>
            <a:fld id="{7AE184E0-0BD4-4705-A12B-9B71DDE63301}" type="slidenum">
              <a:rPr lang="en-GB" noProof="0" smtClean="0"/>
              <a:t>43</a:t>
            </a:fld>
            <a:endParaRPr lang="en-GB" noProof="0" dirty="0"/>
          </a:p>
        </p:txBody>
      </p:sp>
      <p:sp>
        <p:nvSpPr>
          <p:cNvPr id="5" name="Tijdelijke aanduiding voor inhoud 4">
            <a:extLst>
              <a:ext uri="{FF2B5EF4-FFF2-40B4-BE49-F238E27FC236}">
                <a16:creationId xmlns:a16="http://schemas.microsoft.com/office/drawing/2014/main" id="{1D96025D-41E2-4C18-8817-BB9EB4C00694}"/>
              </a:ext>
            </a:extLst>
          </p:cNvPr>
          <p:cNvSpPr>
            <a:spLocks noGrp="1"/>
          </p:cNvSpPr>
          <p:nvPr>
            <p:ph idx="13"/>
          </p:nvPr>
        </p:nvSpPr>
        <p:spPr/>
        <p:txBody>
          <a:bodyPr/>
          <a:lstStyle/>
          <a:p>
            <a:endParaRPr lang="nl-BE"/>
          </a:p>
        </p:txBody>
      </p:sp>
      <p:sp>
        <p:nvSpPr>
          <p:cNvPr id="6" name="Tijdelijke aanduiding voor inhoud 2">
            <a:extLst>
              <a:ext uri="{FF2B5EF4-FFF2-40B4-BE49-F238E27FC236}">
                <a16:creationId xmlns:a16="http://schemas.microsoft.com/office/drawing/2014/main" id="{E65C55ED-78EF-4C3D-9D4D-480FA5FB6FA1}"/>
              </a:ext>
            </a:extLst>
          </p:cNvPr>
          <p:cNvSpPr>
            <a:spLocks noGrp="1"/>
          </p:cNvSpPr>
          <p:nvPr>
            <p:ph idx="1"/>
          </p:nvPr>
        </p:nvSpPr>
        <p:spPr>
          <a:xfrm>
            <a:off x="327025" y="1816100"/>
            <a:ext cx="16859250" cy="7346950"/>
          </a:xfrm>
        </p:spPr>
        <p:txBody>
          <a:bodyPr>
            <a:normAutofit fontScale="47500" lnSpcReduction="20000"/>
          </a:bodyPr>
          <a:lstStyle/>
          <a:p>
            <a:pPr marL="85725" indent="0" algn="just">
              <a:buNone/>
            </a:pPr>
            <a:r>
              <a:rPr lang="nl-BE" sz="4500" b="1" dirty="0">
                <a:solidFill>
                  <a:srgbClr val="002060"/>
                </a:solidFill>
                <a:highlight>
                  <a:srgbClr val="FFFF00"/>
                </a:highlight>
              </a:rPr>
              <a:t>Zie output volgende slide.</a:t>
            </a:r>
          </a:p>
          <a:p>
            <a:pPr marL="85725" indent="0" algn="just">
              <a:buNone/>
            </a:pPr>
            <a:r>
              <a:rPr lang="nl-BE" sz="4500" b="1" dirty="0">
                <a:solidFill>
                  <a:srgbClr val="002060"/>
                </a:solidFill>
              </a:rPr>
              <a:t>In deze output worden de resultaten gepresenteerd van een onafhankelijke t-toets waarbij gekeken wordt of jongens en meisjes significant van elkaar verschillen op gemiddelde beer/alcoholconsumptie in de afgelopen maand.</a:t>
            </a:r>
          </a:p>
          <a:p>
            <a:pPr marL="85725" indent="0" algn="just">
              <a:buNone/>
            </a:pPr>
            <a:r>
              <a:rPr lang="nl-BE" sz="4500" b="1" dirty="0">
                <a:solidFill>
                  <a:srgbClr val="002060"/>
                </a:solidFill>
              </a:rPr>
              <a:t>Uit de resultaten blijkt dat…….</a:t>
            </a:r>
          </a:p>
          <a:p>
            <a:pPr marL="85725" indent="0" algn="just">
              <a:buNone/>
            </a:pPr>
            <a:r>
              <a:rPr lang="nl-BE" sz="4500" u="sng" dirty="0">
                <a:solidFill>
                  <a:srgbClr val="002060"/>
                </a:solidFill>
              </a:rPr>
              <a:t>Maak 1 keuze</a:t>
            </a:r>
          </a:p>
          <a:p>
            <a:pPr marL="85725" indent="0" algn="just">
              <a:buNone/>
            </a:pPr>
            <a:endParaRPr lang="nl-BE" sz="4500" b="1" dirty="0">
              <a:solidFill>
                <a:srgbClr val="002060"/>
              </a:solidFill>
            </a:endParaRPr>
          </a:p>
          <a:p>
            <a:pPr marL="85725" indent="0" algn="just">
              <a:buNone/>
            </a:pPr>
            <a:endParaRPr lang="nl-BE" sz="4500" b="1" dirty="0">
              <a:solidFill>
                <a:srgbClr val="002060"/>
              </a:solidFill>
            </a:endParaRPr>
          </a:p>
          <a:p>
            <a:pPr marL="1000125" indent="-914400" algn="just">
              <a:buAutoNum type="arabicPeriod"/>
            </a:pPr>
            <a:r>
              <a:rPr lang="nl-BE" sz="4500" dirty="0">
                <a:solidFill>
                  <a:srgbClr val="002060"/>
                </a:solidFill>
              </a:rPr>
              <a:t>… </a:t>
            </a:r>
            <a:r>
              <a:rPr lang="nl-BE" sz="4500" dirty="0" err="1">
                <a:solidFill>
                  <a:srgbClr val="002060"/>
                </a:solidFill>
              </a:rPr>
              <a:t>Levene’s</a:t>
            </a:r>
            <a:r>
              <a:rPr lang="nl-BE" sz="4500" dirty="0">
                <a:solidFill>
                  <a:srgbClr val="002060"/>
                </a:solidFill>
              </a:rPr>
              <a:t> test niet significant is. </a:t>
            </a:r>
            <a:r>
              <a:rPr lang="nl-BE" sz="4500" b="1" dirty="0">
                <a:solidFill>
                  <a:srgbClr val="C00000"/>
                </a:solidFill>
              </a:rPr>
              <a:t>(</a:t>
            </a:r>
            <a:r>
              <a:rPr lang="nl-BE" sz="4500" b="1" dirty="0" err="1">
                <a:solidFill>
                  <a:srgbClr val="C00000"/>
                </a:solidFill>
              </a:rPr>
              <a:t>Levene’s</a:t>
            </a:r>
            <a:r>
              <a:rPr lang="nl-BE" sz="4500" b="1" dirty="0">
                <a:solidFill>
                  <a:srgbClr val="C00000"/>
                </a:solidFill>
              </a:rPr>
              <a:t> test is statistisch significant)</a:t>
            </a:r>
          </a:p>
          <a:p>
            <a:pPr marL="1000125" indent="-914400" algn="just">
              <a:buAutoNum type="arabicPeriod"/>
            </a:pPr>
            <a:endParaRPr lang="nl-BE" sz="4500" dirty="0">
              <a:solidFill>
                <a:srgbClr val="002060"/>
              </a:solidFill>
            </a:endParaRPr>
          </a:p>
          <a:p>
            <a:pPr marL="1000125" indent="-914400" algn="just">
              <a:buAutoNum type="arabicPeriod"/>
            </a:pPr>
            <a:r>
              <a:rPr lang="nl-BE" sz="4500" b="1" dirty="0">
                <a:solidFill>
                  <a:srgbClr val="C00000"/>
                </a:solidFill>
                <a:highlight>
                  <a:srgbClr val="FFFF00"/>
                </a:highlight>
              </a:rPr>
              <a:t>… we de t-waarde -5,669 moeten interpreteren.</a:t>
            </a:r>
          </a:p>
          <a:p>
            <a:pPr marL="1000125" indent="-914400" algn="just">
              <a:buAutoNum type="arabicPeriod"/>
            </a:pPr>
            <a:endParaRPr lang="nl-BE" sz="4500" dirty="0">
              <a:solidFill>
                <a:srgbClr val="002060"/>
              </a:solidFill>
            </a:endParaRPr>
          </a:p>
          <a:p>
            <a:pPr marL="1000125" indent="-914400" algn="just">
              <a:buAutoNum type="arabicPeriod"/>
            </a:pPr>
            <a:r>
              <a:rPr lang="nl-BE" sz="4500" dirty="0">
                <a:solidFill>
                  <a:srgbClr val="002060"/>
                </a:solidFill>
              </a:rPr>
              <a:t>… aan de assumptie van homogeniteit van variantie in beide groepen is voldaan. </a:t>
            </a:r>
          </a:p>
          <a:p>
            <a:pPr marL="85725" indent="0" algn="just">
              <a:buNone/>
            </a:pPr>
            <a:r>
              <a:rPr lang="nl-BE" sz="4500" b="1" dirty="0">
                <a:solidFill>
                  <a:srgbClr val="C00000"/>
                </a:solidFill>
              </a:rPr>
              <a:t>        (niet voldaan want </a:t>
            </a:r>
            <a:r>
              <a:rPr lang="nl-BE" sz="4500" b="1" dirty="0" err="1">
                <a:solidFill>
                  <a:srgbClr val="C00000"/>
                </a:solidFill>
              </a:rPr>
              <a:t>Levene’s</a:t>
            </a:r>
            <a:r>
              <a:rPr lang="nl-BE" sz="4500" b="1" dirty="0">
                <a:solidFill>
                  <a:srgbClr val="C00000"/>
                </a:solidFill>
              </a:rPr>
              <a:t> test is statistisch significant)</a:t>
            </a:r>
          </a:p>
          <a:p>
            <a:pPr marL="1000125" indent="-914400" algn="just">
              <a:buAutoNum type="arabicPeriod"/>
            </a:pPr>
            <a:endParaRPr lang="nl-BE" sz="4500" dirty="0">
              <a:solidFill>
                <a:srgbClr val="002060"/>
              </a:solidFill>
            </a:endParaRPr>
          </a:p>
          <a:p>
            <a:pPr marL="1000125" indent="-914400" algn="just">
              <a:buAutoNum type="arabicPeriod"/>
            </a:pPr>
            <a:r>
              <a:rPr lang="nl-BE" sz="4500" dirty="0">
                <a:solidFill>
                  <a:srgbClr val="002060"/>
                </a:solidFill>
              </a:rPr>
              <a:t>… jongens en meisjes niet significant van elkaar verschillen op gemiddelde beer/alcohol    consumptie in de afgelopen maand. </a:t>
            </a:r>
            <a:r>
              <a:rPr lang="nl-BE" sz="4500" b="1" dirty="0">
                <a:solidFill>
                  <a:srgbClr val="C00000"/>
                </a:solidFill>
              </a:rPr>
              <a:t>(t-toetsingswaarde is statistisch significant</a:t>
            </a:r>
            <a:r>
              <a:rPr lang="nl-BE" sz="4500" b="1" dirty="0">
                <a:solidFill>
                  <a:srgbClr val="C00000"/>
                </a:solidFill>
                <a:sym typeface="Wingdings" panose="05000000000000000000" pitchFamily="2" charset="2"/>
              </a:rPr>
              <a:t> jongens en meisjes </a:t>
            </a:r>
            <a:r>
              <a:rPr lang="nl-BE" sz="4500" b="1">
                <a:solidFill>
                  <a:srgbClr val="C00000"/>
                </a:solidFill>
                <a:sym typeface="Wingdings" panose="05000000000000000000" pitchFamily="2" charset="2"/>
              </a:rPr>
              <a:t>verschillen significant </a:t>
            </a:r>
            <a:r>
              <a:rPr lang="nl-BE" sz="4500" b="1" dirty="0">
                <a:solidFill>
                  <a:srgbClr val="C00000"/>
                </a:solidFill>
                <a:sym typeface="Wingdings" panose="05000000000000000000" pitchFamily="2" charset="2"/>
              </a:rPr>
              <a:t>in gemiddelde beer/alcohol consumptie in de afgelopen maand</a:t>
            </a:r>
            <a:r>
              <a:rPr lang="nl-BE" sz="4500" b="1" dirty="0">
                <a:solidFill>
                  <a:srgbClr val="C00000"/>
                </a:solidFill>
              </a:rPr>
              <a:t>)</a:t>
            </a:r>
          </a:p>
        </p:txBody>
      </p:sp>
    </p:spTree>
    <p:extLst>
      <p:ext uri="{BB962C8B-B14F-4D97-AF65-F5344CB8AC3E}">
        <p14:creationId xmlns:p14="http://schemas.microsoft.com/office/powerpoint/2010/main" val="2389064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A05F2-5E00-4AB5-9B7C-C1D0DFC99373}"/>
              </a:ext>
            </a:extLst>
          </p:cNvPr>
          <p:cNvSpPr>
            <a:spLocks noGrp="1"/>
          </p:cNvSpPr>
          <p:nvPr>
            <p:ph type="title"/>
          </p:nvPr>
        </p:nvSpPr>
        <p:spPr/>
        <p:txBody>
          <a:bodyPr/>
          <a:lstStyle/>
          <a:p>
            <a:r>
              <a:rPr lang="nl-BE" dirty="0"/>
              <a:t>Veel succes!!</a:t>
            </a:r>
          </a:p>
        </p:txBody>
      </p:sp>
      <p:pic>
        <p:nvPicPr>
          <p:cNvPr id="7" name="Tijdelijke aanduiding voor inhoud 6">
            <a:extLst>
              <a:ext uri="{FF2B5EF4-FFF2-40B4-BE49-F238E27FC236}">
                <a16:creationId xmlns:a16="http://schemas.microsoft.com/office/drawing/2014/main" id="{807B6466-112B-4EF7-8751-9C34DE56DAA4}"/>
              </a:ext>
            </a:extLst>
          </p:cNvPr>
          <p:cNvPicPr>
            <a:picLocks noGrp="1" noChangeAspect="1"/>
          </p:cNvPicPr>
          <p:nvPr>
            <p:ph idx="1"/>
          </p:nvPr>
        </p:nvPicPr>
        <p:blipFill>
          <a:blip r:embed="rId3"/>
          <a:stretch>
            <a:fillRect/>
          </a:stretch>
        </p:blipFill>
        <p:spPr>
          <a:xfrm>
            <a:off x="9641668" y="2821830"/>
            <a:ext cx="6794206" cy="4934195"/>
          </a:xfrm>
          <a:prstGeom prst="rect">
            <a:avLst/>
          </a:prstGeom>
        </p:spPr>
      </p:pic>
      <p:sp>
        <p:nvSpPr>
          <p:cNvPr id="4" name="Tijdelijke aanduiding voor dianummer 3">
            <a:extLst>
              <a:ext uri="{FF2B5EF4-FFF2-40B4-BE49-F238E27FC236}">
                <a16:creationId xmlns:a16="http://schemas.microsoft.com/office/drawing/2014/main" id="{4C084308-8A7A-41B9-BFED-598EC5F7B812}"/>
              </a:ext>
            </a:extLst>
          </p:cNvPr>
          <p:cNvSpPr>
            <a:spLocks noGrp="1"/>
          </p:cNvSpPr>
          <p:nvPr>
            <p:ph type="sldNum" sz="quarter" idx="12"/>
          </p:nvPr>
        </p:nvSpPr>
        <p:spPr/>
        <p:txBody>
          <a:bodyPr/>
          <a:lstStyle/>
          <a:p>
            <a:fld id="{7AE184E0-0BD4-4705-A12B-9B71DDE63301}" type="slidenum">
              <a:rPr lang="en-GB" noProof="0" smtClean="0"/>
              <a:t>44</a:t>
            </a:fld>
            <a:endParaRPr lang="en-GB" noProof="0" dirty="0"/>
          </a:p>
        </p:txBody>
      </p:sp>
      <p:sp>
        <p:nvSpPr>
          <p:cNvPr id="5" name="Tijdelijke aanduiding voor inhoud 4">
            <a:extLst>
              <a:ext uri="{FF2B5EF4-FFF2-40B4-BE49-F238E27FC236}">
                <a16:creationId xmlns:a16="http://schemas.microsoft.com/office/drawing/2014/main" id="{4DDDD94C-1211-40A7-BC28-F83B4BC933B8}"/>
              </a:ext>
            </a:extLst>
          </p:cNvPr>
          <p:cNvSpPr>
            <a:spLocks noGrp="1"/>
          </p:cNvSpPr>
          <p:nvPr>
            <p:ph idx="13"/>
          </p:nvPr>
        </p:nvSpPr>
        <p:spPr/>
        <p:txBody>
          <a:bodyPr/>
          <a:lstStyle/>
          <a:p>
            <a:endParaRPr lang="nl-BE"/>
          </a:p>
        </p:txBody>
      </p:sp>
      <p:pic>
        <p:nvPicPr>
          <p:cNvPr id="9" name="Afbeelding 8">
            <a:extLst>
              <a:ext uri="{FF2B5EF4-FFF2-40B4-BE49-F238E27FC236}">
                <a16:creationId xmlns:a16="http://schemas.microsoft.com/office/drawing/2014/main" id="{F7BF3364-949E-4FA1-A573-403EFAFEEE99}"/>
              </a:ext>
            </a:extLst>
          </p:cNvPr>
          <p:cNvPicPr>
            <a:picLocks noChangeAspect="1"/>
          </p:cNvPicPr>
          <p:nvPr/>
        </p:nvPicPr>
        <p:blipFill>
          <a:blip r:embed="rId4"/>
          <a:stretch>
            <a:fillRect/>
          </a:stretch>
        </p:blipFill>
        <p:spPr>
          <a:xfrm>
            <a:off x="902801" y="2857700"/>
            <a:ext cx="7209323" cy="5103229"/>
          </a:xfrm>
          <a:prstGeom prst="rect">
            <a:avLst/>
          </a:prstGeom>
        </p:spPr>
      </p:pic>
    </p:spTree>
    <p:extLst>
      <p:ext uri="{BB962C8B-B14F-4D97-AF65-F5344CB8AC3E}">
        <p14:creationId xmlns:p14="http://schemas.microsoft.com/office/powerpoint/2010/main" val="1338967660"/>
      </p:ext>
    </p:extLst>
  </p:cSld>
  <p:clrMapOvr>
    <a:masterClrMapping/>
  </p:clrMapOvr>
</p:sld>
</file>

<file path=ppt/theme/theme1.xml><?xml version="1.0" encoding="utf-8"?>
<a:theme xmlns:a="http://schemas.openxmlformats.org/drawingml/2006/main" name="PowerPoint_UGent_RE_NL">
  <a:themeElements>
    <a:clrScheme name="Universiteit Gent">
      <a:dk1>
        <a:sysClr val="windowText" lastClr="000000"/>
      </a:dk1>
      <a:lt1>
        <a:sysClr val="window" lastClr="FFFFFF"/>
      </a:lt1>
      <a:dk2>
        <a:srgbClr val="1E64C8"/>
      </a:dk2>
      <a:lt2>
        <a:srgbClr val="FFD200"/>
      </a:lt2>
      <a:accent1>
        <a:srgbClr val="1E64C8"/>
      </a:accent1>
      <a:accent2>
        <a:srgbClr val="FFD200"/>
      </a:accent2>
      <a:accent3>
        <a:srgbClr val="A5A5A5"/>
      </a:accent3>
      <a:accent4>
        <a:srgbClr val="FFC000"/>
      </a:accent4>
      <a:accent5>
        <a:srgbClr val="4472C4"/>
      </a:accent5>
      <a:accent6>
        <a:srgbClr val="70AD47"/>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120000"/>
          </a:lnSpc>
          <a:defRPr sz="2500" smtClean="0"/>
        </a:defPPr>
      </a:lstStyle>
    </a:txDef>
  </a:objectDefaults>
  <a:extraClrSchemeLst/>
  <a:extLst>
    <a:ext uri="{05A4C25C-085E-4340-85A3-A5531E510DB2}">
      <thm15:themeFamily xmlns:thm15="http://schemas.microsoft.com/office/thememl/2012/main" name="PowerPoint_UGent_NL_RE.potx" id="{019D5757-7736-4469-BFE8-B64D11A5BC56}" vid="{5E23D7FA-C248-4D1A-9290-3595894356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43D96E506A014DBE714040E5AF9AEC" ma:contentTypeVersion="14" ma:contentTypeDescription="Een nieuw document maken." ma:contentTypeScope="" ma:versionID="4db89dd7ed044dc385e9181649206e88">
  <xsd:schema xmlns:xsd="http://www.w3.org/2001/XMLSchema" xmlns:xs="http://www.w3.org/2001/XMLSchema" xmlns:p="http://schemas.microsoft.com/office/2006/metadata/properties" xmlns:ns3="8f55a228-4e6a-4e20-9588-cb37277e13ee" xmlns:ns4="6f55e950-31a6-446f-893a-ec17b70e2fc0" targetNamespace="http://schemas.microsoft.com/office/2006/metadata/properties" ma:root="true" ma:fieldsID="73c8890e8e488906fdb084e1f109c950" ns3:_="" ns4:_="">
    <xsd:import namespace="8f55a228-4e6a-4e20-9588-cb37277e13ee"/>
    <xsd:import namespace="6f55e950-31a6-446f-893a-ec17b70e2fc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5a228-4e6a-4e20-9588-cb37277e13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55e950-31a6-446f-893a-ec17b70e2fc0" elementFormDefault="qualified">
    <xsd:import namespace="http://schemas.microsoft.com/office/2006/documentManagement/types"/>
    <xsd:import namespace="http://schemas.microsoft.com/office/infopath/2007/PartnerControls"/>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element name="SharingHintHash" ma:index="2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C2E544-43B9-484C-B777-54137385FA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55a228-4e6a-4e20-9588-cb37277e13ee"/>
    <ds:schemaRef ds:uri="6f55e950-31a6-446f-893a-ec17b70e2f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01231E-4962-4007-BEB1-CE25B3F2546D}">
  <ds:schemaRefs>
    <ds:schemaRef ds:uri="http://schemas.microsoft.com/sharepoint/v3/contenttype/forms"/>
  </ds:schemaRefs>
</ds:datastoreItem>
</file>

<file path=customXml/itemProps3.xml><?xml version="1.0" encoding="utf-8"?>
<ds:datastoreItem xmlns:ds="http://schemas.openxmlformats.org/officeDocument/2006/customXml" ds:itemID="{50B2DEA7-CFDE-4184-8933-0464E36B7DCF}">
  <ds:schemaRefs>
    <ds:schemaRef ds:uri="6f55e950-31a6-446f-893a-ec17b70e2fc0"/>
    <ds:schemaRef ds:uri="http://schemas.microsoft.com/office/2006/documentManagement/types"/>
    <ds:schemaRef ds:uri="http://purl.org/dc/terms/"/>
    <ds:schemaRef ds:uri="http://purl.org/dc/dcmitype/"/>
    <ds:schemaRef ds:uri="http://www.w3.org/XML/1998/namespace"/>
    <ds:schemaRef ds:uri="8f55a228-4e6a-4e20-9588-cb37277e13ee"/>
    <ds:schemaRef ds:uri="http://schemas.openxmlformats.org/package/2006/metadata/core-properties"/>
    <ds:schemaRef ds:uri="http://purl.org/dc/elements/1.1/"/>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PowerPoint_UGent_RE_NL</Template>
  <TotalTime>2159</TotalTime>
  <Words>3438</Words>
  <Application>Microsoft Office PowerPoint</Application>
  <PresentationFormat>Aangepast</PresentationFormat>
  <Paragraphs>655</Paragraphs>
  <Slides>44</Slides>
  <Notes>44</Notes>
  <HiddenSlides>0</HiddenSlides>
  <MMClips>0</MMClips>
  <ScaleCrop>false</ScaleCrop>
  <HeadingPairs>
    <vt:vector size="8" baseType="variant">
      <vt:variant>
        <vt:lpstr>Gebruikte lettertypen</vt:lpstr>
      </vt:variant>
      <vt:variant>
        <vt:i4>5</vt:i4>
      </vt:variant>
      <vt:variant>
        <vt:lpstr>Thema</vt:lpstr>
      </vt:variant>
      <vt:variant>
        <vt:i4>1</vt:i4>
      </vt:variant>
      <vt:variant>
        <vt:lpstr>Ingesloten OLE-bronprogramma's</vt:lpstr>
      </vt:variant>
      <vt:variant>
        <vt:i4>1</vt:i4>
      </vt:variant>
      <vt:variant>
        <vt:lpstr>Diatitels</vt:lpstr>
      </vt:variant>
      <vt:variant>
        <vt:i4>44</vt:i4>
      </vt:variant>
    </vt:vector>
  </HeadingPairs>
  <TitlesOfParts>
    <vt:vector size="51" baseType="lpstr">
      <vt:lpstr>Arial</vt:lpstr>
      <vt:lpstr>Calibri</vt:lpstr>
      <vt:lpstr>Cambria Math</vt:lpstr>
      <vt:lpstr>Verdana</vt:lpstr>
      <vt:lpstr>Wingdings</vt:lpstr>
      <vt:lpstr>PowerPoint_UGent_RE_NL</vt:lpstr>
      <vt:lpstr>Document</vt:lpstr>
      <vt:lpstr>PowerPoint-presentatie</vt:lpstr>
      <vt:lpstr>Responsie- en herhalingscollege (10/12) deel ii </vt:lpstr>
      <vt:lpstr>11 Voorbeeldexamenvragen</vt:lpstr>
      <vt:lpstr>VOORBEELDEXAMENVRAAG 1</vt:lpstr>
      <vt:lpstr>VOORBEELDEXAMENVRAAG 1</vt:lpstr>
      <vt:lpstr>VOORBEELDEXAMENVRAAG 1</vt:lpstr>
      <vt:lpstr>VOORBEELDEXAMENVRAAG 2</vt:lpstr>
      <vt:lpstr>VOORBEELDEXAMENVRAAG 2</vt:lpstr>
      <vt:lpstr>VOORBEELDEXAMENVRAAG 2</vt:lpstr>
      <vt:lpstr>VOORBEELDEXAMENVRAAG 3</vt:lpstr>
      <vt:lpstr>VOORBEELDEXAMENVRAAG 3</vt:lpstr>
      <vt:lpstr>VOORBEELDEXAMENVRAAG 3</vt:lpstr>
      <vt:lpstr>VOORBEELDEXAMENVRAAG 4</vt:lpstr>
      <vt:lpstr>VOORBEELDEXAMENVRAAG 4</vt:lpstr>
      <vt:lpstr>VOORBEELDEXAMENVRAAG 4</vt:lpstr>
      <vt:lpstr>Welke analysetechniek gebruik ik?</vt:lpstr>
      <vt:lpstr>VOORBEELDEXAMENVRAAG 4</vt:lpstr>
      <vt:lpstr>VOORBEELDEXAMENVRAAG 4</vt:lpstr>
      <vt:lpstr>VOORBEELDEXAMENVRAAG 4</vt:lpstr>
      <vt:lpstr>VOORBEELDEXAMENVRAAG 4</vt:lpstr>
      <vt:lpstr>VOORBEELDEXAMENVRAAG 4</vt:lpstr>
      <vt:lpstr>VOORBEELDEXAMENVRAAG 4</vt:lpstr>
      <vt:lpstr>VOORBEELDEXAMENVRAAG 4</vt:lpstr>
      <vt:lpstr>VOORBEELDEXAMENVRAAG 4</vt:lpstr>
      <vt:lpstr>VOORBEELDEXAMENVRAAG 4</vt:lpstr>
      <vt:lpstr>VOORBEELDEXAMENVRAAG 5</vt:lpstr>
      <vt:lpstr>VOORBEELDEXAMENVRAAG 5</vt:lpstr>
      <vt:lpstr>VOORBEELDEXAMENVRAAG 6</vt:lpstr>
      <vt:lpstr>VOORBEELDEXAMENVRAAG 6</vt:lpstr>
      <vt:lpstr>VOORBEELDEXAMENVRAAG 7</vt:lpstr>
      <vt:lpstr>VOORBEELDEXAMENVRAAG 7</vt:lpstr>
      <vt:lpstr>VOORBEELDEXAMENVRAAG 8</vt:lpstr>
      <vt:lpstr>VOORBEELDEXAMENVRAAG 8</vt:lpstr>
      <vt:lpstr>VOORBEELDEXAMENVRAAG 9</vt:lpstr>
      <vt:lpstr>VOORBEELDEXAMENVRAAG 9</vt:lpstr>
      <vt:lpstr>VOORBEELDEXAMENVRAAG 10</vt:lpstr>
      <vt:lpstr>VOORBEELDEXAMENVRAAG 10</vt:lpstr>
      <vt:lpstr>VOORBEELDEXAMENVRAAG 10</vt:lpstr>
      <vt:lpstr>VOORBEELDEXAMENVRAAG 11</vt:lpstr>
      <vt:lpstr>VOORBEELDEXAMENVRAAG 11</vt:lpstr>
      <vt:lpstr>VOORBEELDEXAMENVRAAG 11</vt:lpstr>
      <vt:lpstr>VOORBEELDEXAMENVRAAG 11</vt:lpstr>
      <vt:lpstr>VOORBEELDEXAMENVRAAG 11</vt:lpstr>
      <vt:lpstr>Veel succes!!</vt:lpstr>
    </vt:vector>
  </TitlesOfParts>
  <Company>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Ann De Buck</dc:creator>
  <cp:lastModifiedBy>Ann De Buck</cp:lastModifiedBy>
  <cp:revision>665</cp:revision>
  <cp:lastPrinted>2024-12-10T10:07:44Z</cp:lastPrinted>
  <dcterms:created xsi:type="dcterms:W3CDTF">2017-09-29T06:14:19Z</dcterms:created>
  <dcterms:modified xsi:type="dcterms:W3CDTF">2024-12-10T18:48:03Z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1.0</vt:lpwstr>
  </property>
  <property fmtid="{D5CDD505-2E9C-101B-9397-08002B2CF9AE}" pid="4" name="Date">
    <vt:filetime>2016-10-27T22:00:00Z</vt:filetime>
  </property>
  <property fmtid="{D5CDD505-2E9C-101B-9397-08002B2CF9AE}" pid="5" name="Build">
    <vt:lpwstr>14</vt:lpwstr>
  </property>
  <property fmtid="{D5CDD505-2E9C-101B-9397-08002B2CF9AE}" pid="6" name="Cmt 1">
    <vt:lpwstr>create</vt:lpwstr>
  </property>
  <property fmtid="{D5CDD505-2E9C-101B-9397-08002B2CF9AE}" pid="7" name="Cmt 2">
    <vt:lpwstr>1st draft</vt:lpwstr>
  </property>
  <property fmtid="{D5CDD505-2E9C-101B-9397-08002B2CF9AE}" pid="8" name="Cmt 3">
    <vt:lpwstr>Corporate splitt off</vt:lpwstr>
  </property>
  <property fmtid="{D5CDD505-2E9C-101B-9397-08002B2CF9AE}" pid="9" name="Cmt 4">
    <vt:lpwstr>2nd draft</vt:lpwstr>
  </property>
  <property fmtid="{D5CDD505-2E9C-101B-9397-08002B2CF9AE}" pid="10" name="Cmt 4A">
    <vt:lpwstr>copy of UK version translated to NL</vt:lpwstr>
  </property>
  <property fmtid="{D5CDD505-2E9C-101B-9397-08002B2CF9AE}" pid="11" name="Cmt 5">
    <vt:lpwstr>set text box and shape defaults</vt:lpwstr>
  </property>
  <property fmtid="{D5CDD505-2E9C-101B-9397-08002B2CF9AE}" pid="12" name="Cmt 6">
    <vt:lpwstr>closing slide acc. to letter</vt:lpwstr>
  </property>
  <property fmtid="{D5CDD505-2E9C-101B-9397-08002B2CF9AE}" pid="13" name="Cmt 7">
    <vt:lpwstr>logo opening slide sharpened</vt:lpwstr>
  </property>
  <property fmtid="{D5CDD505-2E9C-101B-9397-08002B2CF9AE}" pid="14" name="Cmt 8">
    <vt:lpwstr>split variable and fixed data in contact data; lang to NL-BE</vt:lpwstr>
  </property>
  <property fmtid="{D5CDD505-2E9C-101B-9397-08002B2CF9AE}" pid="15" name="Cmt 9">
    <vt:lpwstr>comments 19-9-2016</vt:lpwstr>
  </property>
  <property fmtid="{D5CDD505-2E9C-101B-9397-08002B2CF9AE}" pid="16" name="Cmt 10">
    <vt:lpwstr>social media redesigned</vt:lpwstr>
  </property>
  <property fmtid="{D5CDD505-2E9C-101B-9397-08002B2CF9AE}" pid="17" name="Cmt 11">
    <vt:lpwstr>Title Slide renamed to TitleSlide</vt:lpwstr>
  </property>
  <property fmtid="{D5CDD505-2E9C-101B-9397-08002B2CF9AE}" pid="18" name="Cmt 12">
    <vt:lpwstr>Title and text size</vt:lpwstr>
  </property>
  <property fmtid="{D5CDD505-2E9C-101B-9397-08002B2CF9AE}" pid="19" name="Cmt 13">
    <vt:lpwstr>socmed pictos &gt; normal view</vt:lpwstr>
  </property>
  <property fmtid="{D5CDD505-2E9C-101B-9397-08002B2CF9AE}" pid="20" name="Cmt 14 ">
    <vt:lpwstr>changes from feedback</vt:lpwstr>
  </property>
  <property fmtid="{D5CDD505-2E9C-101B-9397-08002B2CF9AE}" pid="21" name="ContentTypeId">
    <vt:lpwstr>0x0101003A43D96E506A014DBE714040E5AF9AEC</vt:lpwstr>
  </property>
</Properties>
</file>