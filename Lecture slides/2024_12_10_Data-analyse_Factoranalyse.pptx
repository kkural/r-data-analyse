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2"/>
  </p:notesMasterIdLst>
  <p:handoutMasterIdLst>
    <p:handoutMasterId r:id="rId63"/>
  </p:handoutMasterIdLst>
  <p:sldIdLst>
    <p:sldId id="1665" r:id="rId2"/>
    <p:sldId id="1666" r:id="rId3"/>
    <p:sldId id="270" r:id="rId4"/>
    <p:sldId id="1670" r:id="rId5"/>
    <p:sldId id="884" r:id="rId6"/>
    <p:sldId id="885" r:id="rId7"/>
    <p:sldId id="886" r:id="rId8"/>
    <p:sldId id="1671" r:id="rId9"/>
    <p:sldId id="1672" r:id="rId10"/>
    <p:sldId id="1673" r:id="rId11"/>
    <p:sldId id="1674" r:id="rId12"/>
    <p:sldId id="1675" r:id="rId13"/>
    <p:sldId id="1669" r:id="rId14"/>
    <p:sldId id="1716" r:id="rId15"/>
    <p:sldId id="1676" r:id="rId16"/>
    <p:sldId id="1677" r:id="rId17"/>
    <p:sldId id="1679" r:id="rId18"/>
    <p:sldId id="891" r:id="rId19"/>
    <p:sldId id="1681" r:id="rId20"/>
    <p:sldId id="892" r:id="rId21"/>
    <p:sldId id="893" r:id="rId22"/>
    <p:sldId id="1684" r:id="rId23"/>
    <p:sldId id="1685" r:id="rId24"/>
    <p:sldId id="894" r:id="rId25"/>
    <p:sldId id="1686" r:id="rId26"/>
    <p:sldId id="1688" r:id="rId27"/>
    <p:sldId id="1687" r:id="rId28"/>
    <p:sldId id="1689" r:id="rId29"/>
    <p:sldId id="896" r:id="rId30"/>
    <p:sldId id="1690" r:id="rId31"/>
    <p:sldId id="902" r:id="rId32"/>
    <p:sldId id="1717" r:id="rId33"/>
    <p:sldId id="1691" r:id="rId34"/>
    <p:sldId id="1693" r:id="rId35"/>
    <p:sldId id="1718" r:id="rId36"/>
    <p:sldId id="1692" r:id="rId37"/>
    <p:sldId id="1694" r:id="rId38"/>
    <p:sldId id="1695" r:id="rId39"/>
    <p:sldId id="1699" r:id="rId40"/>
    <p:sldId id="1700" r:id="rId41"/>
    <p:sldId id="1698" r:id="rId42"/>
    <p:sldId id="1701" r:id="rId43"/>
    <p:sldId id="1704" r:id="rId44"/>
    <p:sldId id="1697" r:id="rId45"/>
    <p:sldId id="1702" r:id="rId46"/>
    <p:sldId id="1705" r:id="rId47"/>
    <p:sldId id="1696" r:id="rId48"/>
    <p:sldId id="1703" r:id="rId49"/>
    <p:sldId id="1706" r:id="rId50"/>
    <p:sldId id="1661" r:id="rId51"/>
    <p:sldId id="918" r:id="rId52"/>
    <p:sldId id="1680" r:id="rId53"/>
    <p:sldId id="1707" r:id="rId54"/>
    <p:sldId id="1708" r:id="rId55"/>
    <p:sldId id="1709" r:id="rId56"/>
    <p:sldId id="1711" r:id="rId57"/>
    <p:sldId id="1712" r:id="rId58"/>
    <p:sldId id="1713" r:id="rId59"/>
    <p:sldId id="1714" r:id="rId60"/>
    <p:sldId id="1715" r:id="rId61"/>
  </p:sldIdLst>
  <p:sldSz cx="17338675" cy="9753600"/>
  <p:notesSz cx="6858000" cy="9144000"/>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72" userDrawn="1">
          <p15:clr>
            <a:srgbClr val="A4A3A4"/>
          </p15:clr>
        </p15:guide>
        <p15:guide id="2" pos="54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js Hauspie" initials="TH" lastIdx="4" clrIdx="0">
    <p:extLst>
      <p:ext uri="{19B8F6BF-5375-455C-9EA6-DF929625EA0E}">
        <p15:presenceInfo xmlns:p15="http://schemas.microsoft.com/office/powerpoint/2012/main" userId="S-1-5-21-4030456262-320625612-449655040-2815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9CC7"/>
    <a:srgbClr val="003366"/>
    <a:srgbClr val="DC8621"/>
    <a:srgbClr val="80C0E0"/>
    <a:srgbClr val="008000"/>
    <a:srgbClr val="008CBB"/>
    <a:srgbClr val="44C6E0"/>
    <a:srgbClr val="1E64C8"/>
    <a:srgbClr val="006600"/>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ED95EE-29CE-4AE0-B0D7-B313F194F0FE}" v="35" dt="2024-12-09T18:12:02.845"/>
  </p1510:revLst>
</p1510:revInfo>
</file>

<file path=ppt/tableStyles.xml><?xml version="1.0" encoding="utf-8"?>
<a:tblStyleLst xmlns:a="http://schemas.openxmlformats.org/drawingml/2006/main" def="{5C22544A-7EE6-4342-B048-85BDC9FD1C3A}">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94195" autoAdjust="0"/>
  </p:normalViewPr>
  <p:slideViewPr>
    <p:cSldViewPr snapToGrid="0" showGuides="1">
      <p:cViewPr varScale="1">
        <p:scale>
          <a:sx n="47" d="100"/>
          <a:sy n="47" d="100"/>
        </p:scale>
        <p:origin x="972" y="102"/>
      </p:cViewPr>
      <p:guideLst>
        <p:guide orient="horz" pos="3072"/>
        <p:guide pos="5461"/>
      </p:guideLst>
    </p:cSldViewPr>
  </p:slideViewPr>
  <p:notesTextViewPr>
    <p:cViewPr>
      <p:scale>
        <a:sx n="1" d="1"/>
        <a:sy n="1" d="1"/>
      </p:scale>
      <p:origin x="0" y="0"/>
    </p:cViewPr>
  </p:notesTextViewPr>
  <p:notesViewPr>
    <p:cSldViewPr snapToGrid="0">
      <p:cViewPr varScale="1">
        <p:scale>
          <a:sx n="67" d="100"/>
          <a:sy n="67" d="100"/>
        </p:scale>
        <p:origin x="3029"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 De Buck" userId="56269b48-6f97-4793-ac00-b6dbb2c9f1bb" providerId="ADAL" clId="{847FC4EE-F710-40DB-BB97-EC3CC8419305}"/>
    <pc:docChg chg="custSel delSld modSld">
      <pc:chgData name="Ann De Buck" userId="56269b48-6f97-4793-ac00-b6dbb2c9f1bb" providerId="ADAL" clId="{847FC4EE-F710-40DB-BB97-EC3CC8419305}" dt="2024-12-09T19:06:50.635" v="40" actId="27636"/>
      <pc:docMkLst>
        <pc:docMk/>
      </pc:docMkLst>
      <pc:sldChg chg="modNotesTx">
        <pc:chgData name="Ann De Buck" userId="56269b48-6f97-4793-ac00-b6dbb2c9f1bb" providerId="ADAL" clId="{847FC4EE-F710-40DB-BB97-EC3CC8419305}" dt="2024-12-09T18:33:40.097" v="1" actId="6549"/>
        <pc:sldMkLst>
          <pc:docMk/>
          <pc:sldMk cId="2977093728" sldId="270"/>
        </pc:sldMkLst>
      </pc:sldChg>
      <pc:sldChg chg="modNotesTx">
        <pc:chgData name="Ann De Buck" userId="56269b48-6f97-4793-ac00-b6dbb2c9f1bb" providerId="ADAL" clId="{847FC4EE-F710-40DB-BB97-EC3CC8419305}" dt="2024-12-09T18:33:46.980" v="3" actId="6549"/>
        <pc:sldMkLst>
          <pc:docMk/>
          <pc:sldMk cId="1190080775" sldId="884"/>
        </pc:sldMkLst>
      </pc:sldChg>
      <pc:sldChg chg="modNotesTx">
        <pc:chgData name="Ann De Buck" userId="56269b48-6f97-4793-ac00-b6dbb2c9f1bb" providerId="ADAL" clId="{847FC4EE-F710-40DB-BB97-EC3CC8419305}" dt="2024-12-09T18:33:51.023" v="4" actId="6549"/>
        <pc:sldMkLst>
          <pc:docMk/>
          <pc:sldMk cId="85382287" sldId="885"/>
        </pc:sldMkLst>
      </pc:sldChg>
      <pc:sldChg chg="modNotesTx">
        <pc:chgData name="Ann De Buck" userId="56269b48-6f97-4793-ac00-b6dbb2c9f1bb" providerId="ADAL" clId="{847FC4EE-F710-40DB-BB97-EC3CC8419305}" dt="2024-12-09T18:33:54.272" v="5" actId="6549"/>
        <pc:sldMkLst>
          <pc:docMk/>
          <pc:sldMk cId="80811816" sldId="886"/>
        </pc:sldMkLst>
      </pc:sldChg>
      <pc:sldChg chg="delSp mod modNotesTx">
        <pc:chgData name="Ann De Buck" userId="56269b48-6f97-4793-ac00-b6dbb2c9f1bb" providerId="ADAL" clId="{847FC4EE-F710-40DB-BB97-EC3CC8419305}" dt="2024-12-09T18:34:49.213" v="17" actId="21"/>
        <pc:sldMkLst>
          <pc:docMk/>
          <pc:sldMk cId="1696453701" sldId="891"/>
        </pc:sldMkLst>
        <pc:spChg chg="del">
          <ac:chgData name="Ann De Buck" userId="56269b48-6f97-4793-ac00-b6dbb2c9f1bb" providerId="ADAL" clId="{847FC4EE-F710-40DB-BB97-EC3CC8419305}" dt="2024-12-09T18:34:49.213" v="17" actId="21"/>
          <ac:spMkLst>
            <pc:docMk/>
            <pc:sldMk cId="1696453701" sldId="891"/>
            <ac:spMk id="12" creationId="{F2EAD74C-1654-8B6F-A636-B5C5F3D8EC40}"/>
          </ac:spMkLst>
        </pc:spChg>
        <pc:spChg chg="del">
          <ac:chgData name="Ann De Buck" userId="56269b48-6f97-4793-ac00-b6dbb2c9f1bb" providerId="ADAL" clId="{847FC4EE-F710-40DB-BB97-EC3CC8419305}" dt="2024-12-09T18:34:41.001" v="16" actId="21"/>
          <ac:spMkLst>
            <pc:docMk/>
            <pc:sldMk cId="1696453701" sldId="891"/>
            <ac:spMk id="13" creationId="{73C63BF5-8537-9F45-AC66-42C4F252D1AA}"/>
          </ac:spMkLst>
        </pc:spChg>
      </pc:sldChg>
      <pc:sldChg chg="modNotesTx">
        <pc:chgData name="Ann De Buck" userId="56269b48-6f97-4793-ac00-b6dbb2c9f1bb" providerId="ADAL" clId="{847FC4EE-F710-40DB-BB97-EC3CC8419305}" dt="2024-12-09T18:34:56.340" v="18" actId="6549"/>
        <pc:sldMkLst>
          <pc:docMk/>
          <pc:sldMk cId="2916253454" sldId="893"/>
        </pc:sldMkLst>
      </pc:sldChg>
      <pc:sldChg chg="modNotesTx">
        <pc:chgData name="Ann De Buck" userId="56269b48-6f97-4793-ac00-b6dbb2c9f1bb" providerId="ADAL" clId="{847FC4EE-F710-40DB-BB97-EC3CC8419305}" dt="2024-12-09T18:35:15.780" v="22" actId="6549"/>
        <pc:sldMkLst>
          <pc:docMk/>
          <pc:sldMk cId="2950277938" sldId="894"/>
        </pc:sldMkLst>
      </pc:sldChg>
      <pc:sldChg chg="modNotesTx">
        <pc:chgData name="Ann De Buck" userId="56269b48-6f97-4793-ac00-b6dbb2c9f1bb" providerId="ADAL" clId="{847FC4EE-F710-40DB-BB97-EC3CC8419305}" dt="2024-12-09T18:35:35.170" v="27" actId="6549"/>
        <pc:sldMkLst>
          <pc:docMk/>
          <pc:sldMk cId="2015772739" sldId="896"/>
        </pc:sldMkLst>
      </pc:sldChg>
      <pc:sldChg chg="modNotesTx">
        <pc:chgData name="Ann De Buck" userId="56269b48-6f97-4793-ac00-b6dbb2c9f1bb" providerId="ADAL" clId="{847FC4EE-F710-40DB-BB97-EC3CC8419305}" dt="2024-12-09T18:35:41.765" v="29" actId="6549"/>
        <pc:sldMkLst>
          <pc:docMk/>
          <pc:sldMk cId="300756275" sldId="902"/>
        </pc:sldMkLst>
      </pc:sldChg>
      <pc:sldChg chg="modSp mod modNotesTx">
        <pc:chgData name="Ann De Buck" userId="56269b48-6f97-4793-ac00-b6dbb2c9f1bb" providerId="ADAL" clId="{847FC4EE-F710-40DB-BB97-EC3CC8419305}" dt="2024-12-09T19:06:50.635" v="40" actId="27636"/>
        <pc:sldMkLst>
          <pc:docMk/>
          <pc:sldMk cId="76203769" sldId="1665"/>
        </pc:sldMkLst>
        <pc:spChg chg="mod">
          <ac:chgData name="Ann De Buck" userId="56269b48-6f97-4793-ac00-b6dbb2c9f1bb" providerId="ADAL" clId="{847FC4EE-F710-40DB-BB97-EC3CC8419305}" dt="2024-12-09T19:06:50.635" v="40" actId="27636"/>
          <ac:spMkLst>
            <pc:docMk/>
            <pc:sldMk cId="76203769" sldId="1665"/>
            <ac:spMk id="3" creationId="{70FE6360-0905-4150-BEDD-4BF877AD22CF}"/>
          </ac:spMkLst>
        </pc:spChg>
      </pc:sldChg>
      <pc:sldChg chg="modNotesTx">
        <pc:chgData name="Ann De Buck" userId="56269b48-6f97-4793-ac00-b6dbb2c9f1bb" providerId="ADAL" clId="{847FC4EE-F710-40DB-BB97-EC3CC8419305}" dt="2024-12-09T18:34:13.181" v="11" actId="6549"/>
        <pc:sldMkLst>
          <pc:docMk/>
          <pc:sldMk cId="3075713797" sldId="1669"/>
        </pc:sldMkLst>
      </pc:sldChg>
      <pc:sldChg chg="modNotesTx">
        <pc:chgData name="Ann De Buck" userId="56269b48-6f97-4793-ac00-b6dbb2c9f1bb" providerId="ADAL" clId="{847FC4EE-F710-40DB-BB97-EC3CC8419305}" dt="2024-12-09T18:33:43.961" v="2" actId="6549"/>
        <pc:sldMkLst>
          <pc:docMk/>
          <pc:sldMk cId="1980779891" sldId="1670"/>
        </pc:sldMkLst>
      </pc:sldChg>
      <pc:sldChg chg="modNotesTx">
        <pc:chgData name="Ann De Buck" userId="56269b48-6f97-4793-ac00-b6dbb2c9f1bb" providerId="ADAL" clId="{847FC4EE-F710-40DB-BB97-EC3CC8419305}" dt="2024-12-09T18:33:57.579" v="6" actId="6549"/>
        <pc:sldMkLst>
          <pc:docMk/>
          <pc:sldMk cId="668958757" sldId="1671"/>
        </pc:sldMkLst>
      </pc:sldChg>
      <pc:sldChg chg="modNotesTx">
        <pc:chgData name="Ann De Buck" userId="56269b48-6f97-4793-ac00-b6dbb2c9f1bb" providerId="ADAL" clId="{847FC4EE-F710-40DB-BB97-EC3CC8419305}" dt="2024-12-09T18:34:01.180" v="7" actId="6549"/>
        <pc:sldMkLst>
          <pc:docMk/>
          <pc:sldMk cId="1209649225" sldId="1672"/>
        </pc:sldMkLst>
      </pc:sldChg>
      <pc:sldChg chg="modNotesTx">
        <pc:chgData name="Ann De Buck" userId="56269b48-6f97-4793-ac00-b6dbb2c9f1bb" providerId="ADAL" clId="{847FC4EE-F710-40DB-BB97-EC3CC8419305}" dt="2024-12-09T18:34:04.185" v="8" actId="6549"/>
        <pc:sldMkLst>
          <pc:docMk/>
          <pc:sldMk cId="4092040453" sldId="1673"/>
        </pc:sldMkLst>
      </pc:sldChg>
      <pc:sldChg chg="modNotesTx">
        <pc:chgData name="Ann De Buck" userId="56269b48-6f97-4793-ac00-b6dbb2c9f1bb" providerId="ADAL" clId="{847FC4EE-F710-40DB-BB97-EC3CC8419305}" dt="2024-12-09T18:34:07.058" v="9" actId="6549"/>
        <pc:sldMkLst>
          <pc:docMk/>
          <pc:sldMk cId="3369736331" sldId="1674"/>
        </pc:sldMkLst>
      </pc:sldChg>
      <pc:sldChg chg="modNotesTx">
        <pc:chgData name="Ann De Buck" userId="56269b48-6f97-4793-ac00-b6dbb2c9f1bb" providerId="ADAL" clId="{847FC4EE-F710-40DB-BB97-EC3CC8419305}" dt="2024-12-09T18:34:10.488" v="10" actId="6549"/>
        <pc:sldMkLst>
          <pc:docMk/>
          <pc:sldMk cId="3944763509" sldId="1675"/>
        </pc:sldMkLst>
      </pc:sldChg>
      <pc:sldChg chg="modNotesTx">
        <pc:chgData name="Ann De Buck" userId="56269b48-6f97-4793-ac00-b6dbb2c9f1bb" providerId="ADAL" clId="{847FC4EE-F710-40DB-BB97-EC3CC8419305}" dt="2024-12-09T18:34:24.110" v="13" actId="6549"/>
        <pc:sldMkLst>
          <pc:docMk/>
          <pc:sldMk cId="1478275003" sldId="1676"/>
        </pc:sldMkLst>
      </pc:sldChg>
      <pc:sldChg chg="modNotesTx">
        <pc:chgData name="Ann De Buck" userId="56269b48-6f97-4793-ac00-b6dbb2c9f1bb" providerId="ADAL" clId="{847FC4EE-F710-40DB-BB97-EC3CC8419305}" dt="2024-12-09T18:34:28.610" v="14" actId="6549"/>
        <pc:sldMkLst>
          <pc:docMk/>
          <pc:sldMk cId="863072359" sldId="1677"/>
        </pc:sldMkLst>
      </pc:sldChg>
      <pc:sldChg chg="del">
        <pc:chgData name="Ann De Buck" userId="56269b48-6f97-4793-ac00-b6dbb2c9f1bb" providerId="ADAL" clId="{847FC4EE-F710-40DB-BB97-EC3CC8419305}" dt="2024-12-09T18:35:03.023" v="19" actId="2696"/>
        <pc:sldMkLst>
          <pc:docMk/>
          <pc:sldMk cId="2642794275" sldId="1683"/>
        </pc:sldMkLst>
      </pc:sldChg>
      <pc:sldChg chg="modNotesTx">
        <pc:chgData name="Ann De Buck" userId="56269b48-6f97-4793-ac00-b6dbb2c9f1bb" providerId="ADAL" clId="{847FC4EE-F710-40DB-BB97-EC3CC8419305}" dt="2024-12-09T18:35:10.220" v="20" actId="6549"/>
        <pc:sldMkLst>
          <pc:docMk/>
          <pc:sldMk cId="1289741364" sldId="1684"/>
        </pc:sldMkLst>
      </pc:sldChg>
      <pc:sldChg chg="modNotesTx">
        <pc:chgData name="Ann De Buck" userId="56269b48-6f97-4793-ac00-b6dbb2c9f1bb" providerId="ADAL" clId="{847FC4EE-F710-40DB-BB97-EC3CC8419305}" dt="2024-12-09T18:35:12.654" v="21" actId="6549"/>
        <pc:sldMkLst>
          <pc:docMk/>
          <pc:sldMk cId="2098819815" sldId="1685"/>
        </pc:sldMkLst>
      </pc:sldChg>
      <pc:sldChg chg="modNotesTx">
        <pc:chgData name="Ann De Buck" userId="56269b48-6f97-4793-ac00-b6dbb2c9f1bb" providerId="ADAL" clId="{847FC4EE-F710-40DB-BB97-EC3CC8419305}" dt="2024-12-09T18:35:21.509" v="23" actId="6549"/>
        <pc:sldMkLst>
          <pc:docMk/>
          <pc:sldMk cId="633709536" sldId="1686"/>
        </pc:sldMkLst>
      </pc:sldChg>
      <pc:sldChg chg="modNotesTx">
        <pc:chgData name="Ann De Buck" userId="56269b48-6f97-4793-ac00-b6dbb2c9f1bb" providerId="ADAL" clId="{847FC4EE-F710-40DB-BB97-EC3CC8419305}" dt="2024-12-09T18:35:28.151" v="25" actId="6549"/>
        <pc:sldMkLst>
          <pc:docMk/>
          <pc:sldMk cId="1041407405" sldId="1687"/>
        </pc:sldMkLst>
      </pc:sldChg>
      <pc:sldChg chg="modNotesTx">
        <pc:chgData name="Ann De Buck" userId="56269b48-6f97-4793-ac00-b6dbb2c9f1bb" providerId="ADAL" clId="{847FC4EE-F710-40DB-BB97-EC3CC8419305}" dt="2024-12-09T18:35:24.941" v="24" actId="6549"/>
        <pc:sldMkLst>
          <pc:docMk/>
          <pc:sldMk cId="2922630868" sldId="1688"/>
        </pc:sldMkLst>
      </pc:sldChg>
      <pc:sldChg chg="modNotesTx">
        <pc:chgData name="Ann De Buck" userId="56269b48-6f97-4793-ac00-b6dbb2c9f1bb" providerId="ADAL" clId="{847FC4EE-F710-40DB-BB97-EC3CC8419305}" dt="2024-12-09T18:35:31.070" v="26" actId="6549"/>
        <pc:sldMkLst>
          <pc:docMk/>
          <pc:sldMk cId="2925849240" sldId="1689"/>
        </pc:sldMkLst>
      </pc:sldChg>
      <pc:sldChg chg="modNotesTx">
        <pc:chgData name="Ann De Buck" userId="56269b48-6f97-4793-ac00-b6dbb2c9f1bb" providerId="ADAL" clId="{847FC4EE-F710-40DB-BB97-EC3CC8419305}" dt="2024-12-09T18:35:38.240" v="28" actId="6549"/>
        <pc:sldMkLst>
          <pc:docMk/>
          <pc:sldMk cId="3506837698" sldId="1690"/>
        </pc:sldMkLst>
      </pc:sldChg>
      <pc:sldChg chg="modNotesTx">
        <pc:chgData name="Ann De Buck" userId="56269b48-6f97-4793-ac00-b6dbb2c9f1bb" providerId="ADAL" clId="{847FC4EE-F710-40DB-BB97-EC3CC8419305}" dt="2024-12-09T18:35:49.397" v="31" actId="6549"/>
        <pc:sldMkLst>
          <pc:docMk/>
          <pc:sldMk cId="2430205527" sldId="1691"/>
        </pc:sldMkLst>
      </pc:sldChg>
      <pc:sldChg chg="modNotesTx">
        <pc:chgData name="Ann De Buck" userId="56269b48-6f97-4793-ac00-b6dbb2c9f1bb" providerId="ADAL" clId="{847FC4EE-F710-40DB-BB97-EC3CC8419305}" dt="2024-12-09T18:35:57.725" v="33" actId="6549"/>
        <pc:sldMkLst>
          <pc:docMk/>
          <pc:sldMk cId="680686675" sldId="1692"/>
        </pc:sldMkLst>
      </pc:sldChg>
      <pc:sldChg chg="modNotesTx">
        <pc:chgData name="Ann De Buck" userId="56269b48-6f97-4793-ac00-b6dbb2c9f1bb" providerId="ADAL" clId="{847FC4EE-F710-40DB-BB97-EC3CC8419305}" dt="2024-12-09T18:36:00.544" v="34" actId="6549"/>
        <pc:sldMkLst>
          <pc:docMk/>
          <pc:sldMk cId="1766739445" sldId="1694"/>
        </pc:sldMkLst>
      </pc:sldChg>
      <pc:sldChg chg="modNotesTx">
        <pc:chgData name="Ann De Buck" userId="56269b48-6f97-4793-ac00-b6dbb2c9f1bb" providerId="ADAL" clId="{847FC4EE-F710-40DB-BB97-EC3CC8419305}" dt="2024-12-09T18:36:06.749" v="35" actId="6549"/>
        <pc:sldMkLst>
          <pc:docMk/>
          <pc:sldMk cId="1722727115" sldId="1700"/>
        </pc:sldMkLst>
      </pc:sldChg>
      <pc:sldChg chg="modNotesTx">
        <pc:chgData name="Ann De Buck" userId="56269b48-6f97-4793-ac00-b6dbb2c9f1bb" providerId="ADAL" clId="{847FC4EE-F710-40DB-BB97-EC3CC8419305}" dt="2024-12-09T18:36:11.605" v="36" actId="6549"/>
        <pc:sldMkLst>
          <pc:docMk/>
          <pc:sldMk cId="1954763053" sldId="1704"/>
        </pc:sldMkLst>
      </pc:sldChg>
      <pc:sldChg chg="modNotesTx">
        <pc:chgData name="Ann De Buck" userId="56269b48-6f97-4793-ac00-b6dbb2c9f1bb" providerId="ADAL" clId="{847FC4EE-F710-40DB-BB97-EC3CC8419305}" dt="2024-12-09T18:36:17.785" v="37" actId="6549"/>
        <pc:sldMkLst>
          <pc:docMk/>
          <pc:sldMk cId="2770452500" sldId="1705"/>
        </pc:sldMkLst>
      </pc:sldChg>
      <pc:sldChg chg="modNotesTx">
        <pc:chgData name="Ann De Buck" userId="56269b48-6f97-4793-ac00-b6dbb2c9f1bb" providerId="ADAL" clId="{847FC4EE-F710-40DB-BB97-EC3CC8419305}" dt="2024-12-09T18:36:22.704" v="38" actId="6549"/>
        <pc:sldMkLst>
          <pc:docMk/>
          <pc:sldMk cId="3318675068" sldId="1706"/>
        </pc:sldMkLst>
      </pc:sldChg>
      <pc:sldChg chg="modNotesTx">
        <pc:chgData name="Ann De Buck" userId="56269b48-6f97-4793-ac00-b6dbb2c9f1bb" providerId="ADAL" clId="{847FC4EE-F710-40DB-BB97-EC3CC8419305}" dt="2024-12-09T18:34:16.883" v="12" actId="6549"/>
        <pc:sldMkLst>
          <pc:docMk/>
          <pc:sldMk cId="2701800140" sldId="1716"/>
        </pc:sldMkLst>
      </pc:sldChg>
      <pc:sldChg chg="modNotesTx">
        <pc:chgData name="Ann De Buck" userId="56269b48-6f97-4793-ac00-b6dbb2c9f1bb" providerId="ADAL" clId="{847FC4EE-F710-40DB-BB97-EC3CC8419305}" dt="2024-12-09T18:35:44.453" v="30" actId="6549"/>
        <pc:sldMkLst>
          <pc:docMk/>
          <pc:sldMk cId="878300775" sldId="1717"/>
        </pc:sldMkLst>
      </pc:sldChg>
      <pc:sldChg chg="modNotesTx">
        <pc:chgData name="Ann De Buck" userId="56269b48-6f97-4793-ac00-b6dbb2c9f1bb" providerId="ADAL" clId="{847FC4EE-F710-40DB-BB97-EC3CC8419305}" dt="2024-12-09T18:35:55.079" v="32" actId="6549"/>
        <pc:sldMkLst>
          <pc:docMk/>
          <pc:sldMk cId="3125232217" sldId="171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62FC35-6E1B-4E70-B4A8-2E17764112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4" name="Footer Placeholder 3">
            <a:extLst>
              <a:ext uri="{FF2B5EF4-FFF2-40B4-BE49-F238E27FC236}">
                <a16:creationId xmlns:a16="http://schemas.microsoft.com/office/drawing/2014/main" id="{F3783509-45F4-4A33-B377-E4DC335B00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Slide Number Placeholder 4">
            <a:extLst>
              <a:ext uri="{FF2B5EF4-FFF2-40B4-BE49-F238E27FC236}">
                <a16:creationId xmlns:a16="http://schemas.microsoft.com/office/drawing/2014/main" id="{A1231CA1-EEC8-4E8D-8F53-590E0F57592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16E2CA-99BE-4DC0-9A95-E0C0A0CA9309}" type="slidenum">
              <a:rPr lang="nl-BE" smtClean="0"/>
              <a:t>‹nr.›</a:t>
            </a:fld>
            <a:endParaRPr lang="nl-BE"/>
          </a:p>
        </p:txBody>
      </p:sp>
    </p:spTree>
    <p:extLst>
      <p:ext uri="{BB962C8B-B14F-4D97-AF65-F5344CB8AC3E}">
        <p14:creationId xmlns:p14="http://schemas.microsoft.com/office/powerpoint/2010/main" val="2336104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80C0C-85DF-417F-8238-DB0D15743621}" type="datetimeFigureOut">
              <a:rPr lang="en-GB" smtClean="0"/>
              <a:t>09/12/2024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A0A48-EDB1-4AFE-B1B7-10CE2A416496}" type="slidenum">
              <a:rPr lang="en-GB" smtClean="0"/>
              <a:t>‹nr.›</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a:t>
            </a:fld>
            <a:endParaRPr lang="en-GB"/>
          </a:p>
        </p:txBody>
      </p:sp>
    </p:spTree>
    <p:extLst>
      <p:ext uri="{BB962C8B-B14F-4D97-AF65-F5344CB8AC3E}">
        <p14:creationId xmlns:p14="http://schemas.microsoft.com/office/powerpoint/2010/main" val="4052628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a:t>
            </a:fld>
            <a:endParaRPr lang="en-GB"/>
          </a:p>
        </p:txBody>
      </p:sp>
    </p:spTree>
    <p:extLst>
      <p:ext uri="{BB962C8B-B14F-4D97-AF65-F5344CB8AC3E}">
        <p14:creationId xmlns:p14="http://schemas.microsoft.com/office/powerpoint/2010/main" val="1958505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a:t>
            </a:fld>
            <a:endParaRPr lang="en-GB"/>
          </a:p>
        </p:txBody>
      </p:sp>
    </p:spTree>
    <p:extLst>
      <p:ext uri="{BB962C8B-B14F-4D97-AF65-F5344CB8AC3E}">
        <p14:creationId xmlns:p14="http://schemas.microsoft.com/office/powerpoint/2010/main" val="1848293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a:t>
            </a:fld>
            <a:endParaRPr lang="en-GB"/>
          </a:p>
        </p:txBody>
      </p:sp>
    </p:spTree>
    <p:extLst>
      <p:ext uri="{BB962C8B-B14F-4D97-AF65-F5344CB8AC3E}">
        <p14:creationId xmlns:p14="http://schemas.microsoft.com/office/powerpoint/2010/main" val="3205136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6</a:t>
            </a:fld>
            <a:endParaRPr lang="en-GB"/>
          </a:p>
        </p:txBody>
      </p:sp>
    </p:spTree>
    <p:extLst>
      <p:ext uri="{BB962C8B-B14F-4D97-AF65-F5344CB8AC3E}">
        <p14:creationId xmlns:p14="http://schemas.microsoft.com/office/powerpoint/2010/main" val="933928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7</a:t>
            </a:fld>
            <a:endParaRPr lang="en-GB"/>
          </a:p>
        </p:txBody>
      </p:sp>
    </p:spTree>
    <p:extLst>
      <p:ext uri="{BB962C8B-B14F-4D97-AF65-F5344CB8AC3E}">
        <p14:creationId xmlns:p14="http://schemas.microsoft.com/office/powerpoint/2010/main" val="3641007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8</a:t>
            </a:fld>
            <a:endParaRPr lang="en-GB"/>
          </a:p>
        </p:txBody>
      </p:sp>
    </p:spTree>
    <p:extLst>
      <p:ext uri="{BB962C8B-B14F-4D97-AF65-F5344CB8AC3E}">
        <p14:creationId xmlns:p14="http://schemas.microsoft.com/office/powerpoint/2010/main" val="2910830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9</a:t>
            </a:fld>
            <a:endParaRPr lang="en-GB"/>
          </a:p>
        </p:txBody>
      </p:sp>
    </p:spTree>
    <p:extLst>
      <p:ext uri="{BB962C8B-B14F-4D97-AF65-F5344CB8AC3E}">
        <p14:creationId xmlns:p14="http://schemas.microsoft.com/office/powerpoint/2010/main" val="4205023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10</a:t>
            </a:fld>
            <a:endParaRPr lang="en-GB"/>
          </a:p>
        </p:txBody>
      </p:sp>
    </p:spTree>
    <p:extLst>
      <p:ext uri="{BB962C8B-B14F-4D97-AF65-F5344CB8AC3E}">
        <p14:creationId xmlns:p14="http://schemas.microsoft.com/office/powerpoint/2010/main" val="1741879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11</a:t>
            </a:fld>
            <a:endParaRPr lang="en-GB"/>
          </a:p>
        </p:txBody>
      </p:sp>
    </p:spTree>
    <p:extLst>
      <p:ext uri="{BB962C8B-B14F-4D97-AF65-F5344CB8AC3E}">
        <p14:creationId xmlns:p14="http://schemas.microsoft.com/office/powerpoint/2010/main" val="2171211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12</a:t>
            </a:fld>
            <a:endParaRPr lang="en-GB"/>
          </a:p>
        </p:txBody>
      </p:sp>
    </p:spTree>
    <p:extLst>
      <p:ext uri="{BB962C8B-B14F-4D97-AF65-F5344CB8AC3E}">
        <p14:creationId xmlns:p14="http://schemas.microsoft.com/office/powerpoint/2010/main" val="3708053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13</a:t>
            </a:fld>
            <a:endParaRPr lang="en-GB"/>
          </a:p>
        </p:txBody>
      </p:sp>
    </p:spTree>
    <p:extLst>
      <p:ext uri="{BB962C8B-B14F-4D97-AF65-F5344CB8AC3E}">
        <p14:creationId xmlns:p14="http://schemas.microsoft.com/office/powerpoint/2010/main" val="3120746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D802D-3EC1-E193-233B-8FBAE35B35E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9488FFC-589D-42AA-D24F-8C9DC1993DF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66BF6FC-A1DC-9800-178A-EEA0D8AD7839}"/>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707DFA12-A79E-BFC3-A5EE-6D7CFA1C30A2}"/>
              </a:ext>
            </a:extLst>
          </p:cNvPr>
          <p:cNvSpPr>
            <a:spLocks noGrp="1"/>
          </p:cNvSpPr>
          <p:nvPr>
            <p:ph type="sldNum" sz="quarter" idx="5"/>
          </p:nvPr>
        </p:nvSpPr>
        <p:spPr/>
        <p:txBody>
          <a:bodyPr/>
          <a:lstStyle/>
          <a:p>
            <a:fld id="{539A0A48-EDB1-4AFE-B1B7-10CE2A416496}" type="slidenum">
              <a:rPr lang="en-GB" smtClean="0"/>
              <a:t>14</a:t>
            </a:fld>
            <a:endParaRPr lang="en-GB"/>
          </a:p>
        </p:txBody>
      </p:sp>
    </p:spTree>
    <p:extLst>
      <p:ext uri="{BB962C8B-B14F-4D97-AF65-F5344CB8AC3E}">
        <p14:creationId xmlns:p14="http://schemas.microsoft.com/office/powerpoint/2010/main" val="1437846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15</a:t>
            </a:fld>
            <a:endParaRPr lang="en-GB"/>
          </a:p>
        </p:txBody>
      </p:sp>
    </p:spTree>
    <p:extLst>
      <p:ext uri="{BB962C8B-B14F-4D97-AF65-F5344CB8AC3E}">
        <p14:creationId xmlns:p14="http://schemas.microsoft.com/office/powerpoint/2010/main" val="99680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16</a:t>
            </a:fld>
            <a:endParaRPr lang="en-GB"/>
          </a:p>
        </p:txBody>
      </p:sp>
    </p:spTree>
    <p:extLst>
      <p:ext uri="{BB962C8B-B14F-4D97-AF65-F5344CB8AC3E}">
        <p14:creationId xmlns:p14="http://schemas.microsoft.com/office/powerpoint/2010/main" val="4069466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18</a:t>
            </a:fld>
            <a:endParaRPr lang="en-GB"/>
          </a:p>
        </p:txBody>
      </p:sp>
    </p:spTree>
    <p:extLst>
      <p:ext uri="{BB962C8B-B14F-4D97-AF65-F5344CB8AC3E}">
        <p14:creationId xmlns:p14="http://schemas.microsoft.com/office/powerpoint/2010/main" val="1108665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54234F-A7B5-D54C-B5BD-A817A8C562F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96389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21</a:t>
            </a:fld>
            <a:endParaRPr lang="en-GB"/>
          </a:p>
        </p:txBody>
      </p:sp>
    </p:spTree>
    <p:extLst>
      <p:ext uri="{BB962C8B-B14F-4D97-AF65-F5344CB8AC3E}">
        <p14:creationId xmlns:p14="http://schemas.microsoft.com/office/powerpoint/2010/main" val="614641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22</a:t>
            </a:fld>
            <a:endParaRPr lang="en-GB"/>
          </a:p>
        </p:txBody>
      </p:sp>
    </p:spTree>
    <p:extLst>
      <p:ext uri="{BB962C8B-B14F-4D97-AF65-F5344CB8AC3E}">
        <p14:creationId xmlns:p14="http://schemas.microsoft.com/office/powerpoint/2010/main" val="3451327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23</a:t>
            </a:fld>
            <a:endParaRPr lang="en-GB"/>
          </a:p>
        </p:txBody>
      </p:sp>
    </p:spTree>
    <p:extLst>
      <p:ext uri="{BB962C8B-B14F-4D97-AF65-F5344CB8AC3E}">
        <p14:creationId xmlns:p14="http://schemas.microsoft.com/office/powerpoint/2010/main" val="2030931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24</a:t>
            </a:fld>
            <a:endParaRPr lang="en-GB"/>
          </a:p>
        </p:txBody>
      </p:sp>
    </p:spTree>
    <p:extLst>
      <p:ext uri="{BB962C8B-B14F-4D97-AF65-F5344CB8AC3E}">
        <p14:creationId xmlns:p14="http://schemas.microsoft.com/office/powerpoint/2010/main" val="3233355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25</a:t>
            </a:fld>
            <a:endParaRPr lang="en-GB"/>
          </a:p>
        </p:txBody>
      </p:sp>
    </p:spTree>
    <p:extLst>
      <p:ext uri="{BB962C8B-B14F-4D97-AF65-F5344CB8AC3E}">
        <p14:creationId xmlns:p14="http://schemas.microsoft.com/office/powerpoint/2010/main" val="626956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26</a:t>
            </a:fld>
            <a:endParaRPr lang="en-GB"/>
          </a:p>
        </p:txBody>
      </p:sp>
    </p:spTree>
    <p:extLst>
      <p:ext uri="{BB962C8B-B14F-4D97-AF65-F5344CB8AC3E}">
        <p14:creationId xmlns:p14="http://schemas.microsoft.com/office/powerpoint/2010/main" val="2798345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27</a:t>
            </a:fld>
            <a:endParaRPr lang="en-GB"/>
          </a:p>
        </p:txBody>
      </p:sp>
    </p:spTree>
    <p:extLst>
      <p:ext uri="{BB962C8B-B14F-4D97-AF65-F5344CB8AC3E}">
        <p14:creationId xmlns:p14="http://schemas.microsoft.com/office/powerpoint/2010/main" val="2643269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457200" algn="just">
              <a:lnSpc>
                <a:spcPct val="150000"/>
              </a:lnSpc>
            </a:pPr>
            <a:endParaRPr lang="nl-BE"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28</a:t>
            </a:fld>
            <a:endParaRPr lang="en-GB"/>
          </a:p>
        </p:txBody>
      </p:sp>
    </p:spTree>
    <p:extLst>
      <p:ext uri="{BB962C8B-B14F-4D97-AF65-F5344CB8AC3E}">
        <p14:creationId xmlns:p14="http://schemas.microsoft.com/office/powerpoint/2010/main" val="2338987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29</a:t>
            </a:fld>
            <a:endParaRPr lang="en-GB"/>
          </a:p>
        </p:txBody>
      </p:sp>
    </p:spTree>
    <p:extLst>
      <p:ext uri="{BB962C8B-B14F-4D97-AF65-F5344CB8AC3E}">
        <p14:creationId xmlns:p14="http://schemas.microsoft.com/office/powerpoint/2010/main" val="2299677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30</a:t>
            </a:fld>
            <a:endParaRPr lang="en-GB"/>
          </a:p>
        </p:txBody>
      </p:sp>
    </p:spTree>
    <p:extLst>
      <p:ext uri="{BB962C8B-B14F-4D97-AF65-F5344CB8AC3E}">
        <p14:creationId xmlns:p14="http://schemas.microsoft.com/office/powerpoint/2010/main" val="1773094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31</a:t>
            </a:fld>
            <a:endParaRPr lang="en-GB"/>
          </a:p>
        </p:txBody>
      </p:sp>
    </p:spTree>
    <p:extLst>
      <p:ext uri="{BB962C8B-B14F-4D97-AF65-F5344CB8AC3E}">
        <p14:creationId xmlns:p14="http://schemas.microsoft.com/office/powerpoint/2010/main" val="1563870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just">
              <a:lnSpc>
                <a:spcPct val="150000"/>
              </a:lnSpc>
              <a:spcAft>
                <a:spcPts val="800"/>
              </a:spcAft>
            </a:pPr>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32</a:t>
            </a:fld>
            <a:endParaRPr lang="en-GB"/>
          </a:p>
        </p:txBody>
      </p:sp>
    </p:spTree>
    <p:extLst>
      <p:ext uri="{BB962C8B-B14F-4D97-AF65-F5344CB8AC3E}">
        <p14:creationId xmlns:p14="http://schemas.microsoft.com/office/powerpoint/2010/main" val="29870694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33</a:t>
            </a:fld>
            <a:endParaRPr lang="en-GB"/>
          </a:p>
        </p:txBody>
      </p:sp>
    </p:spTree>
    <p:extLst>
      <p:ext uri="{BB962C8B-B14F-4D97-AF65-F5344CB8AC3E}">
        <p14:creationId xmlns:p14="http://schemas.microsoft.com/office/powerpoint/2010/main" val="18891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34</a:t>
            </a:fld>
            <a:endParaRPr lang="en-GB"/>
          </a:p>
        </p:txBody>
      </p:sp>
    </p:spTree>
    <p:extLst>
      <p:ext uri="{BB962C8B-B14F-4D97-AF65-F5344CB8AC3E}">
        <p14:creationId xmlns:p14="http://schemas.microsoft.com/office/powerpoint/2010/main" val="2616140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58690-4D49-6B01-FE5A-F685873B50E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30548A0-DF6F-5B04-820D-4DA255FA0E0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6C30DBD-19BE-4FC8-72D6-D2A961DEEDD8}"/>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88676ADA-0779-F88E-4DB0-E19B519FD0D4}"/>
              </a:ext>
            </a:extLst>
          </p:cNvPr>
          <p:cNvSpPr>
            <a:spLocks noGrp="1"/>
          </p:cNvSpPr>
          <p:nvPr>
            <p:ph type="sldNum" sz="quarter" idx="5"/>
          </p:nvPr>
        </p:nvSpPr>
        <p:spPr/>
        <p:txBody>
          <a:bodyPr/>
          <a:lstStyle/>
          <a:p>
            <a:fld id="{539A0A48-EDB1-4AFE-B1B7-10CE2A416496}" type="slidenum">
              <a:rPr lang="en-GB" smtClean="0"/>
              <a:t>35</a:t>
            </a:fld>
            <a:endParaRPr lang="en-GB"/>
          </a:p>
        </p:txBody>
      </p:sp>
    </p:spTree>
    <p:extLst>
      <p:ext uri="{BB962C8B-B14F-4D97-AF65-F5344CB8AC3E}">
        <p14:creationId xmlns:p14="http://schemas.microsoft.com/office/powerpoint/2010/main" val="40923225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36</a:t>
            </a:fld>
            <a:endParaRPr lang="en-GB"/>
          </a:p>
        </p:txBody>
      </p:sp>
    </p:spTree>
    <p:extLst>
      <p:ext uri="{BB962C8B-B14F-4D97-AF65-F5344CB8AC3E}">
        <p14:creationId xmlns:p14="http://schemas.microsoft.com/office/powerpoint/2010/main" val="213138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nSpc>
                <a:spcPct val="150000"/>
              </a:lnSpc>
              <a:spcAft>
                <a:spcPts val="800"/>
              </a:spcAft>
            </a:pPr>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37</a:t>
            </a:fld>
            <a:endParaRPr lang="en-GB"/>
          </a:p>
        </p:txBody>
      </p:sp>
    </p:spTree>
    <p:extLst>
      <p:ext uri="{BB962C8B-B14F-4D97-AF65-F5344CB8AC3E}">
        <p14:creationId xmlns:p14="http://schemas.microsoft.com/office/powerpoint/2010/main" val="3206726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38</a:t>
            </a:fld>
            <a:endParaRPr lang="en-GB"/>
          </a:p>
        </p:txBody>
      </p:sp>
    </p:spTree>
    <p:extLst>
      <p:ext uri="{BB962C8B-B14F-4D97-AF65-F5344CB8AC3E}">
        <p14:creationId xmlns:p14="http://schemas.microsoft.com/office/powerpoint/2010/main" val="1818527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39</a:t>
            </a:fld>
            <a:endParaRPr lang="en-GB"/>
          </a:p>
        </p:txBody>
      </p:sp>
    </p:spTree>
    <p:extLst>
      <p:ext uri="{BB962C8B-B14F-4D97-AF65-F5344CB8AC3E}">
        <p14:creationId xmlns:p14="http://schemas.microsoft.com/office/powerpoint/2010/main" val="22074400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40</a:t>
            </a:fld>
            <a:endParaRPr lang="en-GB"/>
          </a:p>
        </p:txBody>
      </p:sp>
    </p:spTree>
    <p:extLst>
      <p:ext uri="{BB962C8B-B14F-4D97-AF65-F5344CB8AC3E}">
        <p14:creationId xmlns:p14="http://schemas.microsoft.com/office/powerpoint/2010/main" val="3159581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41</a:t>
            </a:fld>
            <a:endParaRPr lang="en-GB"/>
          </a:p>
        </p:txBody>
      </p:sp>
    </p:spTree>
    <p:extLst>
      <p:ext uri="{BB962C8B-B14F-4D97-AF65-F5344CB8AC3E}">
        <p14:creationId xmlns:p14="http://schemas.microsoft.com/office/powerpoint/2010/main" val="16044371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42</a:t>
            </a:fld>
            <a:endParaRPr lang="en-GB"/>
          </a:p>
        </p:txBody>
      </p:sp>
    </p:spTree>
    <p:extLst>
      <p:ext uri="{BB962C8B-B14F-4D97-AF65-F5344CB8AC3E}">
        <p14:creationId xmlns:p14="http://schemas.microsoft.com/office/powerpoint/2010/main" val="183113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43</a:t>
            </a:fld>
            <a:endParaRPr lang="en-GB"/>
          </a:p>
        </p:txBody>
      </p:sp>
    </p:spTree>
    <p:extLst>
      <p:ext uri="{BB962C8B-B14F-4D97-AF65-F5344CB8AC3E}">
        <p14:creationId xmlns:p14="http://schemas.microsoft.com/office/powerpoint/2010/main" val="4505077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44</a:t>
            </a:fld>
            <a:endParaRPr lang="en-GB"/>
          </a:p>
        </p:txBody>
      </p:sp>
    </p:spTree>
    <p:extLst>
      <p:ext uri="{BB962C8B-B14F-4D97-AF65-F5344CB8AC3E}">
        <p14:creationId xmlns:p14="http://schemas.microsoft.com/office/powerpoint/2010/main" val="35252318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45</a:t>
            </a:fld>
            <a:endParaRPr lang="en-GB"/>
          </a:p>
        </p:txBody>
      </p:sp>
    </p:spTree>
    <p:extLst>
      <p:ext uri="{BB962C8B-B14F-4D97-AF65-F5344CB8AC3E}">
        <p14:creationId xmlns:p14="http://schemas.microsoft.com/office/powerpoint/2010/main" val="1999529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46</a:t>
            </a:fld>
            <a:endParaRPr lang="en-GB"/>
          </a:p>
        </p:txBody>
      </p:sp>
    </p:spTree>
    <p:extLst>
      <p:ext uri="{BB962C8B-B14F-4D97-AF65-F5344CB8AC3E}">
        <p14:creationId xmlns:p14="http://schemas.microsoft.com/office/powerpoint/2010/main" val="34075903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47</a:t>
            </a:fld>
            <a:endParaRPr lang="en-GB"/>
          </a:p>
        </p:txBody>
      </p:sp>
    </p:spTree>
    <p:extLst>
      <p:ext uri="{BB962C8B-B14F-4D97-AF65-F5344CB8AC3E}">
        <p14:creationId xmlns:p14="http://schemas.microsoft.com/office/powerpoint/2010/main" val="10525764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48</a:t>
            </a:fld>
            <a:endParaRPr lang="en-GB"/>
          </a:p>
        </p:txBody>
      </p:sp>
    </p:spTree>
    <p:extLst>
      <p:ext uri="{BB962C8B-B14F-4D97-AF65-F5344CB8AC3E}">
        <p14:creationId xmlns:p14="http://schemas.microsoft.com/office/powerpoint/2010/main" val="34628343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49</a:t>
            </a:fld>
            <a:endParaRPr lang="en-GB"/>
          </a:p>
        </p:txBody>
      </p:sp>
    </p:spTree>
    <p:extLst>
      <p:ext uri="{BB962C8B-B14F-4D97-AF65-F5344CB8AC3E}">
        <p14:creationId xmlns:p14="http://schemas.microsoft.com/office/powerpoint/2010/main" val="27021107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52</a:t>
            </a:fld>
            <a:endParaRPr lang="en-GB"/>
          </a:p>
        </p:txBody>
      </p:sp>
    </p:spTree>
    <p:extLst>
      <p:ext uri="{BB962C8B-B14F-4D97-AF65-F5344CB8AC3E}">
        <p14:creationId xmlns:p14="http://schemas.microsoft.com/office/powerpoint/2010/main" val="8777434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60</a:t>
            </a:fld>
            <a:endParaRPr lang="en-GB"/>
          </a:p>
        </p:txBody>
      </p:sp>
    </p:spTree>
    <p:extLst>
      <p:ext uri="{BB962C8B-B14F-4D97-AF65-F5344CB8AC3E}">
        <p14:creationId xmlns:p14="http://schemas.microsoft.com/office/powerpoint/2010/main" val="2166305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64F84-246C-4657-8172-1E2969D0F603}" type="datetime1">
              <a:rPr lang="en-GB" smtClean="0"/>
              <a:t>09/12/2024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‹nr.›</a:t>
            </a:fld>
            <a:endParaRPr lang="en-GB"/>
          </a:p>
        </p:txBody>
      </p:sp>
      <p:pic>
        <p:nvPicPr>
          <p:cNvPr id="6" name="Logo Large 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77747" y="2283675"/>
            <a:ext cx="4800610"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0" y="2295684"/>
            <a:ext cx="17338675" cy="560271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bwMode="white">
          <a:xfrm>
            <a:off x="712340" y="2298145"/>
            <a:ext cx="12742426" cy="2359800"/>
          </a:xfrm>
        </p:spPr>
        <p:txBody>
          <a:bodyPr anchor="b">
            <a:noAutofit/>
          </a:bodyPr>
          <a:lstStyle>
            <a:lvl1pPr algn="l">
              <a:lnSpc>
                <a:spcPts val="11000"/>
              </a:lnSpc>
              <a:defRPr sz="4400" b="1" u="none" baseline="0">
                <a:solidFill>
                  <a:schemeClr val="bg1"/>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2800" b="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en-GB" noProof="0" dirty="0"/>
              <a:t>Click to add subtitle / presenter / date [</a:t>
            </a:r>
            <a:r>
              <a:rPr lang="en-GB" noProof="0" dirty="0" err="1"/>
              <a:t>dd</a:t>
            </a:r>
            <a:r>
              <a:rPr lang="en-GB" noProof="0" dirty="0"/>
              <a:t>-mm-</a:t>
            </a:r>
            <a:r>
              <a:rPr lang="en-GB" noProof="0" dirty="0" err="1"/>
              <a:t>yyyy</a:t>
            </a:r>
            <a:r>
              <a:rPr lang="en-GB" noProof="0" dirty="0"/>
              <a:t>]</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ranisation Placeholder"/>
          <p:cNvSpPr>
            <a:spLocks noGrp="1"/>
          </p:cNvSpPr>
          <p:nvPr>
            <p:ph type="body" sz="quarter" idx="15" hasCustomPrompt="1"/>
          </p:nvPr>
        </p:nvSpPr>
        <p:spPr bwMode="white">
          <a:xfrm>
            <a:off x="4108537" y="350729"/>
            <a:ext cx="12841549" cy="671961"/>
          </a:xfrm>
        </p:spPr>
        <p:txBody>
          <a:bodyPr anchor="b" anchorCtr="0">
            <a:normAutofit/>
          </a:bodyPr>
          <a:lstStyle>
            <a:lvl1pPr>
              <a:lnSpc>
                <a:spcPts val="1700"/>
              </a:lnSpc>
              <a:defRPr sz="3400" b="1" i="0" u="sng" cap="small" baseline="0">
                <a:solidFill>
                  <a:srgbClr val="003366"/>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vl2pPr marL="0" indent="0">
              <a:lnSpc>
                <a:spcPts val="1700"/>
              </a:lnSpc>
              <a:buNone/>
              <a:defRPr sz="1400" cap="all" baseline="0">
                <a:solidFill>
                  <a:srgbClr val="1E64C8"/>
                </a:solidFill>
              </a:defRPr>
            </a:lvl2pPr>
          </a:lstStyle>
          <a:p>
            <a:pPr lvl="0"/>
            <a:r>
              <a:rPr lang="en-GB" noProof="0" dirty="0"/>
              <a:t>Click to edit organisation styles</a:t>
            </a:r>
          </a:p>
        </p:txBody>
      </p:sp>
      <p:pic>
        <p:nvPicPr>
          <p:cNvPr id="9" name="Afbeelding 8">
            <a:extLst>
              <a:ext uri="{FF2B5EF4-FFF2-40B4-BE49-F238E27FC236}">
                <a16:creationId xmlns:a16="http://schemas.microsoft.com/office/drawing/2014/main" id="{9871DE22-9699-4EAF-9087-24565B509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97" y="-1248325"/>
            <a:ext cx="3312270" cy="4676437"/>
          </a:xfrm>
          <a:prstGeom prst="rect">
            <a:avLst/>
          </a:prstGeom>
        </p:spPr>
      </p:pic>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en-GB" noProof="0" dirty="0"/>
              <a:t>Click to add chapter title</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B8233FCF-C78E-47A1-9466-4CB05FC00861}"/>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Logo Large EN">
            <a:extLst>
              <a:ext uri="{FF2B5EF4-FFF2-40B4-BE49-F238E27FC236}">
                <a16:creationId xmlns:a16="http://schemas.microsoft.com/office/drawing/2014/main" id="{DD11DB78-BA8F-4D35-9786-54E14B77F9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327069" y="1816273"/>
            <a:ext cx="16858641" cy="6864264"/>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sp>
        <p:nvSpPr>
          <p:cNvPr id="10" name="Content Placeholder 2"/>
          <p:cNvSpPr>
            <a:spLocks noGrp="1"/>
          </p:cNvSpPr>
          <p:nvPr>
            <p:ph idx="13"/>
          </p:nvPr>
        </p:nvSpPr>
        <p:spPr>
          <a:xfrm>
            <a:off x="2331721" y="8981161"/>
            <a:ext cx="13722366" cy="475989"/>
          </a:xfrm>
        </p:spPr>
        <p:txBody>
          <a:bodyPr>
            <a:normAutofit/>
          </a:bodyPr>
          <a:lstStyle>
            <a:lvl1pPr marL="86400" indent="0" defTabSz="457200">
              <a:lnSpc>
                <a:spcPct val="120000"/>
              </a:lnSpc>
              <a:buFont typeface="Wingdings" panose="05000000000000000000" pitchFamily="2" charset="2"/>
              <a:buNone/>
              <a:defRPr sz="1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cxnSp>
        <p:nvCxnSpPr>
          <p:cNvPr id="5" name="Straight Connector 4">
            <a:extLst>
              <a:ext uri="{FF2B5EF4-FFF2-40B4-BE49-F238E27FC236}">
                <a16:creationId xmlns:a16="http://schemas.microsoft.com/office/drawing/2014/main" id="{4104DC89-525A-4773-B9DF-6BE1A717F802}"/>
              </a:ext>
            </a:extLst>
          </p:cNvPr>
          <p:cNvCxnSpPr>
            <a:cxnSpLocks/>
          </p:cNvCxnSpPr>
          <p:nvPr userDrawn="1"/>
        </p:nvCxnSpPr>
        <p:spPr>
          <a:xfrm>
            <a:off x="327069" y="1445550"/>
            <a:ext cx="167417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Afbeelding 7">
            <a:extLst>
              <a:ext uri="{FF2B5EF4-FFF2-40B4-BE49-F238E27FC236}">
                <a16:creationId xmlns:a16="http://schemas.microsoft.com/office/drawing/2014/main" id="{9811080D-4FB2-4915-B4B2-1D8BF0E329E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Tex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1541393E-7C09-4F12-9A9E-C6211FF6E487}"/>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225469" y="1816273"/>
            <a:ext cx="16960241"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cxnSp>
        <p:nvCxnSpPr>
          <p:cNvPr id="5" name="Straight Connector 4">
            <a:extLst>
              <a:ext uri="{FF2B5EF4-FFF2-40B4-BE49-F238E27FC236}">
                <a16:creationId xmlns:a16="http://schemas.microsoft.com/office/drawing/2014/main" id="{4104DC89-525A-4773-B9DF-6BE1A717F802}"/>
              </a:ext>
            </a:extLst>
          </p:cNvPr>
          <p:cNvCxnSpPr/>
          <p:nvPr userDrawn="1"/>
        </p:nvCxnSpPr>
        <p:spPr>
          <a:xfrm>
            <a:off x="225469" y="1445550"/>
            <a:ext cx="168433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4DAFB28A-E25C-4EFF-86F3-CD019B10E7E6}"/>
              </a:ext>
            </a:extLst>
          </p:cNvPr>
          <p:cNvSpPr>
            <a:spLocks noGrp="1"/>
          </p:cNvSpPr>
          <p:nvPr>
            <p:ph idx="14"/>
          </p:nvPr>
        </p:nvSpPr>
        <p:spPr>
          <a:xfrm>
            <a:off x="5984111" y="5790327"/>
            <a:ext cx="11201599"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pic>
        <p:nvPicPr>
          <p:cNvPr id="9" name="Afbeelding 8">
            <a:extLst>
              <a:ext uri="{FF2B5EF4-FFF2-40B4-BE49-F238E27FC236}">
                <a16:creationId xmlns:a16="http://schemas.microsoft.com/office/drawing/2014/main" id="{17DEC767-42CA-4CD2-93FA-ED79D87A32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pic>
        <p:nvPicPr>
          <p:cNvPr id="12" name="Logo Large EN">
            <a:extLst>
              <a:ext uri="{FF2B5EF4-FFF2-40B4-BE49-F238E27FC236}">
                <a16:creationId xmlns:a16="http://schemas.microsoft.com/office/drawing/2014/main" id="{5277E93A-7FD9-4EF3-905C-6DF250A268F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Tree>
    <p:extLst>
      <p:ext uri="{BB962C8B-B14F-4D97-AF65-F5344CB8AC3E}">
        <p14:creationId xmlns:p14="http://schemas.microsoft.com/office/powerpoint/2010/main" val="401475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7FFFB7AB-BA76-46AF-8C93-349C899E640D}"/>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4" name="Logo Large EN">
            <a:extLst>
              <a:ext uri="{FF2B5EF4-FFF2-40B4-BE49-F238E27FC236}">
                <a16:creationId xmlns:a16="http://schemas.microsoft.com/office/drawing/2014/main" id="{493A8D34-0286-4693-9124-6D5814F04F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1866900" y="136025"/>
            <a:ext cx="15323820" cy="1062772"/>
          </a:xfrm>
        </p:spPr>
        <p:txBody>
          <a:bodyPr/>
          <a:lstStyle>
            <a:lvl1pPr>
              <a:defRPr sz="3400" b="1" u="none">
                <a:solidFill>
                  <a:schemeClr val="accent1">
                    <a:lumMod val="75000"/>
                  </a:schemeClr>
                </a:solidFill>
                <a:latin typeface="Verdana" panose="020B0604030504040204" pitchFamily="34" charset="0"/>
                <a:ea typeface="Verdana" panose="020B0604030504040204" pitchFamily="34" charset="0"/>
              </a:defRPr>
            </a:lvl1pPr>
          </a:lstStyle>
          <a:p>
            <a:r>
              <a:rPr lang="en-US" noProof="0" dirty="0"/>
              <a:t>Click to edit Master title style</a:t>
            </a:r>
            <a:endParaRPr lang="en-GB" noProof="0" dirty="0"/>
          </a:p>
        </p:txBody>
      </p:sp>
      <p:sp>
        <p:nvSpPr>
          <p:cNvPr id="4" name="Date Placeholder 3"/>
          <p:cNvSpPr>
            <a:spLocks noGrp="1"/>
          </p:cNvSpPr>
          <p:nvPr>
            <p:ph type="dt" sz="half" idx="10"/>
          </p:nvPr>
        </p:nvSpPr>
        <p:spPr/>
        <p:txBody>
          <a:bodyPr/>
          <a:lstStyle/>
          <a:p>
            <a:fld id="{B86ADBF0-A618-4E69-83BB-0C41E08702AA}" type="datetime1">
              <a:rPr lang="en-GB" noProof="0" smtClean="0"/>
              <a:t>09/12/2024</a:t>
            </a:fld>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8" name="Picture Placeholder 7"/>
          <p:cNvSpPr>
            <a:spLocks noGrp="1"/>
          </p:cNvSpPr>
          <p:nvPr>
            <p:ph type="pic" sz="quarter" idx="13" hasCustomPrompt="1"/>
          </p:nvPr>
        </p:nvSpPr>
        <p:spPr>
          <a:xfrm>
            <a:off x="10618004" y="1741118"/>
            <a:ext cx="6300000" cy="6450904"/>
          </a:xfrm>
        </p:spPr>
        <p:txBody>
          <a:bodyPr/>
          <a:lstStyle>
            <a:lvl1pPr>
              <a:defRPr>
                <a:solidFill>
                  <a:schemeClr val="bg1">
                    <a:lumMod val="50000"/>
                  </a:schemeClr>
                </a:solidFill>
              </a:defRPr>
            </a:lvl1pPr>
          </a:lstStyle>
          <a:p>
            <a:r>
              <a:rPr lang="en-GB" noProof="0" dirty="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12" name="Content Placeholder 2"/>
          <p:cNvSpPr>
            <a:spLocks noGrp="1"/>
          </p:cNvSpPr>
          <p:nvPr>
            <p:ph idx="1"/>
          </p:nvPr>
        </p:nvSpPr>
        <p:spPr>
          <a:xfrm>
            <a:off x="384888" y="1791222"/>
            <a:ext cx="9498148" cy="6412292"/>
          </a:xfrm>
        </p:spPr>
        <p:txBody>
          <a:bodyPr>
            <a:normAutofit/>
          </a:bodyPr>
          <a:lstStyle>
            <a:lvl1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cxnSp>
        <p:nvCxnSpPr>
          <p:cNvPr id="11" name="Straight Connector 10">
            <a:extLst>
              <a:ext uri="{FF2B5EF4-FFF2-40B4-BE49-F238E27FC236}">
                <a16:creationId xmlns:a16="http://schemas.microsoft.com/office/drawing/2014/main" id="{5C7E4AD1-092F-4246-B8DF-50863AA501DE}"/>
              </a:ext>
            </a:extLst>
          </p:cNvPr>
          <p:cNvCxnSpPr/>
          <p:nvPr userDrawn="1"/>
        </p:nvCxnSpPr>
        <p:spPr>
          <a:xfrm>
            <a:off x="225469" y="1422400"/>
            <a:ext cx="16843331" cy="0"/>
          </a:xfrm>
          <a:prstGeom prst="line">
            <a:avLst/>
          </a:prstGeom>
          <a:ln w="317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Afbeelding 9">
            <a:extLst>
              <a:ext uri="{FF2B5EF4-FFF2-40B4-BE49-F238E27FC236}">
                <a16:creationId xmlns:a16="http://schemas.microsoft.com/office/drawing/2014/main" id="{067956E7-09EC-49DF-8978-D863564898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1314887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C3CC51D8-D8AC-457C-9F02-366E63E6A03C}"/>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9" name="Logo Large EN">
            <a:extLst>
              <a:ext uri="{FF2B5EF4-FFF2-40B4-BE49-F238E27FC236}">
                <a16:creationId xmlns:a16="http://schemas.microsoft.com/office/drawing/2014/main" id="{5641CB9D-E30E-4DBA-83E7-A4B3DBE607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p:txBody>
          <a:bodyPr/>
          <a:lstStyle/>
          <a:p>
            <a:r>
              <a:rPr lang="en-US" noProof="0"/>
              <a:t>Click to edit Master title style</a:t>
            </a:r>
            <a:endParaRPr lang="en-GB" noProof="0" dirty="0"/>
          </a:p>
        </p:txBody>
      </p:sp>
      <p:sp>
        <p:nvSpPr>
          <p:cNvPr id="3" name="Date Placeholder 2"/>
          <p:cNvSpPr>
            <a:spLocks noGrp="1"/>
          </p:cNvSpPr>
          <p:nvPr>
            <p:ph type="dt" sz="half" idx="10"/>
          </p:nvPr>
        </p:nvSpPr>
        <p:spPr/>
        <p:txBody>
          <a:bodyPr/>
          <a:lstStyle/>
          <a:p>
            <a:fld id="{F2443E58-CDC3-4782-B82C-4D381C795B98}" type="datetime1">
              <a:rPr lang="en-GB" noProof="0" smtClean="0"/>
              <a:t>09/12/2024</a:t>
            </a:fld>
            <a:endParaRPr lang="en-GB" noProof="0" dirty="0"/>
          </a:p>
        </p:txBody>
      </p:sp>
      <p:sp>
        <p:nvSpPr>
          <p:cNvPr id="4" name="Footer Placeholder 3"/>
          <p:cNvSpPr>
            <a:spLocks noGrp="1"/>
          </p:cNvSpPr>
          <p:nvPr>
            <p:ph type="ftr" sz="quarter" idx="11"/>
          </p:nvPr>
        </p:nvSpPr>
        <p:spPr/>
        <p:txBody>
          <a:bodyPr/>
          <a:lstStyle/>
          <a:p>
            <a:endParaRPr lang="en-GB" noProof="0" dirty="0"/>
          </a:p>
        </p:txBody>
      </p:sp>
      <p:sp>
        <p:nvSpPr>
          <p:cNvPr id="5" name="Slide Number Placeholder 4"/>
          <p:cNvSpPr>
            <a:spLocks noGrp="1"/>
          </p:cNvSpPr>
          <p:nvPr>
            <p:ph type="sldNum" sz="quarter" idx="12"/>
          </p:nvPr>
        </p:nvSpPr>
        <p:spPr/>
        <p:txBody>
          <a:bodyPr/>
          <a:lstStyle/>
          <a:p>
            <a:fld id="{7AE184E0-0BD4-4705-A12B-9B71DDE63301}" type="slidenum">
              <a:rPr lang="en-GB" noProof="0" smtClean="0"/>
              <a:t>‹nr.›</a:t>
            </a:fld>
            <a:endParaRPr lang="en-GB" noProof="0" dirty="0"/>
          </a:p>
        </p:txBody>
      </p:sp>
      <p:sp>
        <p:nvSpPr>
          <p:cNvPr id="7" name="Picture Placeholder 6"/>
          <p:cNvSpPr>
            <a:spLocks noGrp="1"/>
          </p:cNvSpPr>
          <p:nvPr>
            <p:ph type="pic" sz="quarter" idx="13" hasCustomPrompt="1"/>
          </p:nvPr>
        </p:nvSpPr>
        <p:spPr>
          <a:xfrm>
            <a:off x="952038" y="1371600"/>
            <a:ext cx="15480000" cy="6501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3465D1-804F-429B-83CD-3EFA8410E123}" type="datetime1">
              <a:rPr lang="en-GB" smtClean="0"/>
              <a:t>09/12/2024</a:t>
            </a:fld>
            <a:endParaRPr lang="en-GB"/>
          </a:p>
        </p:txBody>
      </p:sp>
      <p:sp>
        <p:nvSpPr>
          <p:cNvPr id="3" name="Footer Placeholder 2"/>
          <p:cNvSpPr>
            <a:spLocks noGrp="1"/>
          </p:cNvSpPr>
          <p:nvPr>
            <p:ph type="ftr" sz="quarter" idx="11"/>
          </p:nvPr>
        </p:nvSpPr>
        <p:spPr/>
        <p:txBody>
          <a:bodyPr/>
          <a:lstStyle/>
          <a:p>
            <a:endParaRPr lang="en-GB"/>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p:cNvSpPr>
            <a:spLocks noGrp="1"/>
          </p:cNvSpPr>
          <p:nvPr>
            <p:ph type="pic" sz="quarter" idx="12" hasCustomPrompt="1"/>
          </p:nvPr>
        </p:nvSpPr>
        <p:spPr>
          <a:xfrm>
            <a:off x="-1" y="0"/>
            <a:ext cx="17337600" cy="9753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p:cNvSpPr>
            <a:spLocks noGrp="1"/>
          </p:cNvSpPr>
          <p:nvPr>
            <p:ph type="ctrTitle" hasCustomPrompt="1"/>
          </p:nvPr>
        </p:nvSpPr>
        <p:spPr bwMode="white">
          <a:xfrm>
            <a:off x="1291074" y="1743240"/>
            <a:ext cx="15183366"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mn-lt"/>
              </a:defRPr>
            </a:lvl1pPr>
          </a:lstStyle>
          <a:p>
            <a:r>
              <a:rPr lang="en-GB" noProof="0" dirty="0"/>
              <a:t>Click to add presenters contact data</a:t>
            </a:r>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jdelijke aanduiding voor tekst 4"/>
          <p:cNvSpPr>
            <a:spLocks noGrp="1"/>
          </p:cNvSpPr>
          <p:nvPr>
            <p:ph type="body" sz="quarter" idx="10" hasCustomPrompt="1"/>
          </p:nvPr>
        </p:nvSpPr>
        <p:spPr bwMode="white">
          <a:xfrm>
            <a:off x="9215999" y="3095999"/>
            <a:ext cx="7257600" cy="1717969"/>
          </a:xfrm>
        </p:spPr>
        <p:txBody>
          <a:bodyPr>
            <a:normAutofit/>
          </a:bodyPr>
          <a:lstStyle>
            <a:lvl1pPr>
              <a:lnSpc>
                <a:spcPts val="3500"/>
              </a:lnSpc>
              <a:defRPr sz="2400">
                <a:solidFill>
                  <a:schemeClr val="bg1"/>
                </a:solidFill>
              </a:defRPr>
            </a:lvl1pPr>
          </a:lstStyle>
          <a:p>
            <a:pPr lvl="0"/>
            <a:r>
              <a:rPr lang="en-GB" noProof="0" dirty="0"/>
              <a:t>Click to add social media names</a:t>
            </a:r>
            <a:endParaRPr lang="nl-NL" dirty="0"/>
          </a:p>
        </p:txBody>
      </p:sp>
      <p:pic>
        <p:nvPicPr>
          <p:cNvPr id="16" name="Afbeelding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4400" y="0"/>
            <a:ext cx="3714979" cy="1393200"/>
          </a:xfrm>
          <a:prstGeom prst="rect">
            <a:avLst/>
          </a:prstGeom>
        </p:spPr>
      </p:pic>
    </p:spTree>
    <p:extLst>
      <p:ext uri="{BB962C8B-B14F-4D97-AF65-F5344CB8AC3E}">
        <p14:creationId xmlns:p14="http://schemas.microsoft.com/office/powerpoint/2010/main" val="31037857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b" anchorCtr="0">
            <a:noAutofit/>
          </a:bodyPr>
          <a:lstStyle/>
          <a:p>
            <a:r>
              <a:rPr lang="en-US" noProof="0"/>
              <a:t>Click to edit Master title style</a:t>
            </a:r>
            <a:endParaRPr lang="en-GB" noProof="0" dirty="0"/>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434BA3CA-1064-434F-B179-AB3B0298C0D6}" type="datetime1">
              <a:rPr lang="en-GB" noProof="0" smtClean="0"/>
              <a:t>09/12/2024</a:t>
            </a:fld>
            <a:endParaRPr lang="en-GB" noProof="0" dirty="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noProof="0" dirty="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7" name="Title positioning box" hidden="1"/>
          <p:cNvSpPr/>
          <p:nvPr/>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ositoning box" hidden="1"/>
          <p:cNvSpPr/>
          <p:nvPr/>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Logo EN"/>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7200" y="7909180"/>
            <a:ext cx="2307600" cy="1846822"/>
          </a:xfrm>
          <a:prstGeom prst="rect">
            <a:avLst/>
          </a:prstGeom>
        </p:spPr>
      </p:pic>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78" r:id="rId5"/>
    <p:sldLayoutId id="2147483674" r:id="rId6"/>
    <p:sldLayoutId id="2147483666" r:id="rId7"/>
    <p:sldLayoutId id="2147483675" r:id="rId8"/>
    <p:sldLayoutId id="2147483676" r:id="rId9"/>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0" indent="0"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1pPr>
      <a:lvl2pPr marL="457200" indent="-36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900113" indent="-45878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4133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0.tm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6.tmp"/></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6.tmp"/></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26.tmp"/></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26.tmp"/></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6.tmp"/></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40" y="2298145"/>
            <a:ext cx="16023586" cy="2359800"/>
          </a:xfrm>
        </p:spPr>
        <p:txBody>
          <a:bodyPr/>
          <a:lstStyle/>
          <a:p>
            <a:r>
              <a:rPr lang="nl-BE" dirty="0"/>
              <a:t>Factoranalyse</a:t>
            </a:r>
          </a:p>
        </p:txBody>
      </p:sp>
      <p:sp>
        <p:nvSpPr>
          <p:cNvPr id="3" name="Subtitle 2">
            <a:extLst>
              <a:ext uri="{FF2B5EF4-FFF2-40B4-BE49-F238E27FC236}">
                <a16:creationId xmlns:a16="http://schemas.microsoft.com/office/drawing/2014/main" id="{70FE6360-0905-4150-BEDD-4BF877AD22CF}"/>
              </a:ext>
            </a:extLst>
          </p:cNvPr>
          <p:cNvSpPr>
            <a:spLocks noGrp="1"/>
          </p:cNvSpPr>
          <p:nvPr>
            <p:ph type="subTitle" idx="1"/>
          </p:nvPr>
        </p:nvSpPr>
        <p:spPr>
          <a:xfrm>
            <a:off x="450853" y="6874715"/>
            <a:ext cx="16887821" cy="972499"/>
          </a:xfrm>
        </p:spPr>
        <p:txBody>
          <a:bodyPr>
            <a:normAutofit/>
          </a:bodyPr>
          <a:lstStyle/>
          <a:p>
            <a:r>
              <a:rPr lang="nl-BE" dirty="0"/>
              <a:t>Prof. dr. Wim Hardyns (titularis)                        Medelesgever: dr. Ann </a:t>
            </a:r>
            <a:r>
              <a:rPr lang="nl-BE"/>
              <a:t>De Buck</a:t>
            </a:r>
            <a:endParaRPr lang="nl-BE" dirty="0"/>
          </a:p>
          <a:p>
            <a:endParaRPr lang="nl-BE" dirty="0"/>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Toegepaste data-analyse en rapportage</a:t>
            </a:r>
          </a:p>
        </p:txBody>
      </p:sp>
    </p:spTree>
    <p:extLst>
      <p:ext uri="{BB962C8B-B14F-4D97-AF65-F5344CB8AC3E}">
        <p14:creationId xmlns:p14="http://schemas.microsoft.com/office/powerpoint/2010/main" val="76203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5076882-3A9B-4B72-B9A2-C1A7718A1F59}"/>
              </a:ext>
            </a:extLst>
          </p:cNvPr>
          <p:cNvPicPr>
            <a:picLocks noChangeAspect="1"/>
          </p:cNvPicPr>
          <p:nvPr/>
        </p:nvPicPr>
        <p:blipFill>
          <a:blip r:embed="rId2"/>
          <a:stretch>
            <a:fillRect/>
          </a:stretch>
        </p:blipFill>
        <p:spPr>
          <a:xfrm>
            <a:off x="9573500" y="6784547"/>
            <a:ext cx="2747743" cy="1402147"/>
          </a:xfrm>
          <a:prstGeom prst="rect">
            <a:avLst/>
          </a:prstGeom>
        </p:spPr>
      </p:pic>
      <p:sp>
        <p:nvSpPr>
          <p:cNvPr id="2" name="Title 1">
            <a:extLst>
              <a:ext uri="{FF2B5EF4-FFF2-40B4-BE49-F238E27FC236}">
                <a16:creationId xmlns:a16="http://schemas.microsoft.com/office/drawing/2014/main" id="{6A86A503-FF55-464E-ADA4-CC571795C3D4}"/>
              </a:ext>
            </a:extLst>
          </p:cNvPr>
          <p:cNvSpPr>
            <a:spLocks noGrp="1"/>
          </p:cNvSpPr>
          <p:nvPr>
            <p:ph type="title"/>
          </p:nvPr>
        </p:nvSpPr>
        <p:spPr/>
        <p:txBody>
          <a:bodyPr/>
          <a:lstStyle/>
          <a:p>
            <a:r>
              <a:rPr lang="nl-BE" dirty="0"/>
              <a:t>Rechten en plichten</a:t>
            </a:r>
          </a:p>
        </p:txBody>
      </p:sp>
      <p:sp>
        <p:nvSpPr>
          <p:cNvPr id="3" name="Content Placeholder 2">
            <a:extLst>
              <a:ext uri="{FF2B5EF4-FFF2-40B4-BE49-F238E27FC236}">
                <a16:creationId xmlns:a16="http://schemas.microsoft.com/office/drawing/2014/main" id="{19B797C4-CCAA-412D-BF14-0D6BF5975F66}"/>
              </a:ext>
            </a:extLst>
          </p:cNvPr>
          <p:cNvSpPr>
            <a:spLocks noGrp="1"/>
          </p:cNvSpPr>
          <p:nvPr>
            <p:ph idx="1"/>
          </p:nvPr>
        </p:nvSpPr>
        <p:spPr/>
        <p:txBody>
          <a:bodyPr>
            <a:normAutofit/>
          </a:bodyPr>
          <a:lstStyle/>
          <a:p>
            <a:r>
              <a:rPr lang="nl-BE" sz="2000" dirty="0"/>
              <a:t>Alle slides en cursusmateriaal zijn auteursrechtelijk beschermd. </a:t>
            </a:r>
          </a:p>
          <a:p>
            <a:r>
              <a:rPr lang="nl-BE" sz="2000" dirty="0"/>
              <a:t>Het is niet toegelaten om (delen van) studiemateriaal (bv. cursusteksten, slides, oefeningen, voorbeelden examenvragen) dat een student in het kader van zijn/haar opleiding gratis of tegen betaling heeft verkregen, digitaal of op andere wijze te multipliceren en aan anderen gratis of tegen betaling ter beschikking te stellen, tenzij met uitdrukkelijke toestemming van de auteur. Commercieel gebruik door studenten van studiemateriaal is steeds verboden. Studenten die deze regel overtreden stellen zich bloot aan het tuchtreglement. </a:t>
            </a:r>
            <a:endParaRPr lang="en-US" sz="2000" dirty="0"/>
          </a:p>
          <a:p>
            <a:r>
              <a:rPr lang="nl-BE" sz="2000" dirty="0"/>
              <a:t>Ook niet-commerciële organisaties mogen geen materiaal reproduceren zonder toestemming. Ook dan is het auteursrecht geschonden. </a:t>
            </a:r>
            <a:endParaRPr lang="en-US" sz="2000" dirty="0"/>
          </a:p>
          <a:p>
            <a:r>
              <a:rPr lang="nl-BE" sz="2000" dirty="0"/>
              <a:t>Stuvia/</a:t>
            </a:r>
            <a:r>
              <a:rPr lang="nl-BE" sz="2000" dirty="0" err="1"/>
              <a:t>studocu</a:t>
            </a:r>
            <a:r>
              <a:rPr lang="nl-BE" sz="2000" dirty="0"/>
              <a:t>/… zijn platformen waar studenten samenvattingen kunnen kopen die onmiddellijk beschikbaar zijn. Dit materiaal neemt vaak letterlijk delen over van cursusmateriaal en boeken, ontwikkeld door docenten, zodat het auteursrecht wordt geschonden. </a:t>
            </a:r>
          </a:p>
          <a:p>
            <a:endParaRPr lang="nl-BE" sz="2000" dirty="0"/>
          </a:p>
          <a:p>
            <a:r>
              <a:rPr lang="nl-BE" sz="2000" dirty="0"/>
              <a:t>Geen audio- of </a:t>
            </a:r>
            <a:r>
              <a:rPr lang="nl-BE" sz="2000" dirty="0" err="1"/>
              <a:t>videorecording</a:t>
            </a:r>
            <a:endParaRPr lang="en-US" sz="2000" dirty="0"/>
          </a:p>
          <a:p>
            <a:endParaRPr lang="nl-BE" sz="2000" dirty="0"/>
          </a:p>
        </p:txBody>
      </p:sp>
      <p:sp>
        <p:nvSpPr>
          <p:cNvPr id="4" name="Slide Number Placeholder 3">
            <a:extLst>
              <a:ext uri="{FF2B5EF4-FFF2-40B4-BE49-F238E27FC236}">
                <a16:creationId xmlns:a16="http://schemas.microsoft.com/office/drawing/2014/main" id="{ECDD30DE-019D-48BD-B882-0B81A71DDE47}"/>
              </a:ext>
            </a:extLst>
          </p:cNvPr>
          <p:cNvSpPr>
            <a:spLocks noGrp="1"/>
          </p:cNvSpPr>
          <p:nvPr>
            <p:ph type="sldNum" sz="quarter" idx="12"/>
          </p:nvPr>
        </p:nvSpPr>
        <p:spPr/>
        <p:txBody>
          <a:bodyPr/>
          <a:lstStyle/>
          <a:p>
            <a:fld id="{7AE184E0-0BD4-4705-A12B-9B71DDE63301}" type="slidenum">
              <a:rPr lang="en-GB" noProof="0" smtClean="0"/>
              <a:t>2</a:t>
            </a:fld>
            <a:endParaRPr lang="en-GB" noProof="0" dirty="0"/>
          </a:p>
        </p:txBody>
      </p:sp>
      <p:sp>
        <p:nvSpPr>
          <p:cNvPr id="5" name="Content Placeholder 4">
            <a:extLst>
              <a:ext uri="{FF2B5EF4-FFF2-40B4-BE49-F238E27FC236}">
                <a16:creationId xmlns:a16="http://schemas.microsoft.com/office/drawing/2014/main" id="{8C3917F9-B551-4763-8511-3F32C5390E5B}"/>
              </a:ext>
            </a:extLst>
          </p:cNvPr>
          <p:cNvSpPr>
            <a:spLocks noGrp="1"/>
          </p:cNvSpPr>
          <p:nvPr>
            <p:ph idx="13"/>
          </p:nvPr>
        </p:nvSpPr>
        <p:spPr/>
        <p:txBody>
          <a:bodyPr/>
          <a:lstStyle/>
          <a:p>
            <a:endParaRPr lang="nl-BE"/>
          </a:p>
        </p:txBody>
      </p:sp>
      <p:pic>
        <p:nvPicPr>
          <p:cNvPr id="6" name="Content Placeholder 8">
            <a:extLst>
              <a:ext uri="{FF2B5EF4-FFF2-40B4-BE49-F238E27FC236}">
                <a16:creationId xmlns:a16="http://schemas.microsoft.com/office/drawing/2014/main" id="{0ED38CE2-FDCE-4F11-9FD2-28CEA7271BC9}"/>
              </a:ext>
            </a:extLst>
          </p:cNvPr>
          <p:cNvPicPr>
            <a:picLocks noChangeAspect="1"/>
          </p:cNvPicPr>
          <p:nvPr/>
        </p:nvPicPr>
        <p:blipFill>
          <a:blip r:embed="rId3"/>
          <a:stretch>
            <a:fillRect/>
          </a:stretch>
        </p:blipFill>
        <p:spPr bwMode="auto">
          <a:xfrm>
            <a:off x="6010507" y="6762752"/>
            <a:ext cx="2804294" cy="140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a:extLst>
              <a:ext uri="{FF2B5EF4-FFF2-40B4-BE49-F238E27FC236}">
                <a16:creationId xmlns:a16="http://schemas.microsoft.com/office/drawing/2014/main" id="{6C9795D9-7173-4E03-B0B8-C97E27507968}"/>
              </a:ext>
            </a:extLst>
          </p:cNvPr>
          <p:cNvGrpSpPr/>
          <p:nvPr/>
        </p:nvGrpSpPr>
        <p:grpSpPr>
          <a:xfrm>
            <a:off x="7598536" y="6991816"/>
            <a:ext cx="1601220" cy="1205542"/>
            <a:chOff x="2924575" y="2479466"/>
            <a:chExt cx="4288938" cy="3239544"/>
          </a:xfrm>
        </p:grpSpPr>
        <p:cxnSp>
          <p:nvCxnSpPr>
            <p:cNvPr id="8" name="Straight Connector 7">
              <a:extLst>
                <a:ext uri="{FF2B5EF4-FFF2-40B4-BE49-F238E27FC236}">
                  <a16:creationId xmlns:a16="http://schemas.microsoft.com/office/drawing/2014/main" id="{6A60EB67-0D95-46D3-862D-16CD30EF9F2D}"/>
                </a:ext>
              </a:extLst>
            </p:cNvPr>
            <p:cNvCxnSpPr/>
            <p:nvPr/>
          </p:nvCxnSpPr>
          <p:spPr>
            <a:xfrm>
              <a:off x="3626170" y="2479466"/>
              <a:ext cx="3529263" cy="3060129"/>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4BDC93F-4FB8-4E2E-9BE0-5DE1D64DC68B}"/>
                </a:ext>
              </a:extLst>
            </p:cNvPr>
            <p:cNvCxnSpPr/>
            <p:nvPr/>
          </p:nvCxnSpPr>
          <p:spPr>
            <a:xfrm flipV="1">
              <a:off x="2924575" y="2479466"/>
              <a:ext cx="4288938" cy="3239544"/>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FB9A12F4-45A2-4235-925D-4EEC84CE57B1}"/>
              </a:ext>
            </a:extLst>
          </p:cNvPr>
          <p:cNvGrpSpPr/>
          <p:nvPr/>
        </p:nvGrpSpPr>
        <p:grpSpPr>
          <a:xfrm>
            <a:off x="11166284" y="7147933"/>
            <a:ext cx="1356536" cy="1097500"/>
            <a:chOff x="2924575" y="2479466"/>
            <a:chExt cx="4288938" cy="3239544"/>
          </a:xfrm>
        </p:grpSpPr>
        <p:cxnSp>
          <p:nvCxnSpPr>
            <p:cNvPr id="11" name="Straight Connector 10">
              <a:extLst>
                <a:ext uri="{FF2B5EF4-FFF2-40B4-BE49-F238E27FC236}">
                  <a16:creationId xmlns:a16="http://schemas.microsoft.com/office/drawing/2014/main" id="{C3BAB5F8-035C-4F52-81CD-E3E96D1E0E3F}"/>
                </a:ext>
              </a:extLst>
            </p:cNvPr>
            <p:cNvCxnSpPr/>
            <p:nvPr/>
          </p:nvCxnSpPr>
          <p:spPr>
            <a:xfrm>
              <a:off x="3626170" y="2479466"/>
              <a:ext cx="3529263" cy="3060129"/>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BE62B6F-AEA0-4910-BF71-CDD50150991B}"/>
                </a:ext>
              </a:extLst>
            </p:cNvPr>
            <p:cNvCxnSpPr/>
            <p:nvPr/>
          </p:nvCxnSpPr>
          <p:spPr>
            <a:xfrm flipV="1">
              <a:off x="2924575" y="2479466"/>
              <a:ext cx="4288938" cy="3239544"/>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54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439-7D92-49BC-B20E-CD95361CE51A}"/>
              </a:ext>
            </a:extLst>
          </p:cNvPr>
          <p:cNvSpPr>
            <a:spLocks noGrp="1"/>
          </p:cNvSpPr>
          <p:nvPr>
            <p:ph type="title"/>
          </p:nvPr>
        </p:nvSpPr>
        <p:spPr/>
        <p:txBody>
          <a:bodyPr/>
          <a:lstStyle/>
          <a:p>
            <a:r>
              <a:rPr lang="nl-BE" dirty="0"/>
              <a:t>Inhoudstafel </a:t>
            </a:r>
          </a:p>
        </p:txBody>
      </p:sp>
      <p:sp>
        <p:nvSpPr>
          <p:cNvPr id="3" name="Content Placeholder 2">
            <a:extLst>
              <a:ext uri="{FF2B5EF4-FFF2-40B4-BE49-F238E27FC236}">
                <a16:creationId xmlns:a16="http://schemas.microsoft.com/office/drawing/2014/main" id="{39011522-9118-40C3-A09B-F25B95FAB7B4}"/>
              </a:ext>
            </a:extLst>
          </p:cNvPr>
          <p:cNvSpPr>
            <a:spLocks noGrp="1"/>
          </p:cNvSpPr>
          <p:nvPr>
            <p:ph idx="1"/>
          </p:nvPr>
        </p:nvSpPr>
        <p:spPr/>
        <p:txBody>
          <a:bodyPr/>
          <a:lstStyle/>
          <a:p>
            <a:pPr marL="86400" indent="0">
              <a:buNone/>
            </a:pPr>
            <a:r>
              <a:rPr lang="nl-BE" dirty="0">
                <a:solidFill>
                  <a:srgbClr val="002060"/>
                </a:solidFill>
              </a:rPr>
              <a:t>1 </a:t>
            </a:r>
            <a:r>
              <a:rPr lang="nl-BE" b="1" dirty="0">
                <a:solidFill>
                  <a:srgbClr val="C00000"/>
                </a:solidFill>
              </a:rPr>
              <a:t>Introductie factoranalyse </a:t>
            </a:r>
          </a:p>
          <a:p>
            <a:pPr marL="86400" indent="0">
              <a:buNone/>
            </a:pPr>
            <a:r>
              <a:rPr lang="nl-BE" b="1" dirty="0">
                <a:solidFill>
                  <a:srgbClr val="C00000"/>
                </a:solidFill>
              </a:rPr>
              <a:t>	</a:t>
            </a:r>
            <a:r>
              <a:rPr lang="nl-BE" b="1" dirty="0">
                <a:solidFill>
                  <a:srgbClr val="C00000"/>
                </a:solidFill>
                <a:sym typeface="Wingdings" panose="05000000000000000000" pitchFamily="2" charset="2"/>
              </a:rPr>
              <a:t> C</a:t>
            </a:r>
            <a:r>
              <a:rPr lang="nl-BE" b="1" dirty="0">
                <a:solidFill>
                  <a:srgbClr val="C00000"/>
                </a:solidFill>
              </a:rPr>
              <a:t>entrale concepten</a:t>
            </a:r>
          </a:p>
          <a:p>
            <a:pPr marL="86400" indent="0">
              <a:buNone/>
            </a:pPr>
            <a:r>
              <a:rPr lang="nl-BE" b="1" dirty="0">
                <a:solidFill>
                  <a:srgbClr val="C00000"/>
                </a:solidFill>
              </a:rPr>
              <a:t>	</a:t>
            </a:r>
            <a:r>
              <a:rPr lang="nl-BE" b="1" dirty="0">
                <a:solidFill>
                  <a:srgbClr val="C00000"/>
                </a:solidFill>
                <a:sym typeface="Wingdings" panose="05000000000000000000" pitchFamily="2" charset="2"/>
              </a:rPr>
              <a:t> Verschil FA en PCA</a:t>
            </a:r>
            <a:endParaRPr lang="nl-BE" b="1" dirty="0">
              <a:solidFill>
                <a:srgbClr val="C00000"/>
              </a:solidFill>
            </a:endParaRPr>
          </a:p>
          <a:p>
            <a:pPr marL="86400" indent="0">
              <a:buNone/>
            </a:pPr>
            <a:r>
              <a:rPr lang="nl-BE" dirty="0">
                <a:solidFill>
                  <a:srgbClr val="5D9CC7"/>
                </a:solidFill>
              </a:rPr>
              <a:t>2 Factoranalyse in SPSS: plenaire oefening</a:t>
            </a:r>
          </a:p>
          <a:p>
            <a:pPr marL="86400" indent="0">
              <a:buNone/>
            </a:pPr>
            <a:r>
              <a:rPr lang="nl-BE" dirty="0">
                <a:solidFill>
                  <a:srgbClr val="5D9CC7"/>
                </a:solidFill>
              </a:rPr>
              <a:t>3 Factoranalyse in SPSS: individuele oefening</a:t>
            </a:r>
          </a:p>
          <a:p>
            <a:pPr marL="86400" indent="0">
              <a:buNone/>
            </a:pPr>
            <a:r>
              <a:rPr lang="nl-BE" dirty="0">
                <a:solidFill>
                  <a:srgbClr val="5D9CC7"/>
                </a:solidFill>
              </a:rPr>
              <a:t>4 Toelichting bij het examen (kwantitatieve luik)</a:t>
            </a:r>
          </a:p>
        </p:txBody>
      </p:sp>
      <p:sp>
        <p:nvSpPr>
          <p:cNvPr id="4" name="Slide Number Placeholder 3">
            <a:extLst>
              <a:ext uri="{FF2B5EF4-FFF2-40B4-BE49-F238E27FC236}">
                <a16:creationId xmlns:a16="http://schemas.microsoft.com/office/drawing/2014/main" id="{F93E06FF-5536-4AE6-A548-5BFECE8621EB}"/>
              </a:ext>
            </a:extLst>
          </p:cNvPr>
          <p:cNvSpPr>
            <a:spLocks noGrp="1"/>
          </p:cNvSpPr>
          <p:nvPr>
            <p:ph type="sldNum" sz="quarter" idx="12"/>
          </p:nvPr>
        </p:nvSpPr>
        <p:spPr/>
        <p:txBody>
          <a:bodyPr/>
          <a:lstStyle/>
          <a:p>
            <a:fld id="{7AE184E0-0BD4-4705-A12B-9B71DDE63301}" type="slidenum">
              <a:rPr lang="en-GB" noProof="0" smtClean="0"/>
              <a:t>3</a:t>
            </a:fld>
            <a:endParaRPr lang="en-GB" noProof="0" dirty="0"/>
          </a:p>
        </p:txBody>
      </p:sp>
      <p:sp>
        <p:nvSpPr>
          <p:cNvPr id="5" name="Content Placeholder 4">
            <a:extLst>
              <a:ext uri="{FF2B5EF4-FFF2-40B4-BE49-F238E27FC236}">
                <a16:creationId xmlns:a16="http://schemas.microsoft.com/office/drawing/2014/main" id="{0E5FB4D5-B452-4AA4-B83E-8DA93E143B9E}"/>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297709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10A3FB-974D-8E4F-2B1D-6F659A05F6CB}"/>
              </a:ext>
            </a:extLst>
          </p:cNvPr>
          <p:cNvSpPr>
            <a:spLocks noGrp="1"/>
          </p:cNvSpPr>
          <p:nvPr>
            <p:ph type="title"/>
          </p:nvPr>
        </p:nvSpPr>
        <p:spPr/>
        <p:txBody>
          <a:bodyPr/>
          <a:lstStyle/>
          <a:p>
            <a:r>
              <a:rPr lang="nl-NL" dirty="0"/>
              <a:t>Introductie factoranalyse (fa)</a:t>
            </a:r>
          </a:p>
        </p:txBody>
      </p:sp>
      <p:sp>
        <p:nvSpPr>
          <p:cNvPr id="3" name="Tijdelijke aanduiding voor inhoud 2">
            <a:extLst>
              <a:ext uri="{FF2B5EF4-FFF2-40B4-BE49-F238E27FC236}">
                <a16:creationId xmlns:a16="http://schemas.microsoft.com/office/drawing/2014/main" id="{66B86CFD-3DBA-D031-11DE-19B2F1349768}"/>
              </a:ext>
            </a:extLst>
          </p:cNvPr>
          <p:cNvSpPr>
            <a:spLocks noGrp="1"/>
          </p:cNvSpPr>
          <p:nvPr>
            <p:ph idx="1"/>
          </p:nvPr>
        </p:nvSpPr>
        <p:spPr>
          <a:xfrm>
            <a:off x="249383" y="1816273"/>
            <a:ext cx="16936328" cy="6864264"/>
          </a:xfrm>
        </p:spPr>
        <p:txBody>
          <a:bodyPr>
            <a:normAutofit fontScale="85000" lnSpcReduction="20000"/>
          </a:bodyPr>
          <a:lstStyle/>
          <a:p>
            <a:r>
              <a:rPr lang="nl-NL" dirty="0"/>
              <a:t>Begrip: algemene term voor verschillende statistische technieken waarbij de </a:t>
            </a:r>
            <a:r>
              <a:rPr lang="nl-NL" b="1" dirty="0">
                <a:solidFill>
                  <a:srgbClr val="C00000"/>
                </a:solidFill>
              </a:rPr>
              <a:t>onderliggende structuur </a:t>
            </a:r>
            <a:r>
              <a:rPr lang="nl-NL" dirty="0"/>
              <a:t>in een groter aantal </a:t>
            </a:r>
            <a:r>
              <a:rPr lang="nl-NL" b="1" dirty="0">
                <a:solidFill>
                  <a:srgbClr val="C00000"/>
                </a:solidFill>
              </a:rPr>
              <a:t>geobserveerde variabelen </a:t>
            </a:r>
            <a:r>
              <a:rPr lang="nl-NL" dirty="0"/>
              <a:t>wordt opgespoord.</a:t>
            </a:r>
          </a:p>
          <a:p>
            <a:pPr lvl="1"/>
            <a:r>
              <a:rPr lang="nl-NL" b="1" dirty="0">
                <a:solidFill>
                  <a:srgbClr val="C00000"/>
                </a:solidFill>
              </a:rPr>
              <a:t>Geobserveerde variabelen </a:t>
            </a:r>
            <a:r>
              <a:rPr lang="nl-NL" dirty="0"/>
              <a:t>= manifeste variabelen (vb. vragen in een survey)</a:t>
            </a:r>
          </a:p>
          <a:p>
            <a:pPr lvl="1"/>
            <a:r>
              <a:rPr lang="nl-NL" b="1" dirty="0">
                <a:solidFill>
                  <a:srgbClr val="C00000"/>
                </a:solidFill>
              </a:rPr>
              <a:t>Onderliggende structuur </a:t>
            </a:r>
            <a:r>
              <a:rPr lang="nl-NL" dirty="0"/>
              <a:t>= latente structuur </a:t>
            </a:r>
          </a:p>
          <a:p>
            <a:endParaRPr lang="nl-NL" dirty="0"/>
          </a:p>
          <a:p>
            <a:r>
              <a:rPr lang="nl-NL" dirty="0"/>
              <a:t>Vooral gebruikt bij een groot aantal variabelen die soortgelijke dingen lijken te meten (vb. verschillende items in een vragenlijst).</a:t>
            </a:r>
          </a:p>
          <a:p>
            <a:endParaRPr lang="nl-NL" dirty="0"/>
          </a:p>
          <a:p>
            <a:r>
              <a:rPr lang="nl-NL" b="1" dirty="0">
                <a:solidFill>
                  <a:srgbClr val="C00000"/>
                </a:solidFill>
              </a:rPr>
              <a:t>Exploratieve techniek </a:t>
            </a:r>
            <a:r>
              <a:rPr lang="nl-NL" dirty="0">
                <a:sym typeface="Wingdings" panose="05000000000000000000" pitchFamily="2" charset="2"/>
              </a:rPr>
              <a:t> geen a priori model wordt getoetst. Het patroon van correlaties tussen variabelen wordt onderzocht en nieuwe variabelen (factoren) worden berekend die verantwoordelijk zijn voor de correlaties.</a:t>
            </a:r>
            <a:endParaRPr lang="nl-NL" dirty="0"/>
          </a:p>
          <a:p>
            <a:endParaRPr lang="nl-NL" dirty="0"/>
          </a:p>
          <a:p>
            <a:r>
              <a:rPr lang="nl-NL" dirty="0"/>
              <a:t>Met als doel: </a:t>
            </a:r>
            <a:r>
              <a:rPr lang="nl-NL" b="1" dirty="0">
                <a:solidFill>
                  <a:srgbClr val="C00000"/>
                </a:solidFill>
              </a:rPr>
              <a:t>data-reductie</a:t>
            </a:r>
            <a:r>
              <a:rPr lang="nl-NL" dirty="0">
                <a:sym typeface="Wingdings" panose="05000000000000000000" pitchFamily="2" charset="2"/>
              </a:rPr>
              <a:t> terugbrengen van een groter aantal </a:t>
            </a:r>
            <a:r>
              <a:rPr lang="nl-NL" b="1" dirty="0">
                <a:solidFill>
                  <a:srgbClr val="C00000"/>
                </a:solidFill>
                <a:sym typeface="Wingdings" panose="05000000000000000000" pitchFamily="2" charset="2"/>
              </a:rPr>
              <a:t>manifeste (geobserveerde) variabelen </a:t>
            </a:r>
            <a:r>
              <a:rPr lang="nl-NL" dirty="0">
                <a:sym typeface="Wingdings" panose="05000000000000000000" pitchFamily="2" charset="2"/>
              </a:rPr>
              <a:t>naar een kleiner aantal </a:t>
            </a:r>
            <a:r>
              <a:rPr lang="nl-NL" b="1" dirty="0">
                <a:solidFill>
                  <a:srgbClr val="C00000"/>
                </a:solidFill>
                <a:sym typeface="Wingdings" panose="05000000000000000000" pitchFamily="2" charset="2"/>
              </a:rPr>
              <a:t>factoren (niet-geobserveerde variabelen)</a:t>
            </a:r>
            <a:r>
              <a:rPr lang="nl-NL" dirty="0">
                <a:sym typeface="Wingdings" panose="05000000000000000000" pitchFamily="2" charset="2"/>
              </a:rPr>
              <a:t> die inhoudelijk betekenisvol zijn en sterk correleren met de manifeste variabelen.</a:t>
            </a:r>
          </a:p>
          <a:p>
            <a:endParaRPr lang="nl-NL" dirty="0">
              <a:sym typeface="Wingdings" panose="05000000000000000000" pitchFamily="2" charset="2"/>
            </a:endParaRPr>
          </a:p>
          <a:p>
            <a:r>
              <a:rPr lang="nl-NL" dirty="0">
                <a:sym typeface="Wingdings" panose="05000000000000000000" pitchFamily="2" charset="2"/>
              </a:rPr>
              <a:t>Correlaties tussen factoren en manifeste variabelen  </a:t>
            </a:r>
            <a:r>
              <a:rPr lang="nl-NL" b="1" dirty="0">
                <a:solidFill>
                  <a:srgbClr val="C00000"/>
                </a:solidFill>
                <a:sym typeface="Wingdings" panose="05000000000000000000" pitchFamily="2" charset="2"/>
              </a:rPr>
              <a:t>factorladingen</a:t>
            </a:r>
            <a:r>
              <a:rPr lang="nl-NL" dirty="0">
                <a:sym typeface="Wingdings" panose="05000000000000000000" pitchFamily="2" charset="2"/>
              </a:rPr>
              <a:t>.</a:t>
            </a:r>
            <a:endParaRPr lang="nl-NL" dirty="0"/>
          </a:p>
          <a:p>
            <a:endParaRPr lang="nl-NL" dirty="0"/>
          </a:p>
          <a:p>
            <a:endParaRPr lang="nl-NL" dirty="0"/>
          </a:p>
        </p:txBody>
      </p:sp>
      <p:sp>
        <p:nvSpPr>
          <p:cNvPr id="4" name="Tijdelijke aanduiding voor dianummer 3">
            <a:extLst>
              <a:ext uri="{FF2B5EF4-FFF2-40B4-BE49-F238E27FC236}">
                <a16:creationId xmlns:a16="http://schemas.microsoft.com/office/drawing/2014/main" id="{C8358220-5300-DD0F-7716-461E49DC4773}"/>
              </a:ext>
            </a:extLst>
          </p:cNvPr>
          <p:cNvSpPr>
            <a:spLocks noGrp="1"/>
          </p:cNvSpPr>
          <p:nvPr>
            <p:ph type="sldNum" sz="quarter" idx="12"/>
          </p:nvPr>
        </p:nvSpPr>
        <p:spPr/>
        <p:txBody>
          <a:bodyPr/>
          <a:lstStyle/>
          <a:p>
            <a:fld id="{7AE184E0-0BD4-4705-A12B-9B71DDE63301}" type="slidenum">
              <a:rPr lang="en-GB" noProof="0" smtClean="0"/>
              <a:t>4</a:t>
            </a:fld>
            <a:endParaRPr lang="en-GB" noProof="0" dirty="0"/>
          </a:p>
        </p:txBody>
      </p:sp>
      <p:sp>
        <p:nvSpPr>
          <p:cNvPr id="5" name="Tijdelijke aanduiding voor inhoud 4">
            <a:extLst>
              <a:ext uri="{FF2B5EF4-FFF2-40B4-BE49-F238E27FC236}">
                <a16:creationId xmlns:a16="http://schemas.microsoft.com/office/drawing/2014/main" id="{C9B22CB7-7EA8-BCAA-F04D-2E25138810C1}"/>
              </a:ext>
            </a:extLst>
          </p:cNvPr>
          <p:cNvSpPr>
            <a:spLocks noGrp="1"/>
          </p:cNvSpPr>
          <p:nvPr>
            <p:ph idx="13"/>
          </p:nvPr>
        </p:nvSpPr>
        <p:spPr/>
        <p:txBody>
          <a:bodyPr/>
          <a:lstStyle/>
          <a:p>
            <a:endParaRPr lang="nl-NL" dirty="0"/>
          </a:p>
        </p:txBody>
      </p:sp>
    </p:spTree>
    <p:extLst>
      <p:ext uri="{BB962C8B-B14F-4D97-AF65-F5344CB8AC3E}">
        <p14:creationId xmlns:p14="http://schemas.microsoft.com/office/powerpoint/2010/main" val="198077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Introductie factoranalyse (fa)</a:t>
            </a:r>
          </a:p>
        </p:txBody>
      </p:sp>
      <p:sp>
        <p:nvSpPr>
          <p:cNvPr id="2" name="Tijdelijke aanduiding voor inhoud 1"/>
          <p:cNvSpPr>
            <a:spLocks noGrp="1"/>
          </p:cNvSpPr>
          <p:nvPr>
            <p:ph idx="1"/>
          </p:nvPr>
        </p:nvSpPr>
        <p:spPr/>
        <p:txBody>
          <a:bodyPr>
            <a:normAutofit/>
          </a:bodyPr>
          <a:lstStyle/>
          <a:p>
            <a:r>
              <a:rPr lang="en-GB" dirty="0"/>
              <a:t>FA </a:t>
            </a:r>
            <a:r>
              <a:rPr lang="en-GB" dirty="0" err="1"/>
              <a:t>verschilt</a:t>
            </a:r>
            <a:r>
              <a:rPr lang="en-GB" dirty="0"/>
              <a:t> van de </a:t>
            </a:r>
            <a:r>
              <a:rPr lang="en-GB" dirty="0" err="1"/>
              <a:t>concepten</a:t>
            </a:r>
            <a:r>
              <a:rPr lang="en-GB" dirty="0"/>
              <a:t> en </a:t>
            </a:r>
            <a:r>
              <a:rPr lang="en-GB" dirty="0" err="1"/>
              <a:t>technieken</a:t>
            </a:r>
            <a:r>
              <a:rPr lang="en-GB" dirty="0"/>
              <a:t> die we tot nu toe </a:t>
            </a:r>
            <a:r>
              <a:rPr lang="en-GB" dirty="0" err="1"/>
              <a:t>hebben</a:t>
            </a:r>
            <a:r>
              <a:rPr lang="en-GB" dirty="0"/>
              <a:t> </a:t>
            </a:r>
            <a:r>
              <a:rPr lang="en-GB" dirty="0" err="1"/>
              <a:t>besproken</a:t>
            </a:r>
            <a:endParaRPr lang="en-GB" dirty="0"/>
          </a:p>
          <a:p>
            <a:pPr lvl="1"/>
            <a:r>
              <a:rPr lang="en-GB" dirty="0" err="1"/>
              <a:t>Hoofdzakelijk</a:t>
            </a:r>
            <a:r>
              <a:rPr lang="en-GB" dirty="0"/>
              <a:t>: het </a:t>
            </a:r>
            <a:r>
              <a:rPr lang="en-GB" dirty="0" err="1"/>
              <a:t>testen</a:t>
            </a:r>
            <a:r>
              <a:rPr lang="en-GB" dirty="0"/>
              <a:t> van </a:t>
            </a:r>
            <a:r>
              <a:rPr lang="en-GB" dirty="0" err="1"/>
              <a:t>relaties</a:t>
            </a:r>
            <a:r>
              <a:rPr lang="en-GB" dirty="0"/>
              <a:t> en </a:t>
            </a:r>
            <a:r>
              <a:rPr lang="en-GB" dirty="0" err="1"/>
              <a:t>verschillen</a:t>
            </a:r>
            <a:endParaRPr lang="en-GB" dirty="0"/>
          </a:p>
          <a:p>
            <a:endParaRPr lang="en-GB" dirty="0"/>
          </a:p>
          <a:p>
            <a:r>
              <a:rPr lang="en-GB" dirty="0"/>
              <a:t>FA </a:t>
            </a:r>
            <a:r>
              <a:rPr lang="en-GB" dirty="0" err="1"/>
              <a:t>wordt</a:t>
            </a:r>
            <a:r>
              <a:rPr lang="en-GB" dirty="0"/>
              <a:t> </a:t>
            </a:r>
            <a:r>
              <a:rPr lang="en-GB" dirty="0" err="1"/>
              <a:t>gebruikt</a:t>
            </a:r>
            <a:r>
              <a:rPr lang="en-GB" dirty="0"/>
              <a:t> om </a:t>
            </a:r>
            <a:r>
              <a:rPr lang="en-GB" dirty="0" err="1"/>
              <a:t>patronen</a:t>
            </a:r>
            <a:r>
              <a:rPr lang="en-GB" dirty="0"/>
              <a:t> </a:t>
            </a:r>
            <a:r>
              <a:rPr lang="en-GB" dirty="0" err="1"/>
              <a:t>te</a:t>
            </a:r>
            <a:r>
              <a:rPr lang="en-GB" dirty="0"/>
              <a:t> </a:t>
            </a:r>
            <a:r>
              <a:rPr lang="en-GB" dirty="0" err="1"/>
              <a:t>onderscheiden</a:t>
            </a:r>
            <a:r>
              <a:rPr lang="en-GB" dirty="0"/>
              <a:t> </a:t>
            </a:r>
            <a:r>
              <a:rPr lang="en-GB" dirty="0" err="1"/>
              <a:t>binnen</a:t>
            </a:r>
            <a:r>
              <a:rPr lang="en-GB" dirty="0"/>
              <a:t> datasets en om </a:t>
            </a:r>
            <a:r>
              <a:rPr lang="en-GB" dirty="0" err="1"/>
              <a:t>geobserveerde</a:t>
            </a:r>
            <a:r>
              <a:rPr lang="en-GB" dirty="0"/>
              <a:t> </a:t>
            </a:r>
            <a:r>
              <a:rPr lang="en-GB" dirty="0" err="1"/>
              <a:t>variabelen</a:t>
            </a:r>
            <a:r>
              <a:rPr lang="en-GB" dirty="0"/>
              <a:t> (items) </a:t>
            </a:r>
            <a:r>
              <a:rPr lang="en-GB" dirty="0" err="1"/>
              <a:t>te</a:t>
            </a:r>
            <a:r>
              <a:rPr lang="en-GB" dirty="0"/>
              <a:t> </a:t>
            </a:r>
            <a:r>
              <a:rPr lang="en-GB" dirty="0" err="1"/>
              <a:t>reduceren</a:t>
            </a:r>
            <a:r>
              <a:rPr lang="en-GB" dirty="0"/>
              <a:t> tot </a:t>
            </a:r>
            <a:r>
              <a:rPr lang="en-GB" dirty="0" err="1"/>
              <a:t>een</a:t>
            </a:r>
            <a:r>
              <a:rPr lang="en-GB" dirty="0"/>
              <a:t> </a:t>
            </a:r>
            <a:r>
              <a:rPr lang="en-GB" dirty="0" err="1"/>
              <a:t>kleiner</a:t>
            </a:r>
            <a:r>
              <a:rPr lang="en-GB" dirty="0"/>
              <a:t> </a:t>
            </a:r>
            <a:r>
              <a:rPr lang="en-GB" dirty="0" err="1"/>
              <a:t>aantal</a:t>
            </a:r>
            <a:r>
              <a:rPr lang="en-GB" dirty="0"/>
              <a:t> </a:t>
            </a:r>
            <a:r>
              <a:rPr lang="en-GB" dirty="0" err="1"/>
              <a:t>niet-geobserveerde</a:t>
            </a:r>
            <a:r>
              <a:rPr lang="en-GB" dirty="0"/>
              <a:t> </a:t>
            </a:r>
            <a:r>
              <a:rPr lang="en-GB" dirty="0" err="1"/>
              <a:t>factoren</a:t>
            </a:r>
            <a:endParaRPr lang="en-GB" dirty="0"/>
          </a:p>
          <a:p>
            <a:pPr lvl="1"/>
            <a:r>
              <a:rPr lang="en-GB" dirty="0" err="1"/>
              <a:t>Gebaseerd</a:t>
            </a:r>
            <a:r>
              <a:rPr lang="en-GB" dirty="0"/>
              <a:t> op de </a:t>
            </a:r>
            <a:r>
              <a:rPr lang="en-GB" dirty="0" err="1"/>
              <a:t>globale</a:t>
            </a:r>
            <a:r>
              <a:rPr lang="en-GB" dirty="0"/>
              <a:t> </a:t>
            </a:r>
            <a:r>
              <a:rPr lang="en-GB" dirty="0" err="1"/>
              <a:t>correlatiematrix</a:t>
            </a:r>
            <a:endParaRPr lang="en-GB" dirty="0"/>
          </a:p>
          <a:p>
            <a:pPr lvl="1"/>
            <a:endParaRPr lang="en-GB" dirty="0"/>
          </a:p>
          <a:p>
            <a:r>
              <a:rPr lang="en-GB" dirty="0" err="1"/>
              <a:t>Dus</a:t>
            </a:r>
            <a:r>
              <a:rPr lang="en-GB" dirty="0"/>
              <a:t> nu:</a:t>
            </a:r>
          </a:p>
          <a:p>
            <a:pPr lvl="1"/>
            <a:r>
              <a:rPr lang="en-GB" dirty="0" err="1"/>
              <a:t>Betekenis</a:t>
            </a:r>
            <a:r>
              <a:rPr lang="en-GB" dirty="0"/>
              <a:t> </a:t>
            </a:r>
            <a:r>
              <a:rPr lang="en-GB" dirty="0" err="1"/>
              <a:t>aan</a:t>
            </a:r>
            <a:r>
              <a:rPr lang="en-GB" dirty="0"/>
              <a:t> data </a:t>
            </a:r>
            <a:r>
              <a:rPr lang="en-GB" dirty="0" err="1"/>
              <a:t>geven</a:t>
            </a:r>
            <a:r>
              <a:rPr lang="en-GB" dirty="0"/>
              <a:t> en </a:t>
            </a:r>
            <a:r>
              <a:rPr lang="en-GB" dirty="0" err="1"/>
              <a:t>patronen</a:t>
            </a:r>
            <a:r>
              <a:rPr lang="en-GB" dirty="0"/>
              <a:t> </a:t>
            </a:r>
            <a:r>
              <a:rPr lang="en-GB" dirty="0" err="1"/>
              <a:t>vinden</a:t>
            </a:r>
            <a:endParaRPr lang="en-GB" dirty="0"/>
          </a:p>
          <a:p>
            <a:pPr lvl="1"/>
            <a:r>
              <a:rPr lang="en-GB" dirty="0" err="1"/>
              <a:t>Datareductie</a:t>
            </a:r>
            <a:endParaRPr lang="en-US" dirty="0"/>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5</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EE366259-A99A-4758-8E0B-E75ECA3D5010}"/>
              </a:ext>
            </a:extLst>
          </p:cNvPr>
          <p:cNvSpPr>
            <a:spLocks noGrp="1"/>
          </p:cNvSpPr>
          <p:nvPr>
            <p:ph idx="13"/>
          </p:nvPr>
        </p:nvSpPr>
        <p:spPr>
          <a:xfrm>
            <a:off x="2541464" y="8971478"/>
            <a:ext cx="13722366" cy="475989"/>
          </a:xfrm>
        </p:spPr>
        <p:txBody>
          <a:bodyPr/>
          <a:lstStyle/>
          <a:p>
            <a:endParaRPr lang="nl-BE"/>
          </a:p>
        </p:txBody>
      </p:sp>
    </p:spTree>
    <p:extLst>
      <p:ext uri="{BB962C8B-B14F-4D97-AF65-F5344CB8AC3E}">
        <p14:creationId xmlns:p14="http://schemas.microsoft.com/office/powerpoint/2010/main" val="1190080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Introductie factoranalyse (fa)</a:t>
            </a:r>
          </a:p>
        </p:txBody>
      </p:sp>
      <p:sp>
        <p:nvSpPr>
          <p:cNvPr id="2" name="Tijdelijke aanduiding voor inhoud 1"/>
          <p:cNvSpPr>
            <a:spLocks noGrp="1"/>
          </p:cNvSpPr>
          <p:nvPr>
            <p:ph idx="1"/>
          </p:nvPr>
        </p:nvSpPr>
        <p:spPr>
          <a:xfrm>
            <a:off x="1" y="1816273"/>
            <a:ext cx="17185710" cy="6864264"/>
          </a:xfrm>
        </p:spPr>
        <p:txBody>
          <a:bodyPr>
            <a:normAutofit/>
          </a:bodyPr>
          <a:lstStyle/>
          <a:p>
            <a:r>
              <a:rPr lang="en-GB" dirty="0" err="1"/>
              <a:t>Enkele</a:t>
            </a:r>
            <a:r>
              <a:rPr lang="en-GB" dirty="0"/>
              <a:t> </a:t>
            </a:r>
            <a:r>
              <a:rPr lang="en-GB" dirty="0" err="1"/>
              <a:t>belangrijke</a:t>
            </a:r>
            <a:r>
              <a:rPr lang="en-GB" dirty="0"/>
              <a:t> </a:t>
            </a:r>
            <a:r>
              <a:rPr lang="en-GB" b="1" dirty="0" err="1">
                <a:highlight>
                  <a:srgbClr val="FFFF00"/>
                </a:highlight>
              </a:rPr>
              <a:t>kernbegrippen</a:t>
            </a:r>
            <a:r>
              <a:rPr lang="en-GB" dirty="0"/>
              <a:t> </a:t>
            </a:r>
            <a:r>
              <a:rPr lang="en-GB" dirty="0" err="1"/>
              <a:t>bij</a:t>
            </a:r>
            <a:r>
              <a:rPr lang="en-GB" dirty="0"/>
              <a:t> FA:</a:t>
            </a:r>
          </a:p>
          <a:p>
            <a:pPr lvl="1"/>
            <a:r>
              <a:rPr lang="en-GB" b="1" dirty="0" err="1">
                <a:solidFill>
                  <a:srgbClr val="C00000"/>
                </a:solidFill>
              </a:rPr>
              <a:t>Manifeste</a:t>
            </a:r>
            <a:r>
              <a:rPr lang="en-GB" b="1" dirty="0">
                <a:solidFill>
                  <a:srgbClr val="C00000"/>
                </a:solidFill>
              </a:rPr>
              <a:t> </a:t>
            </a:r>
            <a:r>
              <a:rPr lang="en-GB" b="1" dirty="0" err="1">
                <a:solidFill>
                  <a:srgbClr val="C00000"/>
                </a:solidFill>
              </a:rPr>
              <a:t>variabele</a:t>
            </a:r>
            <a:r>
              <a:rPr lang="en-GB" b="1" dirty="0">
                <a:solidFill>
                  <a:srgbClr val="C00000"/>
                </a:solidFill>
              </a:rPr>
              <a:t> =</a:t>
            </a:r>
            <a:r>
              <a:rPr lang="en-GB" dirty="0"/>
              <a:t> </a:t>
            </a:r>
            <a:r>
              <a:rPr lang="en-GB" dirty="0" err="1"/>
              <a:t>geobserveerde</a:t>
            </a:r>
            <a:r>
              <a:rPr lang="en-GB" dirty="0"/>
              <a:t> </a:t>
            </a:r>
            <a:r>
              <a:rPr lang="en-GB" dirty="0" err="1"/>
              <a:t>variabele</a:t>
            </a:r>
            <a:r>
              <a:rPr lang="en-GB" dirty="0"/>
              <a:t>: vb. </a:t>
            </a:r>
            <a:r>
              <a:rPr lang="en-GB" dirty="0" err="1"/>
              <a:t>een</a:t>
            </a:r>
            <a:r>
              <a:rPr lang="en-GB" dirty="0"/>
              <a:t> </a:t>
            </a:r>
            <a:r>
              <a:rPr lang="en-GB" dirty="0" err="1"/>
              <a:t>vraag</a:t>
            </a:r>
            <a:r>
              <a:rPr lang="en-GB" dirty="0"/>
              <a:t> die </a:t>
            </a:r>
            <a:r>
              <a:rPr lang="en-GB" dirty="0" err="1"/>
              <a:t>respondenten</a:t>
            </a:r>
            <a:r>
              <a:rPr lang="en-GB" dirty="0"/>
              <a:t> </a:t>
            </a:r>
            <a:r>
              <a:rPr lang="en-GB" dirty="0" err="1"/>
              <a:t>hebben</a:t>
            </a:r>
            <a:r>
              <a:rPr lang="en-GB" dirty="0"/>
              <a:t> </a:t>
            </a:r>
            <a:r>
              <a:rPr lang="en-GB" dirty="0" err="1"/>
              <a:t>beantwoord</a:t>
            </a:r>
            <a:endParaRPr lang="en-GB" dirty="0"/>
          </a:p>
          <a:p>
            <a:pPr lvl="1"/>
            <a:r>
              <a:rPr lang="en-GB" b="1" dirty="0">
                <a:solidFill>
                  <a:srgbClr val="C00000"/>
                </a:solidFill>
              </a:rPr>
              <a:t>Factor = </a:t>
            </a:r>
            <a:r>
              <a:rPr lang="en-GB" b="1" dirty="0" err="1">
                <a:solidFill>
                  <a:srgbClr val="002060"/>
                </a:solidFill>
              </a:rPr>
              <a:t>niet</a:t>
            </a:r>
            <a:r>
              <a:rPr lang="en-GB" dirty="0" err="1">
                <a:solidFill>
                  <a:srgbClr val="002060"/>
                </a:solidFill>
              </a:rPr>
              <a:t>-geobserveerde</a:t>
            </a:r>
            <a:r>
              <a:rPr lang="en-GB" dirty="0">
                <a:solidFill>
                  <a:srgbClr val="002060"/>
                </a:solidFill>
              </a:rPr>
              <a:t> of </a:t>
            </a:r>
            <a:r>
              <a:rPr lang="en-GB" dirty="0" err="1">
                <a:solidFill>
                  <a:srgbClr val="002060"/>
                </a:solidFill>
              </a:rPr>
              <a:t>latente</a:t>
            </a:r>
            <a:r>
              <a:rPr lang="en-GB" dirty="0">
                <a:solidFill>
                  <a:srgbClr val="002060"/>
                </a:solidFill>
              </a:rPr>
              <a:t> </a:t>
            </a:r>
            <a:r>
              <a:rPr lang="en-GB" dirty="0" err="1">
                <a:solidFill>
                  <a:srgbClr val="002060"/>
                </a:solidFill>
              </a:rPr>
              <a:t>variabele</a:t>
            </a:r>
            <a:r>
              <a:rPr lang="en-GB" dirty="0">
                <a:solidFill>
                  <a:srgbClr val="002060"/>
                </a:solidFill>
              </a:rPr>
              <a:t>:  vb. het concept ‘</a:t>
            </a:r>
            <a:r>
              <a:rPr lang="en-GB" dirty="0" err="1">
                <a:solidFill>
                  <a:srgbClr val="002060"/>
                </a:solidFill>
              </a:rPr>
              <a:t>zelf-controle</a:t>
            </a:r>
            <a:r>
              <a:rPr lang="en-GB" dirty="0">
                <a:solidFill>
                  <a:srgbClr val="002060"/>
                </a:solidFill>
              </a:rPr>
              <a:t>’ </a:t>
            </a:r>
            <a:r>
              <a:rPr lang="en-GB" dirty="0" err="1">
                <a:solidFill>
                  <a:srgbClr val="002060"/>
                </a:solidFill>
              </a:rPr>
              <a:t>wordt</a:t>
            </a:r>
            <a:r>
              <a:rPr lang="en-GB" dirty="0">
                <a:solidFill>
                  <a:srgbClr val="002060"/>
                </a:solidFill>
              </a:rPr>
              <a:t> </a:t>
            </a:r>
            <a:r>
              <a:rPr lang="en-GB" dirty="0" err="1">
                <a:solidFill>
                  <a:srgbClr val="002060"/>
                </a:solidFill>
              </a:rPr>
              <a:t>gemeten</a:t>
            </a:r>
            <a:r>
              <a:rPr lang="en-GB" dirty="0">
                <a:solidFill>
                  <a:srgbClr val="002060"/>
                </a:solidFill>
              </a:rPr>
              <a:t> </a:t>
            </a:r>
            <a:r>
              <a:rPr lang="en-GB" dirty="0" err="1">
                <a:solidFill>
                  <a:srgbClr val="002060"/>
                </a:solidFill>
              </a:rPr>
              <a:t>ahv</a:t>
            </a:r>
            <a:r>
              <a:rPr lang="en-GB" dirty="0">
                <a:solidFill>
                  <a:srgbClr val="002060"/>
                </a:solidFill>
              </a:rPr>
              <a:t> </a:t>
            </a:r>
            <a:r>
              <a:rPr lang="en-GB" dirty="0" err="1">
                <a:solidFill>
                  <a:srgbClr val="002060"/>
                </a:solidFill>
              </a:rPr>
              <a:t>manifeste</a:t>
            </a:r>
            <a:r>
              <a:rPr lang="en-GB" dirty="0">
                <a:solidFill>
                  <a:srgbClr val="002060"/>
                </a:solidFill>
              </a:rPr>
              <a:t> </a:t>
            </a:r>
            <a:r>
              <a:rPr lang="en-GB" dirty="0" err="1">
                <a:solidFill>
                  <a:srgbClr val="002060"/>
                </a:solidFill>
              </a:rPr>
              <a:t>variabelen</a:t>
            </a:r>
            <a:endParaRPr lang="en-GB" b="1" dirty="0">
              <a:solidFill>
                <a:srgbClr val="C00000"/>
              </a:solidFill>
            </a:endParaRPr>
          </a:p>
          <a:p>
            <a:pPr lvl="1"/>
            <a:r>
              <a:rPr lang="en-GB" b="1" dirty="0" err="1">
                <a:solidFill>
                  <a:srgbClr val="C00000"/>
                </a:solidFill>
              </a:rPr>
              <a:t>Factorlading</a:t>
            </a:r>
            <a:r>
              <a:rPr lang="en-GB" dirty="0"/>
              <a:t> – De </a:t>
            </a:r>
            <a:r>
              <a:rPr lang="en-GB" dirty="0">
                <a:solidFill>
                  <a:srgbClr val="002060"/>
                </a:solidFill>
              </a:rPr>
              <a:t>mate</a:t>
            </a:r>
            <a:r>
              <a:rPr lang="en-GB" dirty="0"/>
              <a:t> </a:t>
            </a:r>
            <a:r>
              <a:rPr lang="en-GB" dirty="0" err="1"/>
              <a:t>waarin</a:t>
            </a:r>
            <a:r>
              <a:rPr lang="en-GB" dirty="0"/>
              <a:t> </a:t>
            </a:r>
            <a:r>
              <a:rPr lang="en-GB" dirty="0" err="1"/>
              <a:t>een</a:t>
            </a:r>
            <a:r>
              <a:rPr lang="en-GB" dirty="0"/>
              <a:t> </a:t>
            </a:r>
            <a:r>
              <a:rPr lang="en-GB" dirty="0" err="1"/>
              <a:t>manifeste</a:t>
            </a:r>
            <a:r>
              <a:rPr lang="en-GB" dirty="0"/>
              <a:t> </a:t>
            </a:r>
            <a:r>
              <a:rPr lang="en-GB" dirty="0" err="1"/>
              <a:t>variabele</a:t>
            </a:r>
            <a:r>
              <a:rPr lang="en-GB" dirty="0"/>
              <a:t> </a:t>
            </a:r>
            <a:r>
              <a:rPr lang="en-GB" dirty="0" err="1"/>
              <a:t>geassocieerd</a:t>
            </a:r>
            <a:r>
              <a:rPr lang="en-GB" dirty="0"/>
              <a:t> is met </a:t>
            </a:r>
            <a:r>
              <a:rPr lang="en-GB" dirty="0" err="1"/>
              <a:t>een</a:t>
            </a:r>
            <a:r>
              <a:rPr lang="en-GB" dirty="0"/>
              <a:t> factor</a:t>
            </a:r>
          </a:p>
          <a:p>
            <a:endParaRPr lang="en-GB" dirty="0"/>
          </a:p>
          <a:p>
            <a:r>
              <a:rPr lang="en-GB" dirty="0"/>
              <a:t>FA </a:t>
            </a:r>
            <a:r>
              <a:rPr lang="en-GB" dirty="0" err="1"/>
              <a:t>zal</a:t>
            </a:r>
            <a:r>
              <a:rPr lang="en-GB" dirty="0"/>
              <a:t> </a:t>
            </a:r>
            <a:r>
              <a:rPr lang="en-GB" dirty="0" err="1"/>
              <a:t>dus</a:t>
            </a:r>
            <a:r>
              <a:rPr lang="en-GB" dirty="0"/>
              <a:t> </a:t>
            </a:r>
            <a:r>
              <a:rPr lang="en-GB" dirty="0" err="1"/>
              <a:t>bijna</a:t>
            </a:r>
            <a:r>
              <a:rPr lang="en-GB" dirty="0"/>
              <a:t> steeds </a:t>
            </a:r>
            <a:r>
              <a:rPr lang="en-GB" dirty="0" err="1"/>
              <a:t>gebruikt</a:t>
            </a:r>
            <a:r>
              <a:rPr lang="en-GB" dirty="0"/>
              <a:t> </a:t>
            </a:r>
            <a:r>
              <a:rPr lang="en-GB" dirty="0" err="1"/>
              <a:t>worden</a:t>
            </a:r>
            <a:r>
              <a:rPr lang="en-GB" dirty="0"/>
              <a:t> </a:t>
            </a:r>
            <a:r>
              <a:rPr lang="en-GB" dirty="0" err="1"/>
              <a:t>bij</a:t>
            </a:r>
            <a:r>
              <a:rPr lang="en-GB" dirty="0"/>
              <a:t> de analyses van </a:t>
            </a:r>
            <a:r>
              <a:rPr lang="en-GB" dirty="0" err="1"/>
              <a:t>vragenlijsten</a:t>
            </a:r>
            <a:r>
              <a:rPr lang="en-GB" dirty="0"/>
              <a:t> (surveys)</a:t>
            </a:r>
          </a:p>
          <a:p>
            <a:pPr lvl="1"/>
            <a:r>
              <a:rPr lang="en-US" dirty="0" err="1"/>
              <a:t>Waarbij</a:t>
            </a:r>
            <a:r>
              <a:rPr lang="en-US" dirty="0"/>
              <a:t> de </a:t>
            </a:r>
            <a:r>
              <a:rPr lang="en-US" dirty="0" err="1"/>
              <a:t>correlaties</a:t>
            </a:r>
            <a:r>
              <a:rPr lang="en-US" dirty="0"/>
              <a:t> </a:t>
            </a:r>
            <a:r>
              <a:rPr lang="en-US" dirty="0" err="1"/>
              <a:t>tussen</a:t>
            </a:r>
            <a:r>
              <a:rPr lang="en-US" dirty="0"/>
              <a:t> </a:t>
            </a:r>
            <a:r>
              <a:rPr lang="en-US" dirty="0" err="1"/>
              <a:t>variabelen</a:t>
            </a:r>
            <a:r>
              <a:rPr lang="en-US" dirty="0"/>
              <a:t> </a:t>
            </a:r>
            <a:r>
              <a:rPr lang="en-US" dirty="0" err="1"/>
              <a:t>onderzocht</a:t>
            </a:r>
            <a:r>
              <a:rPr lang="en-US" dirty="0"/>
              <a:t> </a:t>
            </a:r>
            <a:r>
              <a:rPr lang="en-US" dirty="0" err="1"/>
              <a:t>worden</a:t>
            </a:r>
            <a:endParaRPr lang="en-US" dirty="0"/>
          </a:p>
          <a:p>
            <a:pPr lvl="1"/>
            <a:endParaRPr lang="en-US" dirty="0"/>
          </a:p>
          <a:p>
            <a:pPr lvl="1"/>
            <a:r>
              <a:rPr lang="en-US" dirty="0"/>
              <a:t>Vaak survey </a:t>
            </a:r>
            <a:r>
              <a:rPr lang="en-US" dirty="0" err="1"/>
              <a:t>vragen</a:t>
            </a:r>
            <a:r>
              <a:rPr lang="en-US" dirty="0"/>
              <a:t> m.b.t. attitudes of </a:t>
            </a:r>
            <a:r>
              <a:rPr lang="en-US" dirty="0" err="1"/>
              <a:t>opinies</a:t>
            </a:r>
            <a:r>
              <a:rPr lang="en-US" dirty="0"/>
              <a:t>!</a:t>
            </a:r>
            <a:endParaRPr lang="en-GB" dirty="0"/>
          </a:p>
          <a:p>
            <a:pPr marL="86400" indent="0">
              <a:buNone/>
            </a:pPr>
            <a:r>
              <a:rPr lang="nl-BE" dirty="0"/>
              <a:t> </a:t>
            </a:r>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6</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120D991C-5E63-4054-8A19-26834531DC9B}"/>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8538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Introductie factoranalyse (fa)</a:t>
            </a:r>
          </a:p>
        </p:txBody>
      </p:sp>
      <p:sp>
        <p:nvSpPr>
          <p:cNvPr id="2" name="Tijdelijke aanduiding voor inhoud 1"/>
          <p:cNvSpPr>
            <a:spLocks noGrp="1"/>
          </p:cNvSpPr>
          <p:nvPr>
            <p:ph idx="1"/>
          </p:nvPr>
        </p:nvSpPr>
        <p:spPr/>
        <p:txBody>
          <a:bodyPr>
            <a:normAutofit/>
          </a:bodyPr>
          <a:lstStyle/>
          <a:p>
            <a:r>
              <a:rPr lang="en-US" dirty="0" err="1"/>
              <a:t>Stap</a:t>
            </a:r>
            <a:r>
              <a:rPr lang="en-US" dirty="0"/>
              <a:t> 1: </a:t>
            </a:r>
            <a:r>
              <a:rPr lang="en-US" dirty="0" err="1"/>
              <a:t>Selecteren</a:t>
            </a:r>
            <a:r>
              <a:rPr lang="en-US" dirty="0"/>
              <a:t> van de </a:t>
            </a:r>
            <a:r>
              <a:rPr lang="en-US" dirty="0" err="1"/>
              <a:t>manifeste</a:t>
            </a:r>
            <a:r>
              <a:rPr lang="en-US" dirty="0"/>
              <a:t> </a:t>
            </a:r>
            <a:r>
              <a:rPr lang="en-US" dirty="0" err="1"/>
              <a:t>variabelen</a:t>
            </a:r>
            <a:endParaRPr lang="en-US" dirty="0"/>
          </a:p>
          <a:p>
            <a:r>
              <a:rPr lang="en-US" dirty="0" err="1"/>
              <a:t>Stap</a:t>
            </a:r>
            <a:r>
              <a:rPr lang="en-US" dirty="0"/>
              <a:t> 2: </a:t>
            </a:r>
            <a:r>
              <a:rPr lang="en-US" dirty="0" err="1"/>
              <a:t>Beoordelen</a:t>
            </a:r>
            <a:r>
              <a:rPr lang="en-US" dirty="0"/>
              <a:t> van de </a:t>
            </a:r>
            <a:r>
              <a:rPr lang="en-US" dirty="0" err="1"/>
              <a:t>correlatiematrix</a:t>
            </a:r>
            <a:r>
              <a:rPr lang="en-US" dirty="0"/>
              <a:t> (</a:t>
            </a:r>
            <a:r>
              <a:rPr lang="en-US" dirty="0" err="1"/>
              <a:t>kan</a:t>
            </a:r>
            <a:r>
              <a:rPr lang="en-US" dirty="0"/>
              <a:t> </a:t>
            </a:r>
            <a:r>
              <a:rPr lang="en-US" dirty="0" err="1"/>
              <a:t>een</a:t>
            </a:r>
            <a:r>
              <a:rPr lang="en-US" dirty="0"/>
              <a:t> FA </a:t>
            </a:r>
            <a:r>
              <a:rPr lang="en-US" dirty="0" err="1"/>
              <a:t>uitgevoerd</a:t>
            </a:r>
            <a:r>
              <a:rPr lang="en-US" dirty="0"/>
              <a:t> </a:t>
            </a:r>
            <a:r>
              <a:rPr lang="en-US" dirty="0" err="1"/>
              <a:t>worden</a:t>
            </a:r>
            <a:r>
              <a:rPr lang="en-US" dirty="0"/>
              <a:t>?)</a:t>
            </a:r>
          </a:p>
          <a:p>
            <a:r>
              <a:rPr lang="en-US" dirty="0" err="1"/>
              <a:t>Stap</a:t>
            </a:r>
            <a:r>
              <a:rPr lang="en-US" dirty="0"/>
              <a:t> 3: </a:t>
            </a:r>
            <a:r>
              <a:rPr lang="en-US" dirty="0" err="1"/>
              <a:t>Factorextractie</a:t>
            </a:r>
            <a:r>
              <a:rPr lang="en-US" dirty="0"/>
              <a:t> of </a:t>
            </a:r>
            <a:r>
              <a:rPr lang="en-US" dirty="0" err="1"/>
              <a:t>weerhouden</a:t>
            </a:r>
            <a:r>
              <a:rPr lang="en-US" dirty="0"/>
              <a:t> van </a:t>
            </a:r>
            <a:r>
              <a:rPr lang="en-US" dirty="0" err="1"/>
              <a:t>aantal</a:t>
            </a:r>
            <a:r>
              <a:rPr lang="en-US" dirty="0"/>
              <a:t> </a:t>
            </a:r>
            <a:r>
              <a:rPr lang="en-US" dirty="0" err="1"/>
              <a:t>factoren</a:t>
            </a:r>
            <a:endParaRPr lang="en-US" dirty="0"/>
          </a:p>
          <a:p>
            <a:r>
              <a:rPr lang="en-US" dirty="0" err="1"/>
              <a:t>Stap</a:t>
            </a:r>
            <a:r>
              <a:rPr lang="en-US" dirty="0"/>
              <a:t> 4: </a:t>
            </a:r>
            <a:r>
              <a:rPr lang="en-US" dirty="0" err="1"/>
              <a:t>Factorrotatie</a:t>
            </a:r>
            <a:r>
              <a:rPr lang="en-US" dirty="0"/>
              <a:t> om de </a:t>
            </a:r>
            <a:r>
              <a:rPr lang="en-US" dirty="0" err="1"/>
              <a:t>interpreteerbaarheid</a:t>
            </a:r>
            <a:r>
              <a:rPr lang="en-US" dirty="0"/>
              <a:t> </a:t>
            </a:r>
            <a:r>
              <a:rPr lang="en-US" dirty="0" err="1"/>
              <a:t>te</a:t>
            </a:r>
            <a:r>
              <a:rPr lang="en-US" dirty="0"/>
              <a:t> </a:t>
            </a:r>
            <a:r>
              <a:rPr lang="en-US" dirty="0" err="1"/>
              <a:t>verhogen</a:t>
            </a:r>
            <a:endParaRPr lang="en-US" dirty="0"/>
          </a:p>
          <a:p>
            <a:r>
              <a:rPr lang="en-US" dirty="0" err="1"/>
              <a:t>Stap</a:t>
            </a:r>
            <a:r>
              <a:rPr lang="en-US" dirty="0"/>
              <a:t> 5: </a:t>
            </a:r>
            <a:r>
              <a:rPr lang="en-US" dirty="0" err="1"/>
              <a:t>Interpretatie</a:t>
            </a:r>
            <a:endParaRPr lang="en-US" dirty="0"/>
          </a:p>
          <a:p>
            <a:r>
              <a:rPr lang="en-US" dirty="0" err="1"/>
              <a:t>Verdere</a:t>
            </a:r>
            <a:r>
              <a:rPr lang="en-US" dirty="0"/>
              <a:t> </a:t>
            </a:r>
            <a:r>
              <a:rPr lang="en-US" dirty="0" err="1"/>
              <a:t>stappen</a:t>
            </a:r>
            <a:r>
              <a:rPr lang="en-US" dirty="0"/>
              <a:t>: </a:t>
            </a:r>
            <a:r>
              <a:rPr lang="en-US" dirty="0" err="1"/>
              <a:t>Validatie</a:t>
            </a:r>
            <a:r>
              <a:rPr lang="en-US" dirty="0"/>
              <a:t> en </a:t>
            </a:r>
            <a:r>
              <a:rPr lang="en-US" dirty="0" err="1"/>
              <a:t>betrouwbaarheid</a:t>
            </a:r>
            <a:r>
              <a:rPr lang="en-US" dirty="0"/>
              <a:t> van de </a:t>
            </a:r>
            <a:r>
              <a:rPr lang="en-US" dirty="0" err="1"/>
              <a:t>metingen</a:t>
            </a:r>
            <a:r>
              <a:rPr lang="en-US" dirty="0"/>
              <a:t>(</a:t>
            </a:r>
            <a:r>
              <a:rPr lang="en-US" dirty="0" err="1"/>
              <a:t>zie</a:t>
            </a:r>
            <a:r>
              <a:rPr lang="en-US" dirty="0"/>
              <a:t> </a:t>
            </a:r>
            <a:r>
              <a:rPr lang="en-US" dirty="0" err="1"/>
              <a:t>cronbach’s</a:t>
            </a:r>
            <a:r>
              <a:rPr lang="en-US" dirty="0"/>
              <a:t> alpha)</a:t>
            </a:r>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7</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95F5653F-E1CD-49BB-B6B5-483BCB2B318B}"/>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80811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66A333-866B-17E3-55DD-45F687103DFA}"/>
              </a:ext>
            </a:extLst>
          </p:cNvPr>
          <p:cNvSpPr>
            <a:spLocks noGrp="1"/>
          </p:cNvSpPr>
          <p:nvPr>
            <p:ph type="title"/>
          </p:nvPr>
        </p:nvSpPr>
        <p:spPr>
          <a:xfrm>
            <a:off x="2060294" y="123499"/>
            <a:ext cx="15125415" cy="949564"/>
          </a:xfrm>
        </p:spPr>
        <p:txBody>
          <a:bodyPr/>
          <a:lstStyle/>
          <a:p>
            <a:r>
              <a:rPr lang="nl-NL" dirty="0"/>
              <a:t>Principale componentenanalyse (</a:t>
            </a:r>
            <a:r>
              <a:rPr lang="nl-NL" dirty="0" err="1"/>
              <a:t>pca</a:t>
            </a:r>
            <a:r>
              <a:rPr lang="nl-NL" dirty="0"/>
              <a:t>) en factoranalyse (fa)</a:t>
            </a:r>
          </a:p>
        </p:txBody>
      </p:sp>
      <p:sp>
        <p:nvSpPr>
          <p:cNvPr id="3" name="Tijdelijke aanduiding voor inhoud 2">
            <a:extLst>
              <a:ext uri="{FF2B5EF4-FFF2-40B4-BE49-F238E27FC236}">
                <a16:creationId xmlns:a16="http://schemas.microsoft.com/office/drawing/2014/main" id="{8F86DC78-0338-D7B3-0A48-AA2592FAA7E5}"/>
              </a:ext>
            </a:extLst>
          </p:cNvPr>
          <p:cNvSpPr>
            <a:spLocks noGrp="1"/>
          </p:cNvSpPr>
          <p:nvPr>
            <p:ph idx="1"/>
          </p:nvPr>
        </p:nvSpPr>
        <p:spPr/>
        <p:txBody>
          <a:bodyPr>
            <a:normAutofit/>
          </a:bodyPr>
          <a:lstStyle/>
          <a:p>
            <a:r>
              <a:rPr lang="nl-NL" dirty="0"/>
              <a:t>Statistische exploratieve technieken om patronen te identificeren in gegeven dataset.</a:t>
            </a:r>
          </a:p>
          <a:p>
            <a:endParaRPr lang="nl-NL" dirty="0"/>
          </a:p>
          <a:p>
            <a:r>
              <a:rPr lang="nl-NL" b="1" u="sng" dirty="0">
                <a:solidFill>
                  <a:srgbClr val="C00000"/>
                </a:solidFill>
              </a:rPr>
              <a:t>Factoranalyse (FA)</a:t>
            </a:r>
          </a:p>
          <a:p>
            <a:pPr lvl="1"/>
            <a:endParaRPr lang="nl-NL" dirty="0"/>
          </a:p>
          <a:p>
            <a:endParaRPr lang="nl-NL" dirty="0"/>
          </a:p>
          <a:p>
            <a:r>
              <a:rPr lang="nl-NL" b="1" u="sng" dirty="0">
                <a:solidFill>
                  <a:srgbClr val="C00000"/>
                </a:solidFill>
              </a:rPr>
              <a:t>Principale componentenanalyse (PCA)</a:t>
            </a:r>
            <a:endParaRPr lang="nl-NL" dirty="0">
              <a:sym typeface="Wingdings" panose="05000000000000000000" pitchFamily="2" charset="2"/>
            </a:endParaRPr>
          </a:p>
        </p:txBody>
      </p:sp>
      <p:sp>
        <p:nvSpPr>
          <p:cNvPr id="4" name="Tijdelijke aanduiding voor dianummer 3">
            <a:extLst>
              <a:ext uri="{FF2B5EF4-FFF2-40B4-BE49-F238E27FC236}">
                <a16:creationId xmlns:a16="http://schemas.microsoft.com/office/drawing/2014/main" id="{E27E9AF6-61D4-29DA-4919-836C86B45088}"/>
              </a:ext>
            </a:extLst>
          </p:cNvPr>
          <p:cNvSpPr>
            <a:spLocks noGrp="1"/>
          </p:cNvSpPr>
          <p:nvPr>
            <p:ph type="sldNum" sz="quarter" idx="12"/>
          </p:nvPr>
        </p:nvSpPr>
        <p:spPr/>
        <p:txBody>
          <a:bodyPr/>
          <a:lstStyle/>
          <a:p>
            <a:fld id="{7AE184E0-0BD4-4705-A12B-9B71DDE63301}" type="slidenum">
              <a:rPr lang="en-GB" noProof="0" smtClean="0"/>
              <a:t>8</a:t>
            </a:fld>
            <a:endParaRPr lang="en-GB" noProof="0" dirty="0"/>
          </a:p>
        </p:txBody>
      </p:sp>
      <p:sp>
        <p:nvSpPr>
          <p:cNvPr id="5" name="Tijdelijke aanduiding voor inhoud 4">
            <a:extLst>
              <a:ext uri="{FF2B5EF4-FFF2-40B4-BE49-F238E27FC236}">
                <a16:creationId xmlns:a16="http://schemas.microsoft.com/office/drawing/2014/main" id="{0494B95B-7010-8F3E-8B8A-75202471632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668958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66A333-866B-17E3-55DD-45F687103DFA}"/>
              </a:ext>
            </a:extLst>
          </p:cNvPr>
          <p:cNvSpPr>
            <a:spLocks noGrp="1"/>
          </p:cNvSpPr>
          <p:nvPr>
            <p:ph type="title"/>
          </p:nvPr>
        </p:nvSpPr>
        <p:spPr>
          <a:xfrm>
            <a:off x="2060294" y="123499"/>
            <a:ext cx="15125415" cy="949564"/>
          </a:xfrm>
        </p:spPr>
        <p:txBody>
          <a:bodyPr/>
          <a:lstStyle/>
          <a:p>
            <a:r>
              <a:rPr lang="nl-NL" dirty="0"/>
              <a:t>Principale componentenanalyse (</a:t>
            </a:r>
            <a:r>
              <a:rPr lang="nl-NL" dirty="0" err="1"/>
              <a:t>pca</a:t>
            </a:r>
            <a:r>
              <a:rPr lang="nl-NL" dirty="0"/>
              <a:t>) en factoranalyse (fa)</a:t>
            </a:r>
          </a:p>
        </p:txBody>
      </p:sp>
      <p:sp>
        <p:nvSpPr>
          <p:cNvPr id="3" name="Tijdelijke aanduiding voor inhoud 2">
            <a:extLst>
              <a:ext uri="{FF2B5EF4-FFF2-40B4-BE49-F238E27FC236}">
                <a16:creationId xmlns:a16="http://schemas.microsoft.com/office/drawing/2014/main" id="{8F86DC78-0338-D7B3-0A48-AA2592FAA7E5}"/>
              </a:ext>
            </a:extLst>
          </p:cNvPr>
          <p:cNvSpPr>
            <a:spLocks noGrp="1"/>
          </p:cNvSpPr>
          <p:nvPr>
            <p:ph idx="1"/>
          </p:nvPr>
        </p:nvSpPr>
        <p:spPr/>
        <p:txBody>
          <a:bodyPr>
            <a:normAutofit/>
          </a:bodyPr>
          <a:lstStyle/>
          <a:p>
            <a:r>
              <a:rPr lang="nl-NL" dirty="0"/>
              <a:t>Statistische exploratieve technieken om patronen te identificeren in gegeven dataset.</a:t>
            </a:r>
          </a:p>
          <a:p>
            <a:endParaRPr lang="nl-NL" dirty="0"/>
          </a:p>
          <a:p>
            <a:r>
              <a:rPr lang="nl-NL" b="1" u="sng" dirty="0">
                <a:solidFill>
                  <a:srgbClr val="C00000"/>
                </a:solidFill>
              </a:rPr>
              <a:t>Factoranalyse (FA)</a:t>
            </a:r>
          </a:p>
          <a:p>
            <a:pPr lvl="1"/>
            <a:r>
              <a:rPr lang="nl-NL" dirty="0">
                <a:sym typeface="Wingdings" panose="05000000000000000000" pitchFamily="2" charset="2"/>
              </a:rPr>
              <a:t> identificatie van onderliggende </a:t>
            </a:r>
            <a:r>
              <a:rPr lang="nl-NL" dirty="0">
                <a:solidFill>
                  <a:srgbClr val="C00000"/>
                </a:solidFill>
                <a:sym typeface="Wingdings" panose="05000000000000000000" pitchFamily="2" charset="2"/>
              </a:rPr>
              <a:t>latente factoren</a:t>
            </a:r>
          </a:p>
          <a:p>
            <a:endParaRPr lang="nl-NL" dirty="0"/>
          </a:p>
          <a:p>
            <a:r>
              <a:rPr lang="nl-NL" b="1" u="sng" dirty="0">
                <a:solidFill>
                  <a:srgbClr val="C00000"/>
                </a:solidFill>
              </a:rPr>
              <a:t>Principale componentenanalyse (PCA)</a:t>
            </a:r>
            <a:endParaRPr lang="nl-NL" dirty="0">
              <a:sym typeface="Wingdings" panose="05000000000000000000" pitchFamily="2" charset="2"/>
            </a:endParaRPr>
          </a:p>
          <a:p>
            <a:pPr lvl="1"/>
            <a:r>
              <a:rPr lang="nl-NL" dirty="0">
                <a:sym typeface="Wingdings" panose="05000000000000000000" pitchFamily="2" charset="2"/>
              </a:rPr>
              <a:t> identificatie van </a:t>
            </a:r>
            <a:r>
              <a:rPr lang="nl-NL" dirty="0">
                <a:solidFill>
                  <a:srgbClr val="C00000"/>
                </a:solidFill>
                <a:sym typeface="Wingdings" panose="05000000000000000000" pitchFamily="2" charset="2"/>
              </a:rPr>
              <a:t>principale componenten (of dimensies)</a:t>
            </a:r>
          </a:p>
        </p:txBody>
      </p:sp>
      <p:sp>
        <p:nvSpPr>
          <p:cNvPr id="4" name="Tijdelijke aanduiding voor dianummer 3">
            <a:extLst>
              <a:ext uri="{FF2B5EF4-FFF2-40B4-BE49-F238E27FC236}">
                <a16:creationId xmlns:a16="http://schemas.microsoft.com/office/drawing/2014/main" id="{E27E9AF6-61D4-29DA-4919-836C86B45088}"/>
              </a:ext>
            </a:extLst>
          </p:cNvPr>
          <p:cNvSpPr>
            <a:spLocks noGrp="1"/>
          </p:cNvSpPr>
          <p:nvPr>
            <p:ph type="sldNum" sz="quarter" idx="12"/>
          </p:nvPr>
        </p:nvSpPr>
        <p:spPr/>
        <p:txBody>
          <a:bodyPr/>
          <a:lstStyle/>
          <a:p>
            <a:fld id="{7AE184E0-0BD4-4705-A12B-9B71DDE63301}" type="slidenum">
              <a:rPr lang="en-GB" noProof="0" smtClean="0"/>
              <a:t>9</a:t>
            </a:fld>
            <a:endParaRPr lang="en-GB" noProof="0" dirty="0"/>
          </a:p>
        </p:txBody>
      </p:sp>
      <p:sp>
        <p:nvSpPr>
          <p:cNvPr id="5" name="Tijdelijke aanduiding voor inhoud 4">
            <a:extLst>
              <a:ext uri="{FF2B5EF4-FFF2-40B4-BE49-F238E27FC236}">
                <a16:creationId xmlns:a16="http://schemas.microsoft.com/office/drawing/2014/main" id="{0494B95B-7010-8F3E-8B8A-75202471632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209649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66A333-866B-17E3-55DD-45F687103DFA}"/>
              </a:ext>
            </a:extLst>
          </p:cNvPr>
          <p:cNvSpPr>
            <a:spLocks noGrp="1"/>
          </p:cNvSpPr>
          <p:nvPr>
            <p:ph type="title"/>
          </p:nvPr>
        </p:nvSpPr>
        <p:spPr>
          <a:xfrm>
            <a:off x="2060294" y="123499"/>
            <a:ext cx="15125415" cy="949564"/>
          </a:xfrm>
        </p:spPr>
        <p:txBody>
          <a:bodyPr/>
          <a:lstStyle/>
          <a:p>
            <a:r>
              <a:rPr lang="nl-NL" dirty="0"/>
              <a:t>Principale componentenanalyse (</a:t>
            </a:r>
            <a:r>
              <a:rPr lang="nl-NL" dirty="0" err="1"/>
              <a:t>pca</a:t>
            </a:r>
            <a:r>
              <a:rPr lang="nl-NL" dirty="0"/>
              <a:t>) en factoranalyse (fa)</a:t>
            </a:r>
          </a:p>
        </p:txBody>
      </p:sp>
      <p:sp>
        <p:nvSpPr>
          <p:cNvPr id="3" name="Tijdelijke aanduiding voor inhoud 2">
            <a:extLst>
              <a:ext uri="{FF2B5EF4-FFF2-40B4-BE49-F238E27FC236}">
                <a16:creationId xmlns:a16="http://schemas.microsoft.com/office/drawing/2014/main" id="{8F86DC78-0338-D7B3-0A48-AA2592FAA7E5}"/>
              </a:ext>
            </a:extLst>
          </p:cNvPr>
          <p:cNvSpPr>
            <a:spLocks noGrp="1"/>
          </p:cNvSpPr>
          <p:nvPr>
            <p:ph idx="1"/>
          </p:nvPr>
        </p:nvSpPr>
        <p:spPr/>
        <p:txBody>
          <a:bodyPr>
            <a:normAutofit/>
          </a:bodyPr>
          <a:lstStyle/>
          <a:p>
            <a:r>
              <a:rPr lang="nl-NL" dirty="0"/>
              <a:t>Statistische exploratieve technieken om patronen te identificeren in gegeven dataset.</a:t>
            </a:r>
          </a:p>
          <a:p>
            <a:endParaRPr lang="nl-NL" dirty="0"/>
          </a:p>
          <a:p>
            <a:r>
              <a:rPr lang="nl-NL" b="1" u="sng" dirty="0">
                <a:solidFill>
                  <a:srgbClr val="C00000"/>
                </a:solidFill>
              </a:rPr>
              <a:t>Factoranalyse (FA)</a:t>
            </a:r>
          </a:p>
          <a:p>
            <a:pPr lvl="1"/>
            <a:r>
              <a:rPr lang="nl-NL" dirty="0">
                <a:sym typeface="Wingdings" panose="05000000000000000000" pitchFamily="2" charset="2"/>
              </a:rPr>
              <a:t> identificatie van onderliggende </a:t>
            </a:r>
            <a:r>
              <a:rPr lang="nl-NL" dirty="0">
                <a:solidFill>
                  <a:srgbClr val="C00000"/>
                </a:solidFill>
                <a:sym typeface="Wingdings" panose="05000000000000000000" pitchFamily="2" charset="2"/>
              </a:rPr>
              <a:t>latente factoren</a:t>
            </a:r>
          </a:p>
          <a:p>
            <a:pPr lvl="1"/>
            <a:r>
              <a:rPr lang="nl-NL" dirty="0">
                <a:sym typeface="Wingdings" panose="05000000000000000000" pitchFamily="2" charset="2"/>
              </a:rPr>
              <a:t> gaat uit van de aanwezigheid van gemeenschappelijke factoren die correlaties tussen items verklaren en unieke factoren die specifiek zijn voor elke variabele (“</a:t>
            </a:r>
            <a:r>
              <a:rPr lang="nl-NL" dirty="0">
                <a:solidFill>
                  <a:srgbClr val="C00000"/>
                </a:solidFill>
                <a:sym typeface="Wingdings" panose="05000000000000000000" pitchFamily="2" charset="2"/>
              </a:rPr>
              <a:t>error</a:t>
            </a:r>
            <a:r>
              <a:rPr lang="nl-NL" dirty="0">
                <a:sym typeface="Wingdings" panose="05000000000000000000" pitchFamily="2" charset="2"/>
              </a:rPr>
              <a:t>”)</a:t>
            </a:r>
          </a:p>
          <a:p>
            <a:endParaRPr lang="nl-NL" dirty="0"/>
          </a:p>
          <a:p>
            <a:r>
              <a:rPr lang="nl-NL" b="1" u="sng" dirty="0">
                <a:solidFill>
                  <a:srgbClr val="C00000"/>
                </a:solidFill>
              </a:rPr>
              <a:t>Principale componentenanalyse (PCA)</a:t>
            </a:r>
            <a:endParaRPr lang="nl-NL" dirty="0">
              <a:sym typeface="Wingdings" panose="05000000000000000000" pitchFamily="2" charset="2"/>
            </a:endParaRPr>
          </a:p>
          <a:p>
            <a:pPr lvl="1"/>
            <a:r>
              <a:rPr lang="nl-NL" dirty="0">
                <a:sym typeface="Wingdings" panose="05000000000000000000" pitchFamily="2" charset="2"/>
              </a:rPr>
              <a:t> identificatie van </a:t>
            </a:r>
            <a:r>
              <a:rPr lang="nl-NL" dirty="0">
                <a:solidFill>
                  <a:srgbClr val="C00000"/>
                </a:solidFill>
                <a:sym typeface="Wingdings" panose="05000000000000000000" pitchFamily="2" charset="2"/>
              </a:rPr>
              <a:t>principale componenten</a:t>
            </a:r>
          </a:p>
          <a:p>
            <a:pPr lvl="1"/>
            <a:r>
              <a:rPr lang="nl-NL" dirty="0">
                <a:sym typeface="Wingdings" panose="05000000000000000000" pitchFamily="2" charset="2"/>
              </a:rPr>
              <a:t> een reeks van niet-gecorreleerde factoren die samen </a:t>
            </a:r>
            <a:r>
              <a:rPr lang="nl-NL" dirty="0">
                <a:solidFill>
                  <a:srgbClr val="C00000"/>
                </a:solidFill>
                <a:sym typeface="Wingdings" panose="05000000000000000000" pitchFamily="2" charset="2"/>
              </a:rPr>
              <a:t>100% van de variantie </a:t>
            </a:r>
            <a:r>
              <a:rPr lang="nl-NL" dirty="0">
                <a:sym typeface="Wingdings" panose="05000000000000000000" pitchFamily="2" charset="2"/>
              </a:rPr>
              <a:t>verklaren (zonder gebruik te maken van error-variantie)</a:t>
            </a:r>
          </a:p>
        </p:txBody>
      </p:sp>
      <p:sp>
        <p:nvSpPr>
          <p:cNvPr id="4" name="Tijdelijke aanduiding voor dianummer 3">
            <a:extLst>
              <a:ext uri="{FF2B5EF4-FFF2-40B4-BE49-F238E27FC236}">
                <a16:creationId xmlns:a16="http://schemas.microsoft.com/office/drawing/2014/main" id="{E27E9AF6-61D4-29DA-4919-836C86B45088}"/>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sp>
        <p:nvSpPr>
          <p:cNvPr id="5" name="Tijdelijke aanduiding voor inhoud 4">
            <a:extLst>
              <a:ext uri="{FF2B5EF4-FFF2-40B4-BE49-F238E27FC236}">
                <a16:creationId xmlns:a16="http://schemas.microsoft.com/office/drawing/2014/main" id="{0494B95B-7010-8F3E-8B8A-75202471632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4092040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66A333-866B-17E3-55DD-45F687103DFA}"/>
              </a:ext>
            </a:extLst>
          </p:cNvPr>
          <p:cNvSpPr>
            <a:spLocks noGrp="1"/>
          </p:cNvSpPr>
          <p:nvPr>
            <p:ph type="title"/>
          </p:nvPr>
        </p:nvSpPr>
        <p:spPr>
          <a:xfrm>
            <a:off x="2060294" y="123499"/>
            <a:ext cx="15125415" cy="949564"/>
          </a:xfrm>
        </p:spPr>
        <p:txBody>
          <a:bodyPr/>
          <a:lstStyle/>
          <a:p>
            <a:r>
              <a:rPr lang="nl-NL" dirty="0"/>
              <a:t>Principale componentenanalyse (</a:t>
            </a:r>
            <a:r>
              <a:rPr lang="nl-NL" dirty="0" err="1"/>
              <a:t>pca</a:t>
            </a:r>
            <a:r>
              <a:rPr lang="nl-NL" dirty="0"/>
              <a:t>) en factoranalyse (fa)</a:t>
            </a:r>
          </a:p>
        </p:txBody>
      </p:sp>
      <p:sp>
        <p:nvSpPr>
          <p:cNvPr id="3" name="Tijdelijke aanduiding voor inhoud 2">
            <a:extLst>
              <a:ext uri="{FF2B5EF4-FFF2-40B4-BE49-F238E27FC236}">
                <a16:creationId xmlns:a16="http://schemas.microsoft.com/office/drawing/2014/main" id="{8F86DC78-0338-D7B3-0A48-AA2592FAA7E5}"/>
              </a:ext>
            </a:extLst>
          </p:cNvPr>
          <p:cNvSpPr>
            <a:spLocks noGrp="1"/>
          </p:cNvSpPr>
          <p:nvPr>
            <p:ph idx="1"/>
          </p:nvPr>
        </p:nvSpPr>
        <p:spPr/>
        <p:txBody>
          <a:bodyPr>
            <a:normAutofit fontScale="92500"/>
          </a:bodyPr>
          <a:lstStyle/>
          <a:p>
            <a:r>
              <a:rPr lang="nl-NL" dirty="0"/>
              <a:t>Statistische exploratieve technieken om patronen te identificeren in gegeven dataset.</a:t>
            </a:r>
          </a:p>
          <a:p>
            <a:endParaRPr lang="nl-NL" dirty="0"/>
          </a:p>
          <a:p>
            <a:r>
              <a:rPr lang="nl-NL" b="1" u="sng" dirty="0">
                <a:solidFill>
                  <a:srgbClr val="C00000"/>
                </a:solidFill>
              </a:rPr>
              <a:t>Factoranalyse (FA)</a:t>
            </a:r>
          </a:p>
          <a:p>
            <a:pPr lvl="1"/>
            <a:r>
              <a:rPr lang="nl-NL" dirty="0">
                <a:sym typeface="Wingdings" panose="05000000000000000000" pitchFamily="2" charset="2"/>
              </a:rPr>
              <a:t> identificatie van onderliggende </a:t>
            </a:r>
            <a:r>
              <a:rPr lang="nl-NL" dirty="0">
                <a:solidFill>
                  <a:srgbClr val="C00000"/>
                </a:solidFill>
                <a:sym typeface="Wingdings" panose="05000000000000000000" pitchFamily="2" charset="2"/>
              </a:rPr>
              <a:t>latente factoren</a:t>
            </a:r>
          </a:p>
          <a:p>
            <a:pPr lvl="1"/>
            <a:r>
              <a:rPr lang="nl-NL" dirty="0">
                <a:sym typeface="Wingdings" panose="05000000000000000000" pitchFamily="2" charset="2"/>
              </a:rPr>
              <a:t> gaat uit van de aanwezigheid van gemeenschappelijke factoren die correlaties tussen items verklaren en unieke factoren die specifiek zijn voor elke variabele (“</a:t>
            </a:r>
            <a:r>
              <a:rPr lang="nl-NL" dirty="0">
                <a:solidFill>
                  <a:srgbClr val="C00000"/>
                </a:solidFill>
                <a:sym typeface="Wingdings" panose="05000000000000000000" pitchFamily="2" charset="2"/>
              </a:rPr>
              <a:t>error</a:t>
            </a:r>
            <a:r>
              <a:rPr lang="nl-NL" dirty="0">
                <a:sym typeface="Wingdings" panose="05000000000000000000" pitchFamily="2" charset="2"/>
              </a:rPr>
              <a:t>”)</a:t>
            </a:r>
          </a:p>
          <a:p>
            <a:pPr lvl="1"/>
            <a:r>
              <a:rPr lang="nl-NL" dirty="0">
                <a:sym typeface="Wingdings" panose="05000000000000000000" pitchFamily="2" charset="2"/>
              </a:rPr>
              <a:t> factoren kunnen </a:t>
            </a:r>
            <a:r>
              <a:rPr lang="nl-NL" dirty="0">
                <a:solidFill>
                  <a:srgbClr val="C00000"/>
                </a:solidFill>
                <a:sym typeface="Wingdings" panose="05000000000000000000" pitchFamily="2" charset="2"/>
              </a:rPr>
              <a:t>orthogonaal</a:t>
            </a:r>
            <a:r>
              <a:rPr lang="nl-NL" dirty="0">
                <a:sym typeface="Wingdings" panose="05000000000000000000" pitchFamily="2" charset="2"/>
              </a:rPr>
              <a:t> (geen samenhang) of </a:t>
            </a:r>
            <a:r>
              <a:rPr lang="nl-NL" dirty="0" err="1">
                <a:solidFill>
                  <a:srgbClr val="C00000"/>
                </a:solidFill>
                <a:sym typeface="Wingdings" panose="05000000000000000000" pitchFamily="2" charset="2"/>
              </a:rPr>
              <a:t>oblique</a:t>
            </a:r>
            <a:r>
              <a:rPr lang="nl-NL" dirty="0">
                <a:sym typeface="Wingdings" panose="05000000000000000000" pitchFamily="2" charset="2"/>
              </a:rPr>
              <a:t> (kunnen correleren) zijn</a:t>
            </a:r>
          </a:p>
          <a:p>
            <a:endParaRPr lang="nl-NL" dirty="0"/>
          </a:p>
          <a:p>
            <a:r>
              <a:rPr lang="nl-NL" b="1" u="sng" dirty="0">
                <a:solidFill>
                  <a:srgbClr val="C00000"/>
                </a:solidFill>
              </a:rPr>
              <a:t>Principale componentenanalyse (PCA)</a:t>
            </a:r>
            <a:endParaRPr lang="nl-NL" dirty="0">
              <a:sym typeface="Wingdings" panose="05000000000000000000" pitchFamily="2" charset="2"/>
            </a:endParaRPr>
          </a:p>
          <a:p>
            <a:pPr lvl="1"/>
            <a:r>
              <a:rPr lang="nl-NL" dirty="0">
                <a:sym typeface="Wingdings" panose="05000000000000000000" pitchFamily="2" charset="2"/>
              </a:rPr>
              <a:t> identificatie van </a:t>
            </a:r>
            <a:r>
              <a:rPr lang="nl-NL" dirty="0">
                <a:solidFill>
                  <a:srgbClr val="C00000"/>
                </a:solidFill>
                <a:sym typeface="Wingdings" panose="05000000000000000000" pitchFamily="2" charset="2"/>
              </a:rPr>
              <a:t>principale componenten</a:t>
            </a:r>
          </a:p>
          <a:p>
            <a:pPr lvl="1"/>
            <a:r>
              <a:rPr lang="nl-NL" dirty="0">
                <a:sym typeface="Wingdings" panose="05000000000000000000" pitchFamily="2" charset="2"/>
              </a:rPr>
              <a:t> een reeks van niet-gecorreleerde factoren die samen </a:t>
            </a:r>
            <a:r>
              <a:rPr lang="nl-NL" dirty="0">
                <a:solidFill>
                  <a:srgbClr val="C00000"/>
                </a:solidFill>
                <a:sym typeface="Wingdings" panose="05000000000000000000" pitchFamily="2" charset="2"/>
              </a:rPr>
              <a:t>100% van de variantie </a:t>
            </a:r>
            <a:r>
              <a:rPr lang="nl-NL" dirty="0">
                <a:sym typeface="Wingdings" panose="05000000000000000000" pitchFamily="2" charset="2"/>
              </a:rPr>
              <a:t>verklaren (zonder gebruik te maken van error-variantie)</a:t>
            </a:r>
          </a:p>
          <a:p>
            <a:pPr lvl="1"/>
            <a:r>
              <a:rPr lang="nl-NL" dirty="0">
                <a:sym typeface="Wingdings" panose="05000000000000000000" pitchFamily="2" charset="2"/>
              </a:rPr>
              <a:t> principale componenten zijn </a:t>
            </a:r>
            <a:r>
              <a:rPr lang="nl-NL" dirty="0">
                <a:solidFill>
                  <a:srgbClr val="C00000"/>
                </a:solidFill>
                <a:sym typeface="Wingdings" panose="05000000000000000000" pitchFamily="2" charset="2"/>
              </a:rPr>
              <a:t>orthogonaal</a:t>
            </a:r>
            <a:r>
              <a:rPr lang="nl-NL" dirty="0">
                <a:sym typeface="Wingdings" panose="05000000000000000000" pitchFamily="2" charset="2"/>
              </a:rPr>
              <a:t> (niet gecorreleerd)</a:t>
            </a:r>
          </a:p>
        </p:txBody>
      </p:sp>
      <p:sp>
        <p:nvSpPr>
          <p:cNvPr id="4" name="Tijdelijke aanduiding voor dianummer 3">
            <a:extLst>
              <a:ext uri="{FF2B5EF4-FFF2-40B4-BE49-F238E27FC236}">
                <a16:creationId xmlns:a16="http://schemas.microsoft.com/office/drawing/2014/main" id="{E27E9AF6-61D4-29DA-4919-836C86B45088}"/>
              </a:ext>
            </a:extLst>
          </p:cNvPr>
          <p:cNvSpPr>
            <a:spLocks noGrp="1"/>
          </p:cNvSpPr>
          <p:nvPr>
            <p:ph type="sldNum" sz="quarter" idx="12"/>
          </p:nvPr>
        </p:nvSpPr>
        <p:spPr/>
        <p:txBody>
          <a:bodyPr/>
          <a:lstStyle/>
          <a:p>
            <a:fld id="{7AE184E0-0BD4-4705-A12B-9B71DDE63301}" type="slidenum">
              <a:rPr lang="en-GB" noProof="0" smtClean="0"/>
              <a:t>11</a:t>
            </a:fld>
            <a:endParaRPr lang="en-GB" noProof="0" dirty="0"/>
          </a:p>
        </p:txBody>
      </p:sp>
      <p:sp>
        <p:nvSpPr>
          <p:cNvPr id="5" name="Tijdelijke aanduiding voor inhoud 4">
            <a:extLst>
              <a:ext uri="{FF2B5EF4-FFF2-40B4-BE49-F238E27FC236}">
                <a16:creationId xmlns:a16="http://schemas.microsoft.com/office/drawing/2014/main" id="{0494B95B-7010-8F3E-8B8A-75202471632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369736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66A333-866B-17E3-55DD-45F687103DFA}"/>
              </a:ext>
            </a:extLst>
          </p:cNvPr>
          <p:cNvSpPr>
            <a:spLocks noGrp="1"/>
          </p:cNvSpPr>
          <p:nvPr>
            <p:ph type="title"/>
          </p:nvPr>
        </p:nvSpPr>
        <p:spPr>
          <a:xfrm>
            <a:off x="2060294" y="123499"/>
            <a:ext cx="15125415" cy="949564"/>
          </a:xfrm>
        </p:spPr>
        <p:txBody>
          <a:bodyPr/>
          <a:lstStyle/>
          <a:p>
            <a:r>
              <a:rPr lang="nl-NL" dirty="0"/>
              <a:t>Principale componentenanalyse (</a:t>
            </a:r>
            <a:r>
              <a:rPr lang="nl-NL" dirty="0" err="1"/>
              <a:t>pca</a:t>
            </a:r>
            <a:r>
              <a:rPr lang="nl-NL" dirty="0"/>
              <a:t>) en factoranalyse (fa)</a:t>
            </a:r>
          </a:p>
        </p:txBody>
      </p:sp>
      <p:sp>
        <p:nvSpPr>
          <p:cNvPr id="3" name="Tijdelijke aanduiding voor inhoud 2">
            <a:extLst>
              <a:ext uri="{FF2B5EF4-FFF2-40B4-BE49-F238E27FC236}">
                <a16:creationId xmlns:a16="http://schemas.microsoft.com/office/drawing/2014/main" id="{8F86DC78-0338-D7B3-0A48-AA2592FAA7E5}"/>
              </a:ext>
            </a:extLst>
          </p:cNvPr>
          <p:cNvSpPr>
            <a:spLocks noGrp="1"/>
          </p:cNvSpPr>
          <p:nvPr>
            <p:ph idx="1"/>
          </p:nvPr>
        </p:nvSpPr>
        <p:spPr/>
        <p:txBody>
          <a:bodyPr>
            <a:normAutofit fontScale="77500" lnSpcReduction="20000"/>
          </a:bodyPr>
          <a:lstStyle/>
          <a:p>
            <a:r>
              <a:rPr lang="nl-NL" dirty="0"/>
              <a:t>Statistische exploratieve technieken om patronen te identificeren in gegeven dataset.</a:t>
            </a:r>
          </a:p>
          <a:p>
            <a:endParaRPr lang="nl-NL" dirty="0"/>
          </a:p>
          <a:p>
            <a:r>
              <a:rPr lang="nl-NL" b="1" u="sng" dirty="0">
                <a:solidFill>
                  <a:srgbClr val="C00000"/>
                </a:solidFill>
              </a:rPr>
              <a:t>Factoranalyse (FA)</a:t>
            </a:r>
          </a:p>
          <a:p>
            <a:pPr lvl="1"/>
            <a:r>
              <a:rPr lang="nl-NL" dirty="0">
                <a:sym typeface="Wingdings" panose="05000000000000000000" pitchFamily="2" charset="2"/>
              </a:rPr>
              <a:t> identificatie van onderliggende </a:t>
            </a:r>
            <a:r>
              <a:rPr lang="nl-NL" dirty="0">
                <a:solidFill>
                  <a:srgbClr val="C00000"/>
                </a:solidFill>
                <a:sym typeface="Wingdings" panose="05000000000000000000" pitchFamily="2" charset="2"/>
              </a:rPr>
              <a:t>latente factoren</a:t>
            </a:r>
          </a:p>
          <a:p>
            <a:pPr lvl="1"/>
            <a:r>
              <a:rPr lang="nl-NL" dirty="0">
                <a:sym typeface="Wingdings" panose="05000000000000000000" pitchFamily="2" charset="2"/>
              </a:rPr>
              <a:t> gaat uit van de aanwezigheid van gemeenschappelijke factoren die correlaties tussen items verklaren en unieke factoren die specifiek zijn voor elke variabele (“</a:t>
            </a:r>
            <a:r>
              <a:rPr lang="nl-NL" dirty="0">
                <a:solidFill>
                  <a:srgbClr val="C00000"/>
                </a:solidFill>
                <a:sym typeface="Wingdings" panose="05000000000000000000" pitchFamily="2" charset="2"/>
              </a:rPr>
              <a:t>error</a:t>
            </a:r>
            <a:r>
              <a:rPr lang="nl-NL" dirty="0">
                <a:sym typeface="Wingdings" panose="05000000000000000000" pitchFamily="2" charset="2"/>
              </a:rPr>
              <a:t>”)</a:t>
            </a:r>
          </a:p>
          <a:p>
            <a:pPr lvl="1"/>
            <a:r>
              <a:rPr lang="nl-NL" dirty="0">
                <a:sym typeface="Wingdings" panose="05000000000000000000" pitchFamily="2" charset="2"/>
              </a:rPr>
              <a:t> factoren kunnen </a:t>
            </a:r>
            <a:r>
              <a:rPr lang="nl-NL" dirty="0">
                <a:solidFill>
                  <a:srgbClr val="C00000"/>
                </a:solidFill>
                <a:sym typeface="Wingdings" panose="05000000000000000000" pitchFamily="2" charset="2"/>
              </a:rPr>
              <a:t>orthogonaal</a:t>
            </a:r>
            <a:r>
              <a:rPr lang="nl-NL" dirty="0">
                <a:sym typeface="Wingdings" panose="05000000000000000000" pitchFamily="2" charset="2"/>
              </a:rPr>
              <a:t> (geen samenhang) of </a:t>
            </a:r>
            <a:r>
              <a:rPr lang="nl-NL" dirty="0" err="1">
                <a:solidFill>
                  <a:srgbClr val="C00000"/>
                </a:solidFill>
                <a:sym typeface="Wingdings" panose="05000000000000000000" pitchFamily="2" charset="2"/>
              </a:rPr>
              <a:t>oblique</a:t>
            </a:r>
            <a:r>
              <a:rPr lang="nl-NL" dirty="0">
                <a:sym typeface="Wingdings" panose="05000000000000000000" pitchFamily="2" charset="2"/>
              </a:rPr>
              <a:t> (kunnen correleren) zijn</a:t>
            </a:r>
          </a:p>
          <a:p>
            <a:pPr lvl="1"/>
            <a:r>
              <a:rPr lang="nl-NL" dirty="0">
                <a:sym typeface="Wingdings" panose="05000000000000000000" pitchFamily="2" charset="2"/>
              </a:rPr>
              <a:t> factoren worden vaak geïnterpreteerd en benoemd op basis van de items die sterk laden op elke factor</a:t>
            </a:r>
          </a:p>
          <a:p>
            <a:pPr lvl="1"/>
            <a:endParaRPr lang="nl-NL" dirty="0"/>
          </a:p>
          <a:p>
            <a:endParaRPr lang="nl-NL" dirty="0"/>
          </a:p>
          <a:p>
            <a:r>
              <a:rPr lang="nl-NL" b="1" u="sng" dirty="0">
                <a:solidFill>
                  <a:srgbClr val="C00000"/>
                </a:solidFill>
              </a:rPr>
              <a:t>Principale componentenanalyse (PCA)</a:t>
            </a:r>
            <a:endParaRPr lang="nl-NL" dirty="0">
              <a:sym typeface="Wingdings" panose="05000000000000000000" pitchFamily="2" charset="2"/>
            </a:endParaRPr>
          </a:p>
          <a:p>
            <a:pPr lvl="1"/>
            <a:r>
              <a:rPr lang="nl-NL" dirty="0">
                <a:sym typeface="Wingdings" panose="05000000000000000000" pitchFamily="2" charset="2"/>
              </a:rPr>
              <a:t> identificatie van </a:t>
            </a:r>
            <a:r>
              <a:rPr lang="nl-NL" dirty="0">
                <a:solidFill>
                  <a:srgbClr val="C00000"/>
                </a:solidFill>
                <a:sym typeface="Wingdings" panose="05000000000000000000" pitchFamily="2" charset="2"/>
              </a:rPr>
              <a:t>principale componenten</a:t>
            </a:r>
          </a:p>
          <a:p>
            <a:pPr lvl="1"/>
            <a:r>
              <a:rPr lang="nl-NL" dirty="0">
                <a:sym typeface="Wingdings" panose="05000000000000000000" pitchFamily="2" charset="2"/>
              </a:rPr>
              <a:t> een reeks van niet-gecorreleerde factoren die samen </a:t>
            </a:r>
            <a:r>
              <a:rPr lang="nl-NL" dirty="0">
                <a:solidFill>
                  <a:srgbClr val="C00000"/>
                </a:solidFill>
                <a:sym typeface="Wingdings" panose="05000000000000000000" pitchFamily="2" charset="2"/>
              </a:rPr>
              <a:t>100% van de variantie </a:t>
            </a:r>
            <a:r>
              <a:rPr lang="nl-NL" dirty="0">
                <a:sym typeface="Wingdings" panose="05000000000000000000" pitchFamily="2" charset="2"/>
              </a:rPr>
              <a:t>verklaren (zonder gebruik te maken van error-variantie)</a:t>
            </a:r>
          </a:p>
          <a:p>
            <a:pPr lvl="1"/>
            <a:r>
              <a:rPr lang="nl-NL" dirty="0">
                <a:sym typeface="Wingdings" panose="05000000000000000000" pitchFamily="2" charset="2"/>
              </a:rPr>
              <a:t> principale componenten zijn </a:t>
            </a:r>
            <a:r>
              <a:rPr lang="nl-NL" dirty="0">
                <a:solidFill>
                  <a:srgbClr val="C00000"/>
                </a:solidFill>
                <a:sym typeface="Wingdings" panose="05000000000000000000" pitchFamily="2" charset="2"/>
              </a:rPr>
              <a:t>orthogonaal</a:t>
            </a:r>
            <a:r>
              <a:rPr lang="nl-NL" dirty="0">
                <a:sym typeface="Wingdings" panose="05000000000000000000" pitchFamily="2" charset="2"/>
              </a:rPr>
              <a:t> (niet gecorreleerd)</a:t>
            </a:r>
          </a:p>
          <a:p>
            <a:pPr lvl="1"/>
            <a:r>
              <a:rPr lang="nl-NL" dirty="0">
                <a:sym typeface="Wingdings" panose="05000000000000000000" pitchFamily="2" charset="2"/>
              </a:rPr>
              <a:t> principale componenten zijn niet noodzakelijkerwijs direct te interpreteren in termen van de oorspronkelijke variabelen.</a:t>
            </a:r>
          </a:p>
        </p:txBody>
      </p:sp>
      <p:sp>
        <p:nvSpPr>
          <p:cNvPr id="4" name="Tijdelijke aanduiding voor dianummer 3">
            <a:extLst>
              <a:ext uri="{FF2B5EF4-FFF2-40B4-BE49-F238E27FC236}">
                <a16:creationId xmlns:a16="http://schemas.microsoft.com/office/drawing/2014/main" id="{E27E9AF6-61D4-29DA-4919-836C86B45088}"/>
              </a:ext>
            </a:extLst>
          </p:cNvPr>
          <p:cNvSpPr>
            <a:spLocks noGrp="1"/>
          </p:cNvSpPr>
          <p:nvPr>
            <p:ph type="sldNum" sz="quarter" idx="12"/>
          </p:nvPr>
        </p:nvSpPr>
        <p:spPr/>
        <p:txBody>
          <a:bodyPr/>
          <a:lstStyle/>
          <a:p>
            <a:fld id="{7AE184E0-0BD4-4705-A12B-9B71DDE63301}" type="slidenum">
              <a:rPr lang="en-GB" noProof="0" smtClean="0"/>
              <a:t>12</a:t>
            </a:fld>
            <a:endParaRPr lang="en-GB" noProof="0" dirty="0"/>
          </a:p>
        </p:txBody>
      </p:sp>
      <p:sp>
        <p:nvSpPr>
          <p:cNvPr id="5" name="Tijdelijke aanduiding voor inhoud 4">
            <a:extLst>
              <a:ext uri="{FF2B5EF4-FFF2-40B4-BE49-F238E27FC236}">
                <a16:creationId xmlns:a16="http://schemas.microsoft.com/office/drawing/2014/main" id="{0494B95B-7010-8F3E-8B8A-75202471632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944763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E0A692-7C86-A3B2-57BF-0A9235F8B5B3}"/>
              </a:ext>
            </a:extLst>
          </p:cNvPr>
          <p:cNvSpPr>
            <a:spLocks noGrp="1"/>
          </p:cNvSpPr>
          <p:nvPr>
            <p:ph type="title"/>
          </p:nvPr>
        </p:nvSpPr>
        <p:spPr/>
        <p:txBody>
          <a:bodyPr/>
          <a:lstStyle/>
          <a:p>
            <a:r>
              <a:rPr lang="nl-NL" dirty="0"/>
              <a:t>visuele voorstelling van verschillen tussen </a:t>
            </a:r>
            <a:r>
              <a:rPr lang="nl-NL" dirty="0" err="1"/>
              <a:t>pca</a:t>
            </a:r>
            <a:r>
              <a:rPr lang="nl-NL" dirty="0"/>
              <a:t> en fa</a:t>
            </a:r>
            <a:endParaRPr lang="nl-BE" dirty="0"/>
          </a:p>
        </p:txBody>
      </p:sp>
      <p:sp>
        <p:nvSpPr>
          <p:cNvPr id="4" name="Tijdelijke aanduiding voor dianummer 3">
            <a:extLst>
              <a:ext uri="{FF2B5EF4-FFF2-40B4-BE49-F238E27FC236}">
                <a16:creationId xmlns:a16="http://schemas.microsoft.com/office/drawing/2014/main" id="{3170E431-1E86-72F3-FAC5-8AF7AECEB840}"/>
              </a:ext>
            </a:extLst>
          </p:cNvPr>
          <p:cNvSpPr>
            <a:spLocks noGrp="1"/>
          </p:cNvSpPr>
          <p:nvPr>
            <p:ph type="sldNum" sz="quarter" idx="12"/>
          </p:nvPr>
        </p:nvSpPr>
        <p:spPr/>
        <p:txBody>
          <a:bodyPr/>
          <a:lstStyle/>
          <a:p>
            <a:fld id="{7AE184E0-0BD4-4705-A12B-9B71DDE63301}" type="slidenum">
              <a:rPr lang="en-GB" noProof="0" smtClean="0"/>
              <a:t>13</a:t>
            </a:fld>
            <a:endParaRPr lang="en-GB" noProof="0" dirty="0"/>
          </a:p>
        </p:txBody>
      </p:sp>
      <p:grpSp>
        <p:nvGrpSpPr>
          <p:cNvPr id="55" name="Groep 54">
            <a:extLst>
              <a:ext uri="{FF2B5EF4-FFF2-40B4-BE49-F238E27FC236}">
                <a16:creationId xmlns:a16="http://schemas.microsoft.com/office/drawing/2014/main" id="{7695E762-3179-F512-76FC-8417DA5F3D59}"/>
              </a:ext>
            </a:extLst>
          </p:cNvPr>
          <p:cNvGrpSpPr/>
          <p:nvPr/>
        </p:nvGrpSpPr>
        <p:grpSpPr>
          <a:xfrm>
            <a:off x="1616827" y="2734613"/>
            <a:ext cx="5137262" cy="6174411"/>
            <a:chOff x="1612672" y="1959917"/>
            <a:chExt cx="5137262" cy="6174411"/>
          </a:xfrm>
        </p:grpSpPr>
        <p:sp>
          <p:nvSpPr>
            <p:cNvPr id="12" name="Stroomdiagram: Verbindingslijn 11">
              <a:extLst>
                <a:ext uri="{FF2B5EF4-FFF2-40B4-BE49-F238E27FC236}">
                  <a16:creationId xmlns:a16="http://schemas.microsoft.com/office/drawing/2014/main" id="{3FBA7C5E-15C0-0674-11FD-6175D4468855}"/>
                </a:ext>
              </a:extLst>
            </p:cNvPr>
            <p:cNvSpPr/>
            <p:nvPr/>
          </p:nvSpPr>
          <p:spPr>
            <a:xfrm>
              <a:off x="5320146" y="3024985"/>
              <a:ext cx="1429788" cy="1152682"/>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pc1</a:t>
              </a:r>
              <a:endParaRPr lang="nl-BE" sz="3600" b="1" dirty="0"/>
            </a:p>
          </p:txBody>
        </p:sp>
        <p:sp>
          <p:nvSpPr>
            <p:cNvPr id="13" name="Stroomdiagram: Verbindingslijn 12">
              <a:extLst>
                <a:ext uri="{FF2B5EF4-FFF2-40B4-BE49-F238E27FC236}">
                  <a16:creationId xmlns:a16="http://schemas.microsoft.com/office/drawing/2014/main" id="{C946138F-DCE6-FC81-E34B-6C4ACBDF87E9}"/>
                </a:ext>
              </a:extLst>
            </p:cNvPr>
            <p:cNvSpPr/>
            <p:nvPr/>
          </p:nvSpPr>
          <p:spPr>
            <a:xfrm>
              <a:off x="5320146" y="6452897"/>
              <a:ext cx="1429788" cy="1152682"/>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pc2</a:t>
              </a:r>
              <a:endParaRPr lang="nl-BE" sz="3600" b="1" dirty="0"/>
            </a:p>
          </p:txBody>
        </p:sp>
        <p:cxnSp>
          <p:nvCxnSpPr>
            <p:cNvPr id="18" name="Rechte verbindingslijn met pijl 17">
              <a:extLst>
                <a:ext uri="{FF2B5EF4-FFF2-40B4-BE49-F238E27FC236}">
                  <a16:creationId xmlns:a16="http://schemas.microsoft.com/office/drawing/2014/main" id="{4A931D8C-C9E6-E55F-7F55-E213FDC48A12}"/>
                </a:ext>
              </a:extLst>
            </p:cNvPr>
            <p:cNvCxnSpPr>
              <a:cxnSpLocks/>
            </p:cNvCxnSpPr>
            <p:nvPr/>
          </p:nvCxnSpPr>
          <p:spPr>
            <a:xfrm>
              <a:off x="2775189" y="2345924"/>
              <a:ext cx="2544957" cy="113000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20" name="Rechthoek 19">
              <a:extLst>
                <a:ext uri="{FF2B5EF4-FFF2-40B4-BE49-F238E27FC236}">
                  <a16:creationId xmlns:a16="http://schemas.microsoft.com/office/drawing/2014/main" id="{C5C16E15-AA4E-5DBE-6A12-D761E9051BEC}"/>
                </a:ext>
              </a:extLst>
            </p:cNvPr>
            <p:cNvSpPr/>
            <p:nvPr/>
          </p:nvSpPr>
          <p:spPr>
            <a:xfrm>
              <a:off x="1616827" y="1959917"/>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X1</a:t>
              </a:r>
              <a:endParaRPr lang="nl-BE" sz="3600" b="1" dirty="0"/>
            </a:p>
          </p:txBody>
        </p:sp>
        <p:cxnSp>
          <p:nvCxnSpPr>
            <p:cNvPr id="22" name="Rechte verbindingslijn met pijl 21">
              <a:extLst>
                <a:ext uri="{FF2B5EF4-FFF2-40B4-BE49-F238E27FC236}">
                  <a16:creationId xmlns:a16="http://schemas.microsoft.com/office/drawing/2014/main" id="{E17C0791-0AD3-BC61-55C2-C17DCBD7E7EF}"/>
                </a:ext>
              </a:extLst>
            </p:cNvPr>
            <p:cNvCxnSpPr>
              <a:cxnSpLocks/>
            </p:cNvCxnSpPr>
            <p:nvPr/>
          </p:nvCxnSpPr>
          <p:spPr>
            <a:xfrm flipV="1">
              <a:off x="2775189" y="3601326"/>
              <a:ext cx="2544957" cy="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24" name="Rechte verbindingslijn met pijl 23">
              <a:extLst>
                <a:ext uri="{FF2B5EF4-FFF2-40B4-BE49-F238E27FC236}">
                  <a16:creationId xmlns:a16="http://schemas.microsoft.com/office/drawing/2014/main" id="{47EF9BBD-D103-31BE-C143-B72B7F1C2E77}"/>
                </a:ext>
              </a:extLst>
            </p:cNvPr>
            <p:cNvCxnSpPr>
              <a:cxnSpLocks/>
            </p:cNvCxnSpPr>
            <p:nvPr/>
          </p:nvCxnSpPr>
          <p:spPr>
            <a:xfrm flipV="1">
              <a:off x="2775189" y="3721507"/>
              <a:ext cx="2544957" cy="115268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25" name="Rechthoek 24">
              <a:extLst>
                <a:ext uri="{FF2B5EF4-FFF2-40B4-BE49-F238E27FC236}">
                  <a16:creationId xmlns:a16="http://schemas.microsoft.com/office/drawing/2014/main" id="{3B431A83-D36D-5E43-3BF6-5405E73B47C2}"/>
                </a:ext>
              </a:extLst>
            </p:cNvPr>
            <p:cNvSpPr/>
            <p:nvPr/>
          </p:nvSpPr>
          <p:spPr>
            <a:xfrm>
              <a:off x="1616827" y="3152783"/>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X2</a:t>
              </a:r>
              <a:endParaRPr lang="nl-BE" sz="3600" b="1" dirty="0"/>
            </a:p>
          </p:txBody>
        </p:sp>
        <p:sp>
          <p:nvSpPr>
            <p:cNvPr id="26" name="Rechthoek 25">
              <a:extLst>
                <a:ext uri="{FF2B5EF4-FFF2-40B4-BE49-F238E27FC236}">
                  <a16:creationId xmlns:a16="http://schemas.microsoft.com/office/drawing/2014/main" id="{92D30EAC-3B66-E5AC-7F3D-F24D2A29B482}"/>
                </a:ext>
              </a:extLst>
            </p:cNvPr>
            <p:cNvSpPr/>
            <p:nvPr/>
          </p:nvSpPr>
          <p:spPr>
            <a:xfrm>
              <a:off x="1612672" y="4325369"/>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X3</a:t>
              </a:r>
              <a:endParaRPr lang="nl-BE" sz="3600" b="1" dirty="0"/>
            </a:p>
          </p:txBody>
        </p:sp>
        <p:cxnSp>
          <p:nvCxnSpPr>
            <p:cNvPr id="29" name="Rechte verbindingslijn met pijl 28">
              <a:extLst>
                <a:ext uri="{FF2B5EF4-FFF2-40B4-BE49-F238E27FC236}">
                  <a16:creationId xmlns:a16="http://schemas.microsoft.com/office/drawing/2014/main" id="{820DD1F1-26CB-68FE-5EED-6B4F9962FAF4}"/>
                </a:ext>
              </a:extLst>
            </p:cNvPr>
            <p:cNvCxnSpPr>
              <a:cxnSpLocks/>
              <a:endCxn id="13" idx="2"/>
            </p:cNvCxnSpPr>
            <p:nvPr/>
          </p:nvCxnSpPr>
          <p:spPr>
            <a:xfrm>
              <a:off x="2775189" y="6452897"/>
              <a:ext cx="2544957" cy="57634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31" name="Rechte verbindingslijn met pijl 30">
              <a:extLst>
                <a:ext uri="{FF2B5EF4-FFF2-40B4-BE49-F238E27FC236}">
                  <a16:creationId xmlns:a16="http://schemas.microsoft.com/office/drawing/2014/main" id="{52ADA58D-3D67-EA99-D47D-52B0F330761A}"/>
                </a:ext>
              </a:extLst>
            </p:cNvPr>
            <p:cNvCxnSpPr>
              <a:cxnSpLocks/>
            </p:cNvCxnSpPr>
            <p:nvPr/>
          </p:nvCxnSpPr>
          <p:spPr>
            <a:xfrm flipV="1">
              <a:off x="2775189" y="7219735"/>
              <a:ext cx="2544957" cy="488565"/>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32" name="Rechthoek 31">
              <a:extLst>
                <a:ext uri="{FF2B5EF4-FFF2-40B4-BE49-F238E27FC236}">
                  <a16:creationId xmlns:a16="http://schemas.microsoft.com/office/drawing/2014/main" id="{9E5695D2-D3E5-7C44-EB69-F4DFFFA460F7}"/>
                </a:ext>
              </a:extLst>
            </p:cNvPr>
            <p:cNvSpPr/>
            <p:nvPr/>
          </p:nvSpPr>
          <p:spPr>
            <a:xfrm>
              <a:off x="1612672" y="6026704"/>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X4</a:t>
              </a:r>
              <a:endParaRPr lang="nl-BE" sz="3600" b="1" dirty="0"/>
            </a:p>
          </p:txBody>
        </p:sp>
        <p:sp>
          <p:nvSpPr>
            <p:cNvPr id="33" name="Rechthoek 32">
              <a:extLst>
                <a:ext uri="{FF2B5EF4-FFF2-40B4-BE49-F238E27FC236}">
                  <a16:creationId xmlns:a16="http://schemas.microsoft.com/office/drawing/2014/main" id="{A0507CCB-1BA0-65E9-6021-68E3499F3545}"/>
                </a:ext>
              </a:extLst>
            </p:cNvPr>
            <p:cNvSpPr/>
            <p:nvPr/>
          </p:nvSpPr>
          <p:spPr>
            <a:xfrm>
              <a:off x="1612672" y="7282272"/>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X5</a:t>
              </a:r>
              <a:endParaRPr lang="nl-BE" sz="3600" b="1" dirty="0"/>
            </a:p>
          </p:txBody>
        </p:sp>
      </p:grpSp>
      <p:grpSp>
        <p:nvGrpSpPr>
          <p:cNvPr id="56" name="Groep 55">
            <a:extLst>
              <a:ext uri="{FF2B5EF4-FFF2-40B4-BE49-F238E27FC236}">
                <a16:creationId xmlns:a16="http://schemas.microsoft.com/office/drawing/2014/main" id="{E9EFFBD6-8B16-B1C8-9BEC-D499BF61C255}"/>
              </a:ext>
            </a:extLst>
          </p:cNvPr>
          <p:cNvGrpSpPr/>
          <p:nvPr/>
        </p:nvGrpSpPr>
        <p:grpSpPr>
          <a:xfrm>
            <a:off x="11210736" y="2936285"/>
            <a:ext cx="5800871" cy="5972739"/>
            <a:chOff x="11177853" y="2058868"/>
            <a:chExt cx="5800871" cy="5972739"/>
          </a:xfrm>
        </p:grpSpPr>
        <p:sp>
          <p:nvSpPr>
            <p:cNvPr id="34" name="Rechthoek 33">
              <a:extLst>
                <a:ext uri="{FF2B5EF4-FFF2-40B4-BE49-F238E27FC236}">
                  <a16:creationId xmlns:a16="http://schemas.microsoft.com/office/drawing/2014/main" id="{EC5E07FC-C328-39F5-D2E7-8F0A337F5692}"/>
                </a:ext>
              </a:extLst>
            </p:cNvPr>
            <p:cNvSpPr/>
            <p:nvPr/>
          </p:nvSpPr>
          <p:spPr>
            <a:xfrm>
              <a:off x="11177853" y="2058868"/>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X1</a:t>
              </a:r>
              <a:endParaRPr lang="nl-BE" sz="3600" b="1" dirty="0"/>
            </a:p>
          </p:txBody>
        </p:sp>
        <p:sp>
          <p:nvSpPr>
            <p:cNvPr id="35" name="Rechthoek 34">
              <a:extLst>
                <a:ext uri="{FF2B5EF4-FFF2-40B4-BE49-F238E27FC236}">
                  <a16:creationId xmlns:a16="http://schemas.microsoft.com/office/drawing/2014/main" id="{82D10455-52F4-34A6-8C52-388ABB11541D}"/>
                </a:ext>
              </a:extLst>
            </p:cNvPr>
            <p:cNvSpPr/>
            <p:nvPr/>
          </p:nvSpPr>
          <p:spPr>
            <a:xfrm>
              <a:off x="11186163" y="3107255"/>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X2</a:t>
              </a:r>
              <a:endParaRPr lang="nl-BE" sz="3600" b="1" dirty="0"/>
            </a:p>
          </p:txBody>
        </p:sp>
        <p:sp>
          <p:nvSpPr>
            <p:cNvPr id="36" name="Rechthoek 35">
              <a:extLst>
                <a:ext uri="{FF2B5EF4-FFF2-40B4-BE49-F238E27FC236}">
                  <a16:creationId xmlns:a16="http://schemas.microsoft.com/office/drawing/2014/main" id="{A18529C7-C212-99F1-3646-7FB9042DC310}"/>
                </a:ext>
              </a:extLst>
            </p:cNvPr>
            <p:cNvSpPr/>
            <p:nvPr/>
          </p:nvSpPr>
          <p:spPr>
            <a:xfrm>
              <a:off x="11186163" y="4196397"/>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X3</a:t>
              </a:r>
              <a:endParaRPr lang="nl-BE" sz="3600" b="1" dirty="0"/>
            </a:p>
          </p:txBody>
        </p:sp>
        <p:sp>
          <p:nvSpPr>
            <p:cNvPr id="37" name="Rechthoek 36">
              <a:extLst>
                <a:ext uri="{FF2B5EF4-FFF2-40B4-BE49-F238E27FC236}">
                  <a16:creationId xmlns:a16="http://schemas.microsoft.com/office/drawing/2014/main" id="{281E9CC2-BA8E-AAFB-6BFE-EF155B72BF1A}"/>
                </a:ext>
              </a:extLst>
            </p:cNvPr>
            <p:cNvSpPr/>
            <p:nvPr/>
          </p:nvSpPr>
          <p:spPr>
            <a:xfrm>
              <a:off x="11193090" y="5889011"/>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X4</a:t>
              </a:r>
              <a:endParaRPr lang="nl-BE" sz="3600" b="1" dirty="0"/>
            </a:p>
          </p:txBody>
        </p:sp>
        <p:sp>
          <p:nvSpPr>
            <p:cNvPr id="38" name="Rechthoek 37">
              <a:extLst>
                <a:ext uri="{FF2B5EF4-FFF2-40B4-BE49-F238E27FC236}">
                  <a16:creationId xmlns:a16="http://schemas.microsoft.com/office/drawing/2014/main" id="{3653AC41-836A-144A-DEF3-B09D346F03D7}"/>
                </a:ext>
              </a:extLst>
            </p:cNvPr>
            <p:cNvSpPr/>
            <p:nvPr/>
          </p:nvSpPr>
          <p:spPr>
            <a:xfrm>
              <a:off x="11193090" y="7179551"/>
              <a:ext cx="1429788" cy="8520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X5</a:t>
              </a:r>
              <a:endParaRPr lang="nl-BE" sz="3600" b="1" dirty="0"/>
            </a:p>
          </p:txBody>
        </p:sp>
        <p:cxnSp>
          <p:nvCxnSpPr>
            <p:cNvPr id="42" name="Rechte verbindingslijn met pijl 41">
              <a:extLst>
                <a:ext uri="{FF2B5EF4-FFF2-40B4-BE49-F238E27FC236}">
                  <a16:creationId xmlns:a16="http://schemas.microsoft.com/office/drawing/2014/main" id="{3959108E-5FAA-DB24-FE92-2537499087B9}"/>
                </a:ext>
              </a:extLst>
            </p:cNvPr>
            <p:cNvCxnSpPr>
              <a:cxnSpLocks/>
            </p:cNvCxnSpPr>
            <p:nvPr/>
          </p:nvCxnSpPr>
          <p:spPr>
            <a:xfrm>
              <a:off x="12615951" y="2484896"/>
              <a:ext cx="3105897" cy="991029"/>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45" name="Rechte verbindingslijn met pijl 44">
              <a:extLst>
                <a:ext uri="{FF2B5EF4-FFF2-40B4-BE49-F238E27FC236}">
                  <a16:creationId xmlns:a16="http://schemas.microsoft.com/office/drawing/2014/main" id="{276836F3-8B53-4EAF-4B8E-BDC152864B3C}"/>
                </a:ext>
              </a:extLst>
            </p:cNvPr>
            <p:cNvCxnSpPr>
              <a:stCxn id="35" idx="3"/>
            </p:cNvCxnSpPr>
            <p:nvPr/>
          </p:nvCxnSpPr>
          <p:spPr>
            <a:xfrm>
              <a:off x="12615951" y="3533283"/>
              <a:ext cx="3105897" cy="68043"/>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47" name="Rechte verbindingslijn met pijl 46">
              <a:extLst>
                <a:ext uri="{FF2B5EF4-FFF2-40B4-BE49-F238E27FC236}">
                  <a16:creationId xmlns:a16="http://schemas.microsoft.com/office/drawing/2014/main" id="{EB5562C6-0E26-F8F1-6AF2-8C6626B996FE}"/>
                </a:ext>
              </a:extLst>
            </p:cNvPr>
            <p:cNvCxnSpPr>
              <a:stCxn id="36" idx="3"/>
            </p:cNvCxnSpPr>
            <p:nvPr/>
          </p:nvCxnSpPr>
          <p:spPr>
            <a:xfrm flipV="1">
              <a:off x="12615951" y="3661145"/>
              <a:ext cx="3105897" cy="96128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48" name="Stroomdiagram: Verbindingslijn 47">
              <a:extLst>
                <a:ext uri="{FF2B5EF4-FFF2-40B4-BE49-F238E27FC236}">
                  <a16:creationId xmlns:a16="http://schemas.microsoft.com/office/drawing/2014/main" id="{B7F54F10-8142-14BE-E563-2E9FDB5603FF}"/>
                </a:ext>
              </a:extLst>
            </p:cNvPr>
            <p:cNvSpPr/>
            <p:nvPr/>
          </p:nvSpPr>
          <p:spPr>
            <a:xfrm>
              <a:off x="15548936" y="2956942"/>
              <a:ext cx="1429788" cy="1152682"/>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F1</a:t>
              </a:r>
              <a:endParaRPr lang="nl-BE" sz="3600" b="1" dirty="0"/>
            </a:p>
          </p:txBody>
        </p:sp>
        <p:cxnSp>
          <p:nvCxnSpPr>
            <p:cNvPr id="50" name="Rechte verbindingslijn met pijl 49">
              <a:extLst>
                <a:ext uri="{FF2B5EF4-FFF2-40B4-BE49-F238E27FC236}">
                  <a16:creationId xmlns:a16="http://schemas.microsoft.com/office/drawing/2014/main" id="{E3AA6734-6D1A-E680-34F6-29493340DAEC}"/>
                </a:ext>
              </a:extLst>
            </p:cNvPr>
            <p:cNvCxnSpPr>
              <a:cxnSpLocks/>
              <a:stCxn id="37" idx="3"/>
            </p:cNvCxnSpPr>
            <p:nvPr/>
          </p:nvCxnSpPr>
          <p:spPr>
            <a:xfrm>
              <a:off x="12622878" y="6315039"/>
              <a:ext cx="3098970" cy="56372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53" name="Rechte verbindingslijn met pijl 52">
              <a:extLst>
                <a:ext uri="{FF2B5EF4-FFF2-40B4-BE49-F238E27FC236}">
                  <a16:creationId xmlns:a16="http://schemas.microsoft.com/office/drawing/2014/main" id="{828D7F6C-BF47-3D54-66D7-36178E5AE841}"/>
                </a:ext>
              </a:extLst>
            </p:cNvPr>
            <p:cNvCxnSpPr>
              <a:stCxn id="38" idx="3"/>
            </p:cNvCxnSpPr>
            <p:nvPr/>
          </p:nvCxnSpPr>
          <p:spPr>
            <a:xfrm flipV="1">
              <a:off x="12622878" y="7029238"/>
              <a:ext cx="3098970" cy="576341"/>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54" name="Stroomdiagram: Verbindingslijn 53">
              <a:extLst>
                <a:ext uri="{FF2B5EF4-FFF2-40B4-BE49-F238E27FC236}">
                  <a16:creationId xmlns:a16="http://schemas.microsoft.com/office/drawing/2014/main" id="{BC335C2B-775E-6A10-8B61-4E99485B6500}"/>
                </a:ext>
              </a:extLst>
            </p:cNvPr>
            <p:cNvSpPr/>
            <p:nvPr/>
          </p:nvSpPr>
          <p:spPr>
            <a:xfrm>
              <a:off x="15505621" y="6315039"/>
              <a:ext cx="1429788" cy="1152682"/>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F2</a:t>
              </a:r>
            </a:p>
          </p:txBody>
        </p:sp>
      </p:grpSp>
      <p:sp>
        <p:nvSpPr>
          <p:cNvPr id="57" name="Rechthoek 56">
            <a:extLst>
              <a:ext uri="{FF2B5EF4-FFF2-40B4-BE49-F238E27FC236}">
                <a16:creationId xmlns:a16="http://schemas.microsoft.com/office/drawing/2014/main" id="{102F2FFB-0F4D-7455-BE30-CCB87EDC6F1B}"/>
              </a:ext>
            </a:extLst>
          </p:cNvPr>
          <p:cNvSpPr/>
          <p:nvPr/>
        </p:nvSpPr>
        <p:spPr>
          <a:xfrm>
            <a:off x="0" y="1621101"/>
            <a:ext cx="7647709" cy="8520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solidFill>
                  <a:srgbClr val="C00000"/>
                </a:solidFill>
              </a:rPr>
              <a:t>Principale componenten analyse</a:t>
            </a:r>
            <a:endParaRPr lang="nl-BE" sz="3600" b="1" dirty="0">
              <a:solidFill>
                <a:srgbClr val="C00000"/>
              </a:solidFill>
            </a:endParaRPr>
          </a:p>
        </p:txBody>
      </p:sp>
      <p:sp>
        <p:nvSpPr>
          <p:cNvPr id="58" name="Rechthoek 57">
            <a:extLst>
              <a:ext uri="{FF2B5EF4-FFF2-40B4-BE49-F238E27FC236}">
                <a16:creationId xmlns:a16="http://schemas.microsoft.com/office/drawing/2014/main" id="{EC857FD9-829A-ECB5-17B9-844219696CAC}"/>
              </a:ext>
            </a:extLst>
          </p:cNvPr>
          <p:cNvSpPr/>
          <p:nvPr/>
        </p:nvSpPr>
        <p:spPr>
          <a:xfrm>
            <a:off x="9538001" y="1603881"/>
            <a:ext cx="7647709" cy="8520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solidFill>
                  <a:srgbClr val="C00000"/>
                </a:solidFill>
              </a:rPr>
              <a:t>Factoranalyse</a:t>
            </a:r>
            <a:endParaRPr lang="nl-BE" sz="3600" b="1" dirty="0">
              <a:solidFill>
                <a:srgbClr val="C00000"/>
              </a:solidFill>
            </a:endParaRPr>
          </a:p>
        </p:txBody>
      </p:sp>
      <p:cxnSp>
        <p:nvCxnSpPr>
          <p:cNvPr id="10" name="Rechte verbindingslijn met pijl 9">
            <a:extLst>
              <a:ext uri="{FF2B5EF4-FFF2-40B4-BE49-F238E27FC236}">
                <a16:creationId xmlns:a16="http://schemas.microsoft.com/office/drawing/2014/main" id="{C628FD44-B1DA-98B7-AFC5-60165C621D5A}"/>
              </a:ext>
            </a:extLst>
          </p:cNvPr>
          <p:cNvCxnSpPr/>
          <p:nvPr/>
        </p:nvCxnSpPr>
        <p:spPr>
          <a:xfrm flipH="1">
            <a:off x="10424160" y="3449020"/>
            <a:ext cx="648393" cy="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11" name="Stroomdiagram: Verbindingslijn 10">
            <a:extLst>
              <a:ext uri="{FF2B5EF4-FFF2-40B4-BE49-F238E27FC236}">
                <a16:creationId xmlns:a16="http://schemas.microsoft.com/office/drawing/2014/main" id="{C94ADB4A-44A2-EF1A-CCFD-1B2C10690F4D}"/>
              </a:ext>
            </a:extLst>
          </p:cNvPr>
          <p:cNvSpPr/>
          <p:nvPr/>
        </p:nvSpPr>
        <p:spPr>
          <a:xfrm>
            <a:off x="9596790" y="3043084"/>
            <a:ext cx="1018939" cy="811872"/>
          </a:xfrm>
          <a:prstGeom prst="flowChartConnector">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e1</a:t>
            </a:r>
            <a:endParaRPr lang="nl-BE" sz="3600" b="1" dirty="0"/>
          </a:p>
        </p:txBody>
      </p:sp>
      <p:cxnSp>
        <p:nvCxnSpPr>
          <p:cNvPr id="14" name="Rechte verbindingslijn met pijl 13">
            <a:extLst>
              <a:ext uri="{FF2B5EF4-FFF2-40B4-BE49-F238E27FC236}">
                <a16:creationId xmlns:a16="http://schemas.microsoft.com/office/drawing/2014/main" id="{C7811030-7985-037C-B762-F8F8159A7DC7}"/>
              </a:ext>
            </a:extLst>
          </p:cNvPr>
          <p:cNvCxnSpPr/>
          <p:nvPr/>
        </p:nvCxnSpPr>
        <p:spPr>
          <a:xfrm flipH="1">
            <a:off x="10424159" y="4496203"/>
            <a:ext cx="648393" cy="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3FB272F1-2EE9-F80B-4C46-0B64C404019D}"/>
              </a:ext>
            </a:extLst>
          </p:cNvPr>
          <p:cNvCxnSpPr/>
          <p:nvPr/>
        </p:nvCxnSpPr>
        <p:spPr>
          <a:xfrm flipH="1">
            <a:off x="10424160" y="5499842"/>
            <a:ext cx="648393" cy="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5">
            <a:extLst>
              <a:ext uri="{FF2B5EF4-FFF2-40B4-BE49-F238E27FC236}">
                <a16:creationId xmlns:a16="http://schemas.microsoft.com/office/drawing/2014/main" id="{05C0AAB5-BC8D-1F87-A239-C2A603D331A1}"/>
              </a:ext>
            </a:extLst>
          </p:cNvPr>
          <p:cNvCxnSpPr/>
          <p:nvPr/>
        </p:nvCxnSpPr>
        <p:spPr>
          <a:xfrm flipH="1">
            <a:off x="10424160" y="7227428"/>
            <a:ext cx="648393" cy="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11F072EC-C926-E1B1-8CEA-6158E6A46C4B}"/>
              </a:ext>
            </a:extLst>
          </p:cNvPr>
          <p:cNvCxnSpPr/>
          <p:nvPr/>
        </p:nvCxnSpPr>
        <p:spPr>
          <a:xfrm flipH="1">
            <a:off x="10424160" y="8501631"/>
            <a:ext cx="648393" cy="0"/>
          </a:xfrm>
          <a:prstGeom prst="straightConnector1">
            <a:avLst/>
          </a:prstGeom>
          <a:ln w="38100">
            <a:solidFill>
              <a:schemeClr val="tx1"/>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
        <p:nvSpPr>
          <p:cNvPr id="19" name="Stroomdiagram: Verbindingslijn 18">
            <a:extLst>
              <a:ext uri="{FF2B5EF4-FFF2-40B4-BE49-F238E27FC236}">
                <a16:creationId xmlns:a16="http://schemas.microsoft.com/office/drawing/2014/main" id="{E20B707F-F106-78D1-7454-A0FFBCA400B2}"/>
              </a:ext>
            </a:extLst>
          </p:cNvPr>
          <p:cNvSpPr/>
          <p:nvPr/>
        </p:nvSpPr>
        <p:spPr>
          <a:xfrm>
            <a:off x="9593332" y="4057813"/>
            <a:ext cx="1018939" cy="811872"/>
          </a:xfrm>
          <a:prstGeom prst="flowChartConnector">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e2</a:t>
            </a:r>
            <a:endParaRPr lang="nl-BE" sz="3600" b="1" dirty="0"/>
          </a:p>
        </p:txBody>
      </p:sp>
      <p:sp>
        <p:nvSpPr>
          <p:cNvPr id="21" name="Stroomdiagram: Verbindingslijn 20">
            <a:extLst>
              <a:ext uri="{FF2B5EF4-FFF2-40B4-BE49-F238E27FC236}">
                <a16:creationId xmlns:a16="http://schemas.microsoft.com/office/drawing/2014/main" id="{1B6445A6-7D7C-42F5-9424-AE29605449DA}"/>
              </a:ext>
            </a:extLst>
          </p:cNvPr>
          <p:cNvSpPr/>
          <p:nvPr/>
        </p:nvSpPr>
        <p:spPr>
          <a:xfrm>
            <a:off x="9596790" y="5072543"/>
            <a:ext cx="1018939" cy="811872"/>
          </a:xfrm>
          <a:prstGeom prst="flowChartConnector">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e3</a:t>
            </a:r>
            <a:endParaRPr lang="nl-BE" sz="3600" b="1" dirty="0"/>
          </a:p>
        </p:txBody>
      </p:sp>
      <p:sp>
        <p:nvSpPr>
          <p:cNvPr id="23" name="Stroomdiagram: Verbindingslijn 22">
            <a:extLst>
              <a:ext uri="{FF2B5EF4-FFF2-40B4-BE49-F238E27FC236}">
                <a16:creationId xmlns:a16="http://schemas.microsoft.com/office/drawing/2014/main" id="{25A36043-57AF-038F-6760-CE4299DDF660}"/>
              </a:ext>
            </a:extLst>
          </p:cNvPr>
          <p:cNvSpPr/>
          <p:nvPr/>
        </p:nvSpPr>
        <p:spPr>
          <a:xfrm>
            <a:off x="9593333" y="6786520"/>
            <a:ext cx="1018939" cy="811872"/>
          </a:xfrm>
          <a:prstGeom prst="flowChartConnector">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e4</a:t>
            </a:r>
            <a:endParaRPr lang="nl-BE" sz="3600" b="1" dirty="0"/>
          </a:p>
        </p:txBody>
      </p:sp>
      <p:sp>
        <p:nvSpPr>
          <p:cNvPr id="27" name="Stroomdiagram: Verbindingslijn 26">
            <a:extLst>
              <a:ext uri="{FF2B5EF4-FFF2-40B4-BE49-F238E27FC236}">
                <a16:creationId xmlns:a16="http://schemas.microsoft.com/office/drawing/2014/main" id="{30192010-A15A-0A36-7123-6E57E5B949A4}"/>
              </a:ext>
            </a:extLst>
          </p:cNvPr>
          <p:cNvSpPr/>
          <p:nvPr/>
        </p:nvSpPr>
        <p:spPr>
          <a:xfrm>
            <a:off x="9593333" y="8056968"/>
            <a:ext cx="1018939" cy="811872"/>
          </a:xfrm>
          <a:prstGeom prst="flowChartConnector">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nl-NL" sz="3600" b="1" dirty="0"/>
              <a:t>e5</a:t>
            </a:r>
            <a:endParaRPr lang="nl-BE" sz="3600" b="1" dirty="0"/>
          </a:p>
        </p:txBody>
      </p:sp>
    </p:spTree>
    <p:extLst>
      <p:ext uri="{BB962C8B-B14F-4D97-AF65-F5344CB8AC3E}">
        <p14:creationId xmlns:p14="http://schemas.microsoft.com/office/powerpoint/2010/main" val="307571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9F37-CE41-0213-218D-996A10DA795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3B002C7-833E-268B-259C-87BAA908C91B}"/>
              </a:ext>
            </a:extLst>
          </p:cNvPr>
          <p:cNvSpPr>
            <a:spLocks noGrp="1"/>
          </p:cNvSpPr>
          <p:nvPr>
            <p:ph type="title"/>
          </p:nvPr>
        </p:nvSpPr>
        <p:spPr/>
        <p:txBody>
          <a:bodyPr/>
          <a:lstStyle/>
          <a:p>
            <a:r>
              <a:rPr lang="nl-NL" dirty="0"/>
              <a:t>visuele voorstelling van verschillen tussen </a:t>
            </a:r>
            <a:r>
              <a:rPr lang="nl-NL" dirty="0" err="1"/>
              <a:t>pca</a:t>
            </a:r>
            <a:r>
              <a:rPr lang="nl-NL" dirty="0"/>
              <a:t> en fa</a:t>
            </a:r>
            <a:endParaRPr lang="nl-BE" dirty="0"/>
          </a:p>
        </p:txBody>
      </p:sp>
      <p:sp>
        <p:nvSpPr>
          <p:cNvPr id="4" name="Tijdelijke aanduiding voor dianummer 3">
            <a:extLst>
              <a:ext uri="{FF2B5EF4-FFF2-40B4-BE49-F238E27FC236}">
                <a16:creationId xmlns:a16="http://schemas.microsoft.com/office/drawing/2014/main" id="{0506E63F-E1D3-584D-6A0A-DC7FB515AEA7}"/>
              </a:ext>
            </a:extLst>
          </p:cNvPr>
          <p:cNvSpPr>
            <a:spLocks noGrp="1"/>
          </p:cNvSpPr>
          <p:nvPr>
            <p:ph type="sldNum" sz="quarter" idx="12"/>
          </p:nvPr>
        </p:nvSpPr>
        <p:spPr/>
        <p:txBody>
          <a:bodyPr/>
          <a:lstStyle/>
          <a:p>
            <a:fld id="{7AE184E0-0BD4-4705-A12B-9B71DDE63301}" type="slidenum">
              <a:rPr lang="en-GB" noProof="0" smtClean="0"/>
              <a:t>14</a:t>
            </a:fld>
            <a:endParaRPr lang="en-GB" noProof="0" dirty="0"/>
          </a:p>
        </p:txBody>
      </p:sp>
      <p:sp>
        <p:nvSpPr>
          <p:cNvPr id="8" name="Tekstvak 7">
            <a:extLst>
              <a:ext uri="{FF2B5EF4-FFF2-40B4-BE49-F238E27FC236}">
                <a16:creationId xmlns:a16="http://schemas.microsoft.com/office/drawing/2014/main" id="{E74350D9-058A-C8A3-36DC-B3F2330860D8}"/>
              </a:ext>
            </a:extLst>
          </p:cNvPr>
          <p:cNvSpPr txBox="1"/>
          <p:nvPr/>
        </p:nvSpPr>
        <p:spPr>
          <a:xfrm>
            <a:off x="1287118" y="2183367"/>
            <a:ext cx="14951312" cy="4031873"/>
          </a:xfrm>
          <a:prstGeom prst="rect">
            <a:avLst/>
          </a:prstGeom>
          <a:noFill/>
        </p:spPr>
        <p:txBody>
          <a:bodyPr wrap="square">
            <a:spAutoFit/>
          </a:bodyPr>
          <a:lstStyle/>
          <a:p>
            <a:pPr algn="just"/>
            <a:r>
              <a:rPr lang="nl-NL" sz="3200" b="1" dirty="0">
                <a:solidFill>
                  <a:srgbClr val="002060"/>
                </a:solidFill>
                <a:highlight>
                  <a:srgbClr val="FFFF00"/>
                </a:highlight>
                <a:latin typeface="Aptos" panose="020B0004020202020204" pitchFamily="34" charset="0"/>
              </a:rPr>
              <a:t>Het doel van PCA  </a:t>
            </a:r>
            <a:r>
              <a:rPr lang="nl-NL" sz="3200" b="1" dirty="0">
                <a:solidFill>
                  <a:srgbClr val="002060"/>
                </a:solidFill>
                <a:latin typeface="Aptos" panose="020B0004020202020204" pitchFamily="34" charset="0"/>
              </a:rPr>
              <a:t>is om 100 % van de variantie in de data samen te vatten in een kleiner aantal componenten </a:t>
            </a:r>
          </a:p>
          <a:p>
            <a:pPr algn="just"/>
            <a:endParaRPr lang="nl-NL" sz="3200" b="1" dirty="0">
              <a:solidFill>
                <a:srgbClr val="002060"/>
              </a:solidFill>
              <a:latin typeface="Aptos" panose="020B0004020202020204" pitchFamily="34" charset="0"/>
            </a:endParaRPr>
          </a:p>
          <a:p>
            <a:pPr algn="just"/>
            <a:r>
              <a:rPr lang="nl-NL" sz="3200" b="1" dirty="0">
                <a:solidFill>
                  <a:srgbClr val="002060"/>
                </a:solidFill>
                <a:highlight>
                  <a:srgbClr val="FFFF00"/>
                </a:highlight>
                <a:latin typeface="Aptos" panose="020B0004020202020204" pitchFamily="34" charset="0"/>
              </a:rPr>
              <a:t>Het doel van FA </a:t>
            </a:r>
            <a:r>
              <a:rPr lang="nl-NL" sz="3200" b="1" dirty="0">
                <a:solidFill>
                  <a:srgbClr val="002060"/>
                </a:solidFill>
                <a:latin typeface="Aptos" panose="020B0004020202020204" pitchFamily="34" charset="0"/>
              </a:rPr>
              <a:t>is om de variantie in de geobserveerde variabelen te verklaren door een aantal onderliggende factoren. </a:t>
            </a:r>
          </a:p>
          <a:p>
            <a:pPr algn="just"/>
            <a:endParaRPr lang="nl-NL" sz="3200" b="1" dirty="0">
              <a:solidFill>
                <a:srgbClr val="002060"/>
              </a:solidFill>
              <a:latin typeface="Aptos" panose="020B0004020202020204" pitchFamily="34" charset="0"/>
            </a:endParaRPr>
          </a:p>
          <a:p>
            <a:pPr algn="just"/>
            <a:r>
              <a:rPr lang="nl-NL" sz="3200" b="1" dirty="0">
                <a:solidFill>
                  <a:srgbClr val="002060"/>
                </a:solidFill>
                <a:latin typeface="Aptos" panose="020B0004020202020204" pitchFamily="34" charset="0"/>
              </a:rPr>
              <a:t>FA splitst de variantie op in gemeenschappelijke variantie (gedeeld door de factoren)  en unieke variantie (specifiek voor de variabelen).</a:t>
            </a:r>
          </a:p>
        </p:txBody>
      </p:sp>
    </p:spTree>
    <p:extLst>
      <p:ext uri="{BB962C8B-B14F-4D97-AF65-F5344CB8AC3E}">
        <p14:creationId xmlns:p14="http://schemas.microsoft.com/office/powerpoint/2010/main" val="2701800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439-7D92-49BC-B20E-CD95361CE51A}"/>
              </a:ext>
            </a:extLst>
          </p:cNvPr>
          <p:cNvSpPr>
            <a:spLocks noGrp="1"/>
          </p:cNvSpPr>
          <p:nvPr>
            <p:ph type="title"/>
          </p:nvPr>
        </p:nvSpPr>
        <p:spPr/>
        <p:txBody>
          <a:bodyPr/>
          <a:lstStyle/>
          <a:p>
            <a:r>
              <a:rPr lang="nl-BE" dirty="0"/>
              <a:t>Inhoudstafel </a:t>
            </a:r>
          </a:p>
        </p:txBody>
      </p:sp>
      <p:sp>
        <p:nvSpPr>
          <p:cNvPr id="3" name="Content Placeholder 2">
            <a:extLst>
              <a:ext uri="{FF2B5EF4-FFF2-40B4-BE49-F238E27FC236}">
                <a16:creationId xmlns:a16="http://schemas.microsoft.com/office/drawing/2014/main" id="{39011522-9118-40C3-A09B-F25B95FAB7B4}"/>
              </a:ext>
            </a:extLst>
          </p:cNvPr>
          <p:cNvSpPr>
            <a:spLocks noGrp="1"/>
          </p:cNvSpPr>
          <p:nvPr>
            <p:ph idx="1"/>
          </p:nvPr>
        </p:nvSpPr>
        <p:spPr/>
        <p:txBody>
          <a:bodyPr/>
          <a:lstStyle/>
          <a:p>
            <a:pPr marL="86400" indent="0">
              <a:buNone/>
            </a:pPr>
            <a:r>
              <a:rPr lang="nl-BE" dirty="0">
                <a:solidFill>
                  <a:srgbClr val="002060"/>
                </a:solidFill>
              </a:rPr>
              <a:t>1 Introductie factoranalyse – centrale concepten</a:t>
            </a:r>
          </a:p>
          <a:p>
            <a:pPr marL="86400" indent="0">
              <a:buNone/>
            </a:pPr>
            <a:r>
              <a:rPr lang="nl-BE" b="1" dirty="0">
                <a:solidFill>
                  <a:srgbClr val="C00000"/>
                </a:solidFill>
              </a:rPr>
              <a:t>2 Factoranalyse in SPSS: plenaire oefening</a:t>
            </a:r>
          </a:p>
          <a:p>
            <a:pPr marL="86400" indent="0">
              <a:buNone/>
            </a:pPr>
            <a:r>
              <a:rPr lang="nl-BE" dirty="0">
                <a:solidFill>
                  <a:srgbClr val="5D9CC7"/>
                </a:solidFill>
              </a:rPr>
              <a:t>3 Factoranalyse in SPSS: individuele oefening</a:t>
            </a:r>
          </a:p>
          <a:p>
            <a:pPr marL="86400" indent="0">
              <a:buNone/>
            </a:pPr>
            <a:r>
              <a:rPr lang="nl-BE" dirty="0">
                <a:solidFill>
                  <a:srgbClr val="5D9CC7"/>
                </a:solidFill>
              </a:rPr>
              <a:t>4 Toelichting bij het examen</a:t>
            </a:r>
          </a:p>
        </p:txBody>
      </p:sp>
      <p:sp>
        <p:nvSpPr>
          <p:cNvPr id="4" name="Slide Number Placeholder 3">
            <a:extLst>
              <a:ext uri="{FF2B5EF4-FFF2-40B4-BE49-F238E27FC236}">
                <a16:creationId xmlns:a16="http://schemas.microsoft.com/office/drawing/2014/main" id="{F93E06FF-5536-4AE6-A548-5BFECE8621EB}"/>
              </a:ext>
            </a:extLst>
          </p:cNvPr>
          <p:cNvSpPr>
            <a:spLocks noGrp="1"/>
          </p:cNvSpPr>
          <p:nvPr>
            <p:ph type="sldNum" sz="quarter" idx="12"/>
          </p:nvPr>
        </p:nvSpPr>
        <p:spPr/>
        <p:txBody>
          <a:bodyPr/>
          <a:lstStyle/>
          <a:p>
            <a:fld id="{7AE184E0-0BD4-4705-A12B-9B71DDE63301}" type="slidenum">
              <a:rPr lang="en-GB" noProof="0" smtClean="0"/>
              <a:t>15</a:t>
            </a:fld>
            <a:endParaRPr lang="en-GB" noProof="0" dirty="0"/>
          </a:p>
        </p:txBody>
      </p:sp>
      <p:sp>
        <p:nvSpPr>
          <p:cNvPr id="5" name="Content Placeholder 4">
            <a:extLst>
              <a:ext uri="{FF2B5EF4-FFF2-40B4-BE49-F238E27FC236}">
                <a16:creationId xmlns:a16="http://schemas.microsoft.com/office/drawing/2014/main" id="{0E5FB4D5-B452-4AA4-B83E-8DA93E143B9E}"/>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1478275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648F3-F171-0DC4-7A77-206A22C21808}"/>
              </a:ext>
            </a:extLst>
          </p:cNvPr>
          <p:cNvSpPr>
            <a:spLocks noGrp="1"/>
          </p:cNvSpPr>
          <p:nvPr>
            <p:ph type="title"/>
          </p:nvPr>
        </p:nvSpPr>
        <p:spPr/>
        <p:txBody>
          <a:bodyPr/>
          <a:lstStyle/>
          <a:p>
            <a:r>
              <a:rPr lang="nl-NL" dirty="0"/>
              <a:t>FA plenaire oefening</a:t>
            </a:r>
          </a:p>
        </p:txBody>
      </p:sp>
      <p:sp>
        <p:nvSpPr>
          <p:cNvPr id="3" name="Tijdelijke aanduiding voor inhoud 2">
            <a:extLst>
              <a:ext uri="{FF2B5EF4-FFF2-40B4-BE49-F238E27FC236}">
                <a16:creationId xmlns:a16="http://schemas.microsoft.com/office/drawing/2014/main" id="{E82B0AAA-E7E5-711E-BD32-9613F94A5FB0}"/>
              </a:ext>
            </a:extLst>
          </p:cNvPr>
          <p:cNvSpPr>
            <a:spLocks noGrp="1"/>
          </p:cNvSpPr>
          <p:nvPr>
            <p:ph idx="1"/>
          </p:nvPr>
        </p:nvSpPr>
        <p:spPr/>
        <p:txBody>
          <a:bodyPr>
            <a:normAutofit lnSpcReduction="10000"/>
          </a:bodyPr>
          <a:lstStyle/>
          <a:p>
            <a:r>
              <a:rPr lang="nl-NL" dirty="0"/>
              <a:t>Databestand: </a:t>
            </a:r>
            <a:r>
              <a:rPr lang="nl-NL" b="1" dirty="0"/>
              <a:t>FA_OEF 1_Plenaire </a:t>
            </a:r>
            <a:r>
              <a:rPr lang="nl-NL" b="1" dirty="0" err="1"/>
              <a:t>oefening.sav</a:t>
            </a:r>
            <a:endParaRPr lang="nl-NL" b="1" dirty="0"/>
          </a:p>
          <a:p>
            <a:r>
              <a:rPr lang="nl-NL" b="1" u="sng" dirty="0"/>
              <a:t>Fictieve context:</a:t>
            </a:r>
          </a:p>
          <a:p>
            <a:pPr algn="just">
              <a:lnSpc>
                <a:spcPct val="150000"/>
              </a:lnSpc>
              <a:spcAft>
                <a:spcPts val="800"/>
              </a:spcAft>
            </a:pPr>
            <a:r>
              <a:rPr lang="nl-BE" dirty="0">
                <a:effectLst/>
                <a:latin typeface="Calibri" panose="020F0502020204030204" pitchFamily="34" charset="0"/>
                <a:ea typeface="Calibri" panose="020F0502020204030204" pitchFamily="34" charset="0"/>
                <a:cs typeface="Times New Roman" panose="02020603050405020304" pitchFamily="18" charset="0"/>
              </a:rPr>
              <a:t>“De Universiteit van </a:t>
            </a:r>
            <a:r>
              <a:rPr lang="nl-BE" dirty="0" err="1">
                <a:effectLst/>
                <a:latin typeface="Calibri" panose="020F0502020204030204" pitchFamily="34" charset="0"/>
                <a:ea typeface="Calibri" panose="020F0502020204030204" pitchFamily="34" charset="0"/>
                <a:cs typeface="Times New Roman" panose="02020603050405020304" pitchFamily="18" charset="0"/>
              </a:rPr>
              <a:t>Westkanter</a:t>
            </a:r>
            <a:r>
              <a:rPr lang="nl-BE" dirty="0">
                <a:effectLst/>
                <a:latin typeface="Calibri" panose="020F0502020204030204" pitchFamily="34" charset="0"/>
                <a:ea typeface="Calibri" panose="020F0502020204030204" pitchFamily="34" charset="0"/>
                <a:cs typeface="Times New Roman" panose="02020603050405020304" pitchFamily="18" charset="0"/>
              </a:rPr>
              <a:t> stelt zich als doel om studenten steeds hoorcolleges te laten krijgen van de allerbeste docenten.  De directie wil de vragenlijst ‘</a:t>
            </a:r>
            <a:r>
              <a:rPr lang="nl-BE" i="1" dirty="0">
                <a:effectLst/>
                <a:latin typeface="Calibri" panose="020F0502020204030204" pitchFamily="34" charset="0"/>
                <a:ea typeface="Calibri" panose="020F0502020204030204" pitchFamily="34" charset="0"/>
                <a:cs typeface="Times New Roman" panose="02020603050405020304" pitchFamily="18" charset="0"/>
              </a:rPr>
              <a:t>Statistiek  voor Experimentele Criminologie</a:t>
            </a:r>
            <a:r>
              <a:rPr lang="nl-BE" dirty="0">
                <a:effectLst/>
                <a:latin typeface="Calibri" panose="020F0502020204030204" pitchFamily="34" charset="0"/>
                <a:ea typeface="Calibri" panose="020F0502020204030204" pitchFamily="34" charset="0"/>
                <a:cs typeface="Times New Roman" panose="02020603050405020304" pitchFamily="18" charset="0"/>
              </a:rPr>
              <a:t>’ reviseren.  Deze vragenlijst wordt immers gebruikt tijdens de aanwervingsprocedure.  De 28 items van de vragenlijst zijn gebaseerd op </a:t>
            </a:r>
            <a:r>
              <a:rPr lang="nl-BE" dirty="0" err="1">
                <a:effectLst/>
                <a:latin typeface="Calibri" panose="020F0502020204030204" pitchFamily="34" charset="0"/>
                <a:ea typeface="Calibri" panose="020F0502020204030204" pitchFamily="34" charset="0"/>
                <a:cs typeface="Times New Roman" panose="02020603050405020304" pitchFamily="18" charset="0"/>
              </a:rPr>
              <a:t>Giacomini’s</a:t>
            </a:r>
            <a:r>
              <a:rPr lang="nl-BE" dirty="0">
                <a:effectLst/>
                <a:latin typeface="Calibri" panose="020F0502020204030204" pitchFamily="34" charset="0"/>
                <a:ea typeface="Calibri" panose="020F0502020204030204" pitchFamily="34" charset="0"/>
                <a:cs typeface="Times New Roman" panose="02020603050405020304" pitchFamily="18" charset="0"/>
              </a:rPr>
              <a:t> theorie.  Deze theorie stelt dat een excellente docent beschikt over vier belangrijke kenmerken: hij/zij heeft</a:t>
            </a:r>
            <a:r>
              <a:rPr lang="nl-BE" b="1"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1) een geboren aanleg voor statistiek , 2) een onvoorwaardelijke liefde voor de experimentele methode, 3)  een natuurlijke aanleg om te onderwijzen en 4) hij/zij is sociaal incapabel.</a:t>
            </a:r>
            <a:endParaRPr lang="nl-NL" b="1" i="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nl-BE" dirty="0">
                <a:effectLst/>
                <a:latin typeface="Calibri" panose="020F0502020204030204" pitchFamily="34" charset="0"/>
                <a:ea typeface="Calibri" panose="020F0502020204030204" pitchFamily="34" charset="0"/>
                <a:cs typeface="Times New Roman" panose="02020603050405020304" pitchFamily="18" charset="0"/>
              </a:rPr>
              <a:t>De herziene vragenlijst kreeg een nieuwe naam </a:t>
            </a:r>
            <a:r>
              <a:rPr lang="nl-BE" i="1" dirty="0">
                <a:effectLst/>
                <a:latin typeface="Calibri" panose="020F0502020204030204" pitchFamily="34" charset="0"/>
                <a:ea typeface="Calibri" panose="020F0502020204030204" pitchFamily="34" charset="0"/>
                <a:cs typeface="Times New Roman" panose="02020603050405020304" pitchFamily="18" charset="0"/>
              </a:rPr>
              <a:t>‘Statistiek voor Experimentele </a:t>
            </a:r>
            <a:r>
              <a:rPr lang="nl-BE" i="1" dirty="0" err="1">
                <a:effectLst/>
                <a:latin typeface="Calibri" panose="020F0502020204030204" pitchFamily="34" charset="0"/>
                <a:ea typeface="Calibri" panose="020F0502020204030204" pitchFamily="34" charset="0"/>
                <a:cs typeface="Times New Roman" panose="02020603050405020304" pitchFamily="18" charset="0"/>
              </a:rPr>
              <a:t>Criminologie_Revised</a:t>
            </a:r>
            <a:r>
              <a:rPr lang="nl-BE" i="1" dirty="0">
                <a:effectLst/>
                <a:latin typeface="Calibri" panose="020F0502020204030204" pitchFamily="34" charset="0"/>
                <a:ea typeface="Calibri" panose="020F0502020204030204" pitchFamily="34" charset="0"/>
                <a:cs typeface="Times New Roman" panose="02020603050405020304" pitchFamily="18" charset="0"/>
              </a:rPr>
              <a:t>’.  </a:t>
            </a:r>
            <a:r>
              <a:rPr lang="nl-BE" dirty="0">
                <a:effectLst/>
                <a:latin typeface="Calibri" panose="020F0502020204030204" pitchFamily="34" charset="0"/>
                <a:ea typeface="Calibri" panose="020F0502020204030204" pitchFamily="34" charset="0"/>
                <a:cs typeface="Times New Roman" panose="02020603050405020304" pitchFamily="18" charset="0"/>
              </a:rPr>
              <a:t>Aan 239 methodologie-docenten werd gevraagd om deze nieuwe vragenlijst in te vullen.  Doel: toetsen of de theorie van </a:t>
            </a:r>
            <a:r>
              <a:rPr lang="nl-BE" dirty="0" err="1">
                <a:effectLst/>
                <a:latin typeface="Calibri" panose="020F0502020204030204" pitchFamily="34" charset="0"/>
                <a:ea typeface="Calibri" panose="020F0502020204030204" pitchFamily="34" charset="0"/>
                <a:cs typeface="Times New Roman" panose="02020603050405020304" pitchFamily="18" charset="0"/>
              </a:rPr>
              <a:t>Giacomini</a:t>
            </a:r>
            <a:r>
              <a:rPr lang="nl-BE" dirty="0">
                <a:effectLst/>
                <a:latin typeface="Calibri" panose="020F0502020204030204" pitchFamily="34" charset="0"/>
                <a:ea typeface="Calibri" panose="020F0502020204030204" pitchFamily="34" charset="0"/>
                <a:cs typeface="Times New Roman" panose="02020603050405020304" pitchFamily="18" charset="0"/>
              </a:rPr>
              <a:t> standhoudt.”</a:t>
            </a:r>
            <a:endParaRPr lang="nl-NL" dirty="0">
              <a:effectLst/>
              <a:latin typeface="Calibri" panose="020F0502020204030204" pitchFamily="34" charset="0"/>
              <a:ea typeface="Calibri" panose="020F0502020204030204" pitchFamily="34" charset="0"/>
              <a:cs typeface="Times New Roman" panose="02020603050405020304" pitchFamily="18" charset="0"/>
            </a:endParaRPr>
          </a:p>
          <a:p>
            <a:endParaRPr lang="nl-NL" b="1" dirty="0"/>
          </a:p>
        </p:txBody>
      </p:sp>
      <p:sp>
        <p:nvSpPr>
          <p:cNvPr id="4" name="Tijdelijke aanduiding voor dianummer 3">
            <a:extLst>
              <a:ext uri="{FF2B5EF4-FFF2-40B4-BE49-F238E27FC236}">
                <a16:creationId xmlns:a16="http://schemas.microsoft.com/office/drawing/2014/main" id="{9C6EEADD-796D-5240-58A6-C248D02FC9D6}"/>
              </a:ext>
            </a:extLst>
          </p:cNvPr>
          <p:cNvSpPr>
            <a:spLocks noGrp="1"/>
          </p:cNvSpPr>
          <p:nvPr>
            <p:ph type="sldNum" sz="quarter" idx="12"/>
          </p:nvPr>
        </p:nvSpPr>
        <p:spPr/>
        <p:txBody>
          <a:bodyPr/>
          <a:lstStyle/>
          <a:p>
            <a:fld id="{7AE184E0-0BD4-4705-A12B-9B71DDE63301}" type="slidenum">
              <a:rPr lang="en-GB" noProof="0" smtClean="0"/>
              <a:t>16</a:t>
            </a:fld>
            <a:endParaRPr lang="en-GB" noProof="0" dirty="0"/>
          </a:p>
        </p:txBody>
      </p:sp>
      <p:sp>
        <p:nvSpPr>
          <p:cNvPr id="5" name="Tijdelijke aanduiding voor inhoud 4">
            <a:extLst>
              <a:ext uri="{FF2B5EF4-FFF2-40B4-BE49-F238E27FC236}">
                <a16:creationId xmlns:a16="http://schemas.microsoft.com/office/drawing/2014/main" id="{70B4DE1C-E6E7-F152-BCA0-92D806EDAE39}"/>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863072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648F3-F171-0DC4-7A77-206A22C21808}"/>
              </a:ext>
            </a:extLst>
          </p:cNvPr>
          <p:cNvSpPr>
            <a:spLocks noGrp="1"/>
          </p:cNvSpPr>
          <p:nvPr>
            <p:ph type="title"/>
          </p:nvPr>
        </p:nvSpPr>
        <p:spPr/>
        <p:txBody>
          <a:bodyPr/>
          <a:lstStyle/>
          <a:p>
            <a:r>
              <a:rPr lang="nl-NL" dirty="0"/>
              <a:t>FA plenaire oefening</a:t>
            </a:r>
          </a:p>
        </p:txBody>
      </p:sp>
      <p:sp>
        <p:nvSpPr>
          <p:cNvPr id="3" name="Tijdelijke aanduiding voor inhoud 2">
            <a:extLst>
              <a:ext uri="{FF2B5EF4-FFF2-40B4-BE49-F238E27FC236}">
                <a16:creationId xmlns:a16="http://schemas.microsoft.com/office/drawing/2014/main" id="{E82B0AAA-E7E5-711E-BD32-9613F94A5FB0}"/>
              </a:ext>
            </a:extLst>
          </p:cNvPr>
          <p:cNvSpPr>
            <a:spLocks noGrp="1"/>
          </p:cNvSpPr>
          <p:nvPr>
            <p:ph idx="1"/>
          </p:nvPr>
        </p:nvSpPr>
        <p:spPr/>
        <p:txBody>
          <a:bodyPr>
            <a:normAutofit/>
          </a:bodyPr>
          <a:lstStyle/>
          <a:p>
            <a:r>
              <a:rPr lang="nl-NL" dirty="0"/>
              <a:t>Databestand: </a:t>
            </a:r>
            <a:r>
              <a:rPr lang="nl-NL" b="1" dirty="0"/>
              <a:t>FA_OEF 1_Plenaire </a:t>
            </a:r>
            <a:r>
              <a:rPr lang="nl-NL" b="1" dirty="0" err="1"/>
              <a:t>oefening.sav</a:t>
            </a:r>
            <a:endParaRPr lang="nl-NL" b="1" dirty="0"/>
          </a:p>
          <a:p>
            <a:r>
              <a:rPr lang="nl-NL" b="1" u="sng" dirty="0"/>
              <a:t>Opdracht:</a:t>
            </a:r>
          </a:p>
          <a:p>
            <a:endParaRPr lang="nl-NL" b="1" u="sng" dirty="0"/>
          </a:p>
          <a:p>
            <a:pPr marL="342900" lvl="0" indent="-342900" algn="just">
              <a:lnSpc>
                <a:spcPct val="150000"/>
              </a:lnSpc>
              <a:buFont typeface="Symbol" panose="05050102010706020507" pitchFamily="18" charset="2"/>
              <a:buChar char=""/>
            </a:pPr>
            <a:r>
              <a:rPr lang="nl-BE" dirty="0">
                <a:effectLst/>
                <a:cs typeface="Times New Roman" panose="02020603050405020304" pitchFamily="18" charset="0"/>
              </a:rPr>
              <a:t>Voer </a:t>
            </a:r>
            <a:r>
              <a:rPr lang="nl-BE" b="1" dirty="0">
                <a:solidFill>
                  <a:srgbClr val="C00000"/>
                </a:solidFill>
                <a:effectLst/>
                <a:cs typeface="Times New Roman" panose="02020603050405020304" pitchFamily="18" charset="0"/>
              </a:rPr>
              <a:t>een factoranalyse</a:t>
            </a:r>
            <a:r>
              <a:rPr lang="nl-BE" dirty="0">
                <a:effectLst/>
                <a:cs typeface="Times New Roman" panose="02020603050405020304" pitchFamily="18" charset="0"/>
              </a:rPr>
              <a:t>. Ga na of het mogelijk is om de gegeven variabelen te reduceren tot een kleiner aantal latente factoren. </a:t>
            </a:r>
          </a:p>
          <a:p>
            <a:pPr marL="342900" lvl="0" indent="-342900" algn="just">
              <a:lnSpc>
                <a:spcPct val="150000"/>
              </a:lnSpc>
              <a:buFont typeface="Symbol" panose="05050102010706020507" pitchFamily="18" charset="2"/>
              <a:buChar char=""/>
            </a:pPr>
            <a:endParaRPr lang="nl-NL" dirty="0">
              <a:effectLst/>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nl-BE" dirty="0">
                <a:effectLst/>
                <a:cs typeface="Times New Roman" panose="02020603050405020304" pitchFamily="18" charset="0"/>
              </a:rPr>
              <a:t>Voer </a:t>
            </a:r>
            <a:r>
              <a:rPr lang="nl-BE" b="1" dirty="0">
                <a:solidFill>
                  <a:srgbClr val="C00000"/>
                </a:solidFill>
                <a:effectLst/>
                <a:cs typeface="Times New Roman" panose="02020603050405020304" pitchFamily="18" charset="0"/>
              </a:rPr>
              <a:t>een betrouwbaarheidsanalyse </a:t>
            </a:r>
            <a:r>
              <a:rPr lang="nl-BE" dirty="0">
                <a:effectLst/>
                <a:cs typeface="Times New Roman" panose="02020603050405020304" pitchFamily="18" charset="0"/>
              </a:rPr>
              <a:t>uit met de variabelen die samen een meetschaal kunnen vormen.</a:t>
            </a:r>
            <a:endParaRPr lang="nl-NL" dirty="0">
              <a:effectLst/>
              <a:cs typeface="Times New Roman" panose="02020603050405020304" pitchFamily="18" charset="0"/>
            </a:endParaRPr>
          </a:p>
          <a:p>
            <a:endParaRPr lang="nl-NL" b="1" u="sng" dirty="0"/>
          </a:p>
          <a:p>
            <a:endParaRPr lang="nl-NL" b="1" dirty="0"/>
          </a:p>
        </p:txBody>
      </p:sp>
      <p:sp>
        <p:nvSpPr>
          <p:cNvPr id="4" name="Tijdelijke aanduiding voor dianummer 3">
            <a:extLst>
              <a:ext uri="{FF2B5EF4-FFF2-40B4-BE49-F238E27FC236}">
                <a16:creationId xmlns:a16="http://schemas.microsoft.com/office/drawing/2014/main" id="{9C6EEADD-796D-5240-58A6-C248D02FC9D6}"/>
              </a:ext>
            </a:extLst>
          </p:cNvPr>
          <p:cNvSpPr>
            <a:spLocks noGrp="1"/>
          </p:cNvSpPr>
          <p:nvPr>
            <p:ph type="sldNum" sz="quarter" idx="12"/>
          </p:nvPr>
        </p:nvSpPr>
        <p:spPr/>
        <p:txBody>
          <a:bodyPr/>
          <a:lstStyle/>
          <a:p>
            <a:fld id="{7AE184E0-0BD4-4705-A12B-9B71DDE63301}" type="slidenum">
              <a:rPr lang="en-GB" noProof="0" smtClean="0"/>
              <a:t>17</a:t>
            </a:fld>
            <a:endParaRPr lang="en-GB" noProof="0" dirty="0"/>
          </a:p>
        </p:txBody>
      </p:sp>
      <p:sp>
        <p:nvSpPr>
          <p:cNvPr id="5" name="Tijdelijke aanduiding voor inhoud 4">
            <a:extLst>
              <a:ext uri="{FF2B5EF4-FFF2-40B4-BE49-F238E27FC236}">
                <a16:creationId xmlns:a16="http://schemas.microsoft.com/office/drawing/2014/main" id="{70B4DE1C-E6E7-F152-BCA0-92D806EDAE39}"/>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734445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Factoranalyse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Dimension</a:t>
            </a:r>
            <a:r>
              <a:rPr lang="nl-BE" i="1" dirty="0">
                <a:sym typeface="Wingdings" pitchFamily="2" charset="2"/>
              </a:rPr>
              <a:t> </a:t>
            </a:r>
            <a:r>
              <a:rPr lang="nl-BE" i="1" dirty="0" err="1">
                <a:sym typeface="Wingdings" pitchFamily="2" charset="2"/>
              </a:rPr>
              <a:t>Reduction</a:t>
            </a:r>
            <a:r>
              <a:rPr lang="nl-BE" i="1" dirty="0">
                <a:sym typeface="Wingdings" pitchFamily="2" charset="2"/>
              </a:rPr>
              <a:t> ›› Factor</a:t>
            </a:r>
            <a:endParaRPr lang="nl-BE" i="1" dirty="0"/>
          </a:p>
          <a:p>
            <a:pPr marL="650230" indent="-650230">
              <a:buFont typeface="Wingdings"/>
              <a:buChar char="à"/>
            </a:pPr>
            <a:endParaRPr lang="nl-BE" sz="3982" dirty="0">
              <a:sym typeface="Wingdings" pitchFamily="2" charset="2"/>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18</a:t>
            </a:fld>
            <a:endParaRPr lang="en-US" dirty="0">
              <a:solidFill>
                <a:prstClr val="white"/>
              </a:solidFill>
            </a:endParaRPr>
          </a:p>
        </p:txBody>
      </p:sp>
      <p:pic>
        <p:nvPicPr>
          <p:cNvPr id="8" name="Tijdelijke aanduiding voor inhoud 7" descr="Afbeelding met tekst, schermopname, software, scherm&#10;&#10;Automatisch gegenereerde beschrijving">
            <a:extLst>
              <a:ext uri="{FF2B5EF4-FFF2-40B4-BE49-F238E27FC236}">
                <a16:creationId xmlns:a16="http://schemas.microsoft.com/office/drawing/2014/main" id="{43946BE2-D635-3D1E-A3EF-E40A5D84CC09}"/>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327070" y="2723621"/>
            <a:ext cx="11213181" cy="6906479"/>
          </a:xfrm>
        </p:spPr>
      </p:pic>
      <p:pic>
        <p:nvPicPr>
          <p:cNvPr id="11" name="Afbeelding 10" descr="Afbeelding met tekst, schermopname, scherm, software&#10;&#10;Automatisch gegenereerde beschrijving">
            <a:extLst>
              <a:ext uri="{FF2B5EF4-FFF2-40B4-BE49-F238E27FC236}">
                <a16:creationId xmlns:a16="http://schemas.microsoft.com/office/drawing/2014/main" id="{572BF468-7C2C-6273-2723-484B1329CD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5395" y="2500634"/>
            <a:ext cx="9610316" cy="5436693"/>
          </a:xfrm>
          <a:prstGeom prst="rect">
            <a:avLst/>
          </a:prstGeom>
        </p:spPr>
      </p:pic>
    </p:spTree>
    <p:extLst>
      <p:ext uri="{BB962C8B-B14F-4D97-AF65-F5344CB8AC3E}">
        <p14:creationId xmlns:p14="http://schemas.microsoft.com/office/powerpoint/2010/main" val="1696453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76482" y="1832898"/>
            <a:ext cx="17185710"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Factoranalyse in SPSS: </a:t>
            </a:r>
            <a:r>
              <a:rPr lang="nl-BE" i="1" dirty="0">
                <a:sym typeface="Wingdings" pitchFamily="2" charset="2"/>
              </a:rPr>
              <a:t>Selecteer alle variabelen en breng over naar het middenvak</a:t>
            </a:r>
          </a:p>
          <a:p>
            <a:pPr defTabSz="650230"/>
            <a:endParaRPr lang="nl-BE" i="1" dirty="0">
              <a:sym typeface="Wingdings" pitchFamily="2" charset="2"/>
            </a:endParaRPr>
          </a:p>
          <a:p>
            <a:pPr defTabSz="650230"/>
            <a:endParaRPr lang="nl-BE" i="1" dirty="0">
              <a:sym typeface="Wingdings" pitchFamily="2" charset="2"/>
            </a:endParaRPr>
          </a:p>
          <a:p>
            <a:pPr defTabSz="650230"/>
            <a:r>
              <a:rPr lang="nl-BE" i="1" dirty="0">
                <a:sym typeface="Wingdings" pitchFamily="2" charset="2"/>
              </a:rPr>
              <a:t>Tip: controleer en corrigeer daarom inconsistenties in de formulering van de items op voorhand!</a:t>
            </a:r>
          </a:p>
          <a:p>
            <a:pPr defTabSz="650230"/>
            <a:endParaRPr lang="nl-BE" i="1" dirty="0">
              <a:sym typeface="Wingdings" pitchFamily="2" charset="2"/>
            </a:endParaRPr>
          </a:p>
          <a:p>
            <a:pPr defTabSz="650230"/>
            <a:r>
              <a:rPr lang="nl-BE" i="1" dirty="0">
                <a:sym typeface="Wingdings" pitchFamily="2" charset="2"/>
              </a:rPr>
              <a:t>In de opgegeven dataset zijn alle items in de juiste richting geformuleerd.</a:t>
            </a:r>
            <a:endParaRPr lang="nl-BE" i="1" dirty="0"/>
          </a:p>
          <a:p>
            <a:pPr marL="650230" indent="-650230">
              <a:buFont typeface="Wingdings"/>
              <a:buChar char="à"/>
            </a:pPr>
            <a:endParaRPr lang="nl-BE" sz="3982" dirty="0">
              <a:sym typeface="Wingdings" pitchFamily="2" charset="2"/>
            </a:endParaRPr>
          </a:p>
          <a:p>
            <a:pPr marL="0" indent="0">
              <a:buNone/>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19</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6DA7747D-1A03-CCB3-F3F2-854680BB6070}"/>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58593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E2C175-10BD-4D16-ACF2-F097FB612AB1}"/>
              </a:ext>
            </a:extLst>
          </p:cNvPr>
          <p:cNvSpPr>
            <a:spLocks noGrp="1"/>
          </p:cNvSpPr>
          <p:nvPr>
            <p:ph type="title"/>
          </p:nvPr>
        </p:nvSpPr>
        <p:spPr/>
        <p:txBody>
          <a:bodyPr/>
          <a:lstStyle/>
          <a:p>
            <a:r>
              <a:rPr lang="nl-BE" dirty="0"/>
              <a:t>Factoranalyse in </a:t>
            </a:r>
            <a:r>
              <a:rPr lang="nl-BE" dirty="0" err="1"/>
              <a:t>spss</a:t>
            </a:r>
            <a:endParaRPr lang="nl-BE" dirty="0"/>
          </a:p>
        </p:txBody>
      </p:sp>
      <p:pic>
        <p:nvPicPr>
          <p:cNvPr id="7" name="Afbeelding 6" descr="Afbeelding met tekst, elektronica, schermopname, scherm&#10;&#10;Automatisch gegenereerde beschrijving">
            <a:extLst>
              <a:ext uri="{FF2B5EF4-FFF2-40B4-BE49-F238E27FC236}">
                <a16:creationId xmlns:a16="http://schemas.microsoft.com/office/drawing/2014/main" id="{C8426BF4-A114-F771-3903-562972F9A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8540" y="1982814"/>
            <a:ext cx="5282775" cy="4713301"/>
          </a:xfrm>
          <a:prstGeom prst="rect">
            <a:avLst/>
          </a:prstGeom>
        </p:spPr>
      </p:pic>
      <p:pic>
        <p:nvPicPr>
          <p:cNvPr id="9" name="Afbeelding 8" descr="Afbeelding met tekst, schermopname, scherm, nummer&#10;&#10;Automatisch gegenereerde beschrijving">
            <a:extLst>
              <a:ext uri="{FF2B5EF4-FFF2-40B4-BE49-F238E27FC236}">
                <a16:creationId xmlns:a16="http://schemas.microsoft.com/office/drawing/2014/main" id="{BC941E60-B529-627C-5BB7-E3E2F84A28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6653" y="1923638"/>
            <a:ext cx="3924596" cy="4068978"/>
          </a:xfrm>
          <a:prstGeom prst="rect">
            <a:avLst/>
          </a:prstGeom>
        </p:spPr>
      </p:pic>
      <p:pic>
        <p:nvPicPr>
          <p:cNvPr id="14" name="Afbeelding 13" descr="Afbeelding met tekst, elektronica, schermopname, nummer&#10;&#10;Automatisch gegenereerde beschrijving">
            <a:extLst>
              <a:ext uri="{FF2B5EF4-FFF2-40B4-BE49-F238E27FC236}">
                <a16:creationId xmlns:a16="http://schemas.microsoft.com/office/drawing/2014/main" id="{05C9BB3C-CD77-8EDB-70D2-1150BFD5AA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37972" y="5293013"/>
            <a:ext cx="3573019" cy="3823756"/>
          </a:xfrm>
          <a:prstGeom prst="rect">
            <a:avLst/>
          </a:prstGeom>
        </p:spPr>
      </p:pic>
      <p:pic>
        <p:nvPicPr>
          <p:cNvPr id="5" name="Afbeelding 4" descr="Afbeelding met tekst, elektronica, schermopname, scherm&#10;&#10;Automatisch gegenereerde beschrijving">
            <a:extLst>
              <a:ext uri="{FF2B5EF4-FFF2-40B4-BE49-F238E27FC236}">
                <a16:creationId xmlns:a16="http://schemas.microsoft.com/office/drawing/2014/main" id="{8287F2BD-8315-3880-C89E-A025B683A2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033" y="1982814"/>
            <a:ext cx="3913468" cy="4713301"/>
          </a:xfrm>
          <a:prstGeom prst="rect">
            <a:avLst/>
          </a:prstGeom>
        </p:spPr>
      </p:pic>
    </p:spTree>
    <p:extLst>
      <p:ext uri="{BB962C8B-B14F-4D97-AF65-F5344CB8AC3E}">
        <p14:creationId xmlns:p14="http://schemas.microsoft.com/office/powerpoint/2010/main" val="2919127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graphicFrame>
        <p:nvGraphicFramePr>
          <p:cNvPr id="6" name="Tijdelijke aanduiding voor inhoud 5"/>
          <p:cNvGraphicFramePr>
            <a:graphicFrameLocks noGrp="1" noChangeAspect="1"/>
          </p:cNvGraphicFramePr>
          <p:nvPr>
            <p:ph idx="1"/>
            <p:extLst>
              <p:ext uri="{D42A27DB-BD31-4B8C-83A1-F6EECF244321}">
                <p14:modId xmlns:p14="http://schemas.microsoft.com/office/powerpoint/2010/main" val="772399821"/>
              </p:ext>
            </p:extLst>
          </p:nvPr>
        </p:nvGraphicFramePr>
        <p:xfrm>
          <a:off x="661859" y="3762604"/>
          <a:ext cx="15238075" cy="5691208"/>
        </p:xfrm>
        <a:graphic>
          <a:graphicData uri="http://schemas.openxmlformats.org/presentationml/2006/ole">
            <mc:AlternateContent xmlns:mc="http://schemas.openxmlformats.org/markup-compatibility/2006">
              <mc:Choice xmlns:v="urn:schemas-microsoft-com:vml" Requires="v">
                <p:oleObj name="Document" r:id="rId3" imgW="7209090" imgH="2693062" progId="Word.Document.12">
                  <p:embed/>
                </p:oleObj>
              </mc:Choice>
              <mc:Fallback>
                <p:oleObj name="Document" r:id="rId3" imgW="7209090" imgH="2693062" progId="Word.Document.12">
                  <p:embed/>
                  <p:pic>
                    <p:nvPicPr>
                      <p:cNvPr id="6" name="Tijdelijke aanduiding voor inhoud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859" y="3762604"/>
                        <a:ext cx="15238075" cy="5691208"/>
                      </a:xfrm>
                      <a:prstGeom prst="rect">
                        <a:avLst/>
                      </a:prstGeom>
                      <a:noFill/>
                      <a:ln>
                        <a:noFill/>
                      </a:ln>
                    </p:spPr>
                  </p:pic>
                </p:oleObj>
              </mc:Fallback>
            </mc:AlternateContent>
          </a:graphicData>
        </a:graphic>
      </p:graphicFrame>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21</a:t>
            </a:fld>
            <a:endParaRPr lang="en-US" dirty="0">
              <a:solidFill>
                <a:prstClr val="white"/>
              </a:solidFill>
            </a:endParaRPr>
          </a:p>
        </p:txBody>
      </p:sp>
      <p:sp>
        <p:nvSpPr>
          <p:cNvPr id="2" name="Tijdelijke aanduiding voor inhoud 1">
            <a:extLst>
              <a:ext uri="{FF2B5EF4-FFF2-40B4-BE49-F238E27FC236}">
                <a16:creationId xmlns:a16="http://schemas.microsoft.com/office/drawing/2014/main" id="{AD3D7BF8-851B-4F12-8B67-1722122F84FD}"/>
              </a:ext>
            </a:extLst>
          </p:cNvPr>
          <p:cNvSpPr>
            <a:spLocks noGrp="1"/>
          </p:cNvSpPr>
          <p:nvPr>
            <p:ph idx="13"/>
          </p:nvPr>
        </p:nvSpPr>
        <p:spPr/>
        <p:txBody>
          <a:bodyPr/>
          <a:lstStyle/>
          <a:p>
            <a:endParaRPr lang="nl-BE"/>
          </a:p>
        </p:txBody>
      </p:sp>
      <p:sp>
        <p:nvSpPr>
          <p:cNvPr id="8" name="Tijdelijke aanduiding voor inhoud 1">
            <a:extLst>
              <a:ext uri="{FF2B5EF4-FFF2-40B4-BE49-F238E27FC236}">
                <a16:creationId xmlns:a16="http://schemas.microsoft.com/office/drawing/2014/main" id="{9559378F-A5AF-4A96-9B3C-5B7DA3E86082}"/>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dirty="0"/>
              <a:t>Correlatiematrix opvragen</a:t>
            </a:r>
          </a:p>
          <a:p>
            <a:pPr defTabSz="650230"/>
            <a:r>
              <a:rPr lang="nl-BE" dirty="0"/>
              <a:t>28 vragen produceren 28*(28-1)/2 = 378 zero-order correlaties</a:t>
            </a:r>
          </a:p>
          <a:p>
            <a:pPr defTabSz="650230"/>
            <a:r>
              <a:rPr lang="nl-BE" dirty="0"/>
              <a:t>Grote hoeveelheid info maakt interpretatie moeilijk, daarom: FA</a:t>
            </a:r>
          </a:p>
          <a:p>
            <a:pPr marL="650230" indent="-650230">
              <a:buFont typeface="Wingdings"/>
              <a:buChar char="à"/>
            </a:pPr>
            <a:endParaRPr lang="nl-BE" sz="3982" dirty="0">
              <a:sym typeface="Wingdings" pitchFamily="2" charset="2"/>
            </a:endParaRPr>
          </a:p>
          <a:p>
            <a:pPr marL="650230" indent="-650230">
              <a:buFont typeface="Wingdings"/>
              <a:buChar char="à"/>
            </a:pPr>
            <a:endParaRPr lang="nl-NL" sz="3982" dirty="0">
              <a:sym typeface="Wingdings" pitchFamily="2" charset="2"/>
            </a:endParaRPr>
          </a:p>
          <a:p>
            <a:endParaRPr lang="nl-BE" dirty="0"/>
          </a:p>
        </p:txBody>
      </p:sp>
    </p:spTree>
    <p:extLst>
      <p:ext uri="{BB962C8B-B14F-4D97-AF65-F5344CB8AC3E}">
        <p14:creationId xmlns:p14="http://schemas.microsoft.com/office/powerpoint/2010/main" val="291625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D3C207-1BE0-4232-962D-3C65B2261B57}"/>
              </a:ext>
            </a:extLst>
          </p:cNvPr>
          <p:cNvSpPr>
            <a:spLocks noGrp="1"/>
          </p:cNvSpPr>
          <p:nvPr>
            <p:ph type="title"/>
          </p:nvPr>
        </p:nvSpPr>
        <p:spPr/>
        <p:txBody>
          <a:bodyPr/>
          <a:lstStyle/>
          <a:p>
            <a:r>
              <a:rPr lang="nl-NL" dirty="0"/>
              <a:t>Factoranalyse in </a:t>
            </a:r>
            <a:r>
              <a:rPr lang="nl-NL" dirty="0" err="1"/>
              <a:t>spss</a:t>
            </a:r>
            <a:endParaRPr lang="nl-NL" dirty="0"/>
          </a:p>
        </p:txBody>
      </p:sp>
      <p:pic>
        <p:nvPicPr>
          <p:cNvPr id="7" name="Tijdelijke aanduiding voor inhoud 6">
            <a:extLst>
              <a:ext uri="{FF2B5EF4-FFF2-40B4-BE49-F238E27FC236}">
                <a16:creationId xmlns:a16="http://schemas.microsoft.com/office/drawing/2014/main" id="{3317E862-222E-A0B4-9B90-37E6A53C1988}"/>
              </a:ext>
            </a:extLst>
          </p:cNvPr>
          <p:cNvPicPr>
            <a:picLocks noGrp="1" noChangeAspect="1"/>
          </p:cNvPicPr>
          <p:nvPr>
            <p:ph idx="1"/>
          </p:nvPr>
        </p:nvPicPr>
        <p:blipFill>
          <a:blip r:embed="rId3"/>
          <a:stretch>
            <a:fillRect/>
          </a:stretch>
        </p:blipFill>
        <p:spPr>
          <a:xfrm>
            <a:off x="2002107" y="2733336"/>
            <a:ext cx="11686886" cy="3469544"/>
          </a:xfrm>
        </p:spPr>
      </p:pic>
      <p:sp>
        <p:nvSpPr>
          <p:cNvPr id="4" name="Tijdelijke aanduiding voor dianummer 3">
            <a:extLst>
              <a:ext uri="{FF2B5EF4-FFF2-40B4-BE49-F238E27FC236}">
                <a16:creationId xmlns:a16="http://schemas.microsoft.com/office/drawing/2014/main" id="{17D2D93C-50B5-002E-AE58-6213928CA1B5}"/>
              </a:ext>
            </a:extLst>
          </p:cNvPr>
          <p:cNvSpPr>
            <a:spLocks noGrp="1"/>
          </p:cNvSpPr>
          <p:nvPr>
            <p:ph type="sldNum" sz="quarter" idx="12"/>
          </p:nvPr>
        </p:nvSpPr>
        <p:spPr/>
        <p:txBody>
          <a:bodyPr/>
          <a:lstStyle/>
          <a:p>
            <a:fld id="{7AE184E0-0BD4-4705-A12B-9B71DDE63301}" type="slidenum">
              <a:rPr lang="en-GB" noProof="0" smtClean="0"/>
              <a:t>22</a:t>
            </a:fld>
            <a:endParaRPr lang="en-GB" noProof="0" dirty="0"/>
          </a:p>
        </p:txBody>
      </p:sp>
      <p:sp>
        <p:nvSpPr>
          <p:cNvPr id="5" name="Tijdelijke aanduiding voor inhoud 4">
            <a:extLst>
              <a:ext uri="{FF2B5EF4-FFF2-40B4-BE49-F238E27FC236}">
                <a16:creationId xmlns:a16="http://schemas.microsoft.com/office/drawing/2014/main" id="{426FECE7-C9B5-4FB3-1006-F10A90054A3A}"/>
              </a:ext>
            </a:extLst>
          </p:cNvPr>
          <p:cNvSpPr>
            <a:spLocks noGrp="1"/>
          </p:cNvSpPr>
          <p:nvPr>
            <p:ph idx="13"/>
          </p:nvPr>
        </p:nvSpPr>
        <p:spPr/>
        <p:txBody>
          <a:bodyPr/>
          <a:lstStyle/>
          <a:p>
            <a:endParaRPr lang="nl-NL"/>
          </a:p>
        </p:txBody>
      </p:sp>
      <p:sp>
        <p:nvSpPr>
          <p:cNvPr id="8" name="Ovaal 7">
            <a:extLst>
              <a:ext uri="{FF2B5EF4-FFF2-40B4-BE49-F238E27FC236}">
                <a16:creationId xmlns:a16="http://schemas.microsoft.com/office/drawing/2014/main" id="{608E8FD3-182F-6BFA-C64D-1925ECA7963D}"/>
              </a:ext>
            </a:extLst>
          </p:cNvPr>
          <p:cNvSpPr/>
          <p:nvPr/>
        </p:nvSpPr>
        <p:spPr>
          <a:xfrm>
            <a:off x="2002107" y="3371824"/>
            <a:ext cx="11859366" cy="1103525"/>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289741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D3C207-1BE0-4232-962D-3C65B2261B57}"/>
              </a:ext>
            </a:extLst>
          </p:cNvPr>
          <p:cNvSpPr>
            <a:spLocks noGrp="1"/>
          </p:cNvSpPr>
          <p:nvPr>
            <p:ph type="title"/>
          </p:nvPr>
        </p:nvSpPr>
        <p:spPr/>
        <p:txBody>
          <a:bodyPr/>
          <a:lstStyle/>
          <a:p>
            <a:r>
              <a:rPr lang="nl-NL" dirty="0"/>
              <a:t>Factoranalyse in </a:t>
            </a:r>
            <a:r>
              <a:rPr lang="nl-NL" dirty="0" err="1"/>
              <a:t>spss</a:t>
            </a:r>
            <a:endParaRPr lang="nl-NL" dirty="0"/>
          </a:p>
        </p:txBody>
      </p:sp>
      <p:pic>
        <p:nvPicPr>
          <p:cNvPr id="7" name="Tijdelijke aanduiding voor inhoud 6">
            <a:extLst>
              <a:ext uri="{FF2B5EF4-FFF2-40B4-BE49-F238E27FC236}">
                <a16:creationId xmlns:a16="http://schemas.microsoft.com/office/drawing/2014/main" id="{3317E862-222E-A0B4-9B90-37E6A53C1988}"/>
              </a:ext>
            </a:extLst>
          </p:cNvPr>
          <p:cNvPicPr>
            <a:picLocks noGrp="1" noChangeAspect="1"/>
          </p:cNvPicPr>
          <p:nvPr>
            <p:ph idx="1"/>
          </p:nvPr>
        </p:nvPicPr>
        <p:blipFill>
          <a:blip r:embed="rId3"/>
          <a:stretch>
            <a:fillRect/>
          </a:stretch>
        </p:blipFill>
        <p:spPr>
          <a:xfrm>
            <a:off x="2002107" y="2733336"/>
            <a:ext cx="11686886" cy="3469544"/>
          </a:xfrm>
        </p:spPr>
      </p:pic>
      <p:sp>
        <p:nvSpPr>
          <p:cNvPr id="4" name="Tijdelijke aanduiding voor dianummer 3">
            <a:extLst>
              <a:ext uri="{FF2B5EF4-FFF2-40B4-BE49-F238E27FC236}">
                <a16:creationId xmlns:a16="http://schemas.microsoft.com/office/drawing/2014/main" id="{17D2D93C-50B5-002E-AE58-6213928CA1B5}"/>
              </a:ext>
            </a:extLst>
          </p:cNvPr>
          <p:cNvSpPr>
            <a:spLocks noGrp="1"/>
          </p:cNvSpPr>
          <p:nvPr>
            <p:ph type="sldNum" sz="quarter" idx="12"/>
          </p:nvPr>
        </p:nvSpPr>
        <p:spPr/>
        <p:txBody>
          <a:bodyPr/>
          <a:lstStyle/>
          <a:p>
            <a:fld id="{7AE184E0-0BD4-4705-A12B-9B71DDE63301}" type="slidenum">
              <a:rPr lang="en-GB" noProof="0" smtClean="0"/>
              <a:t>23</a:t>
            </a:fld>
            <a:endParaRPr lang="en-GB" noProof="0" dirty="0"/>
          </a:p>
        </p:txBody>
      </p:sp>
      <p:sp>
        <p:nvSpPr>
          <p:cNvPr id="5" name="Tijdelijke aanduiding voor inhoud 4">
            <a:extLst>
              <a:ext uri="{FF2B5EF4-FFF2-40B4-BE49-F238E27FC236}">
                <a16:creationId xmlns:a16="http://schemas.microsoft.com/office/drawing/2014/main" id="{426FECE7-C9B5-4FB3-1006-F10A90054A3A}"/>
              </a:ext>
            </a:extLst>
          </p:cNvPr>
          <p:cNvSpPr>
            <a:spLocks noGrp="1"/>
          </p:cNvSpPr>
          <p:nvPr>
            <p:ph idx="13"/>
          </p:nvPr>
        </p:nvSpPr>
        <p:spPr/>
        <p:txBody>
          <a:bodyPr/>
          <a:lstStyle/>
          <a:p>
            <a:endParaRPr lang="nl-NL"/>
          </a:p>
        </p:txBody>
      </p:sp>
      <p:sp>
        <p:nvSpPr>
          <p:cNvPr id="8" name="Ovaal 7">
            <a:extLst>
              <a:ext uri="{FF2B5EF4-FFF2-40B4-BE49-F238E27FC236}">
                <a16:creationId xmlns:a16="http://schemas.microsoft.com/office/drawing/2014/main" id="{608E8FD3-182F-6BFA-C64D-1925ECA7963D}"/>
              </a:ext>
            </a:extLst>
          </p:cNvPr>
          <p:cNvSpPr/>
          <p:nvPr/>
        </p:nvSpPr>
        <p:spPr>
          <a:xfrm>
            <a:off x="2002107" y="4112711"/>
            <a:ext cx="12960802" cy="2371215"/>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098819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24</a:t>
            </a:fld>
            <a:endParaRPr lang="en-US" dirty="0">
              <a:solidFill>
                <a:prstClr val="white"/>
              </a:solidFill>
            </a:endParaRPr>
          </a:p>
        </p:txBody>
      </p:sp>
      <p:pic>
        <p:nvPicPr>
          <p:cNvPr id="9" name="Tijdelijke aanduiding voor inhoud 8" descr="Afbeelding met tekst, schermopname, document, nummer&#10;&#10;Automatisch gegenereerde beschrijving">
            <a:extLst>
              <a:ext uri="{FF2B5EF4-FFF2-40B4-BE49-F238E27FC236}">
                <a16:creationId xmlns:a16="http://schemas.microsoft.com/office/drawing/2014/main" id="{40E41DD1-888A-D518-DA30-DFB6FAC64D66}"/>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4825756" y="1685285"/>
            <a:ext cx="6230171" cy="7793514"/>
          </a:xfrm>
        </p:spPr>
      </p:pic>
      <p:sp>
        <p:nvSpPr>
          <p:cNvPr id="7" name="Rechthoek 6"/>
          <p:cNvSpPr/>
          <p:nvPr/>
        </p:nvSpPr>
        <p:spPr>
          <a:xfrm>
            <a:off x="2753922" y="2948494"/>
            <a:ext cx="2071834" cy="413558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650230"/>
            <a:endParaRPr lang="nl-BE">
              <a:solidFill>
                <a:prstClr val="white"/>
              </a:solidFill>
              <a:latin typeface="Calibri"/>
            </a:endParaRPr>
          </a:p>
        </p:txBody>
      </p:sp>
    </p:spTree>
    <p:extLst>
      <p:ext uri="{BB962C8B-B14F-4D97-AF65-F5344CB8AC3E}">
        <p14:creationId xmlns:p14="http://schemas.microsoft.com/office/powerpoint/2010/main" val="2950277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2" name="Tijdelijke aanduiding voor inhoud 1"/>
          <p:cNvSpPr>
            <a:spLocks noGrp="1"/>
          </p:cNvSpPr>
          <p:nvPr>
            <p:ph idx="1"/>
          </p:nvPr>
        </p:nvSpPr>
        <p:spPr/>
        <p:txBody>
          <a:bodyPr>
            <a:normAutofit/>
          </a:bodyPr>
          <a:lstStyle/>
          <a:p>
            <a:pPr marL="650230" indent="-650230">
              <a:buFont typeface="Wingdings"/>
              <a:buChar char="à"/>
            </a:pPr>
            <a:endParaRPr lang="nl-BE" sz="3982" dirty="0">
              <a:sym typeface="Wingdings" pitchFamily="2" charset="2"/>
            </a:endParaRPr>
          </a:p>
          <a:p>
            <a:pPr marL="650230" indent="-650230">
              <a:buFont typeface="Wingdings"/>
              <a:buChar char="à"/>
            </a:pPr>
            <a:endParaRPr lang="nl-NL" sz="3982" dirty="0">
              <a:sym typeface="Wingdings" pitchFamily="2" charset="2"/>
            </a:endParaRPr>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25</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0F32D10C-3E98-430A-9A53-4DB2E6D65941}"/>
              </a:ext>
            </a:extLst>
          </p:cNvPr>
          <p:cNvSpPr>
            <a:spLocks noGrp="1"/>
          </p:cNvSpPr>
          <p:nvPr>
            <p:ph idx="13"/>
          </p:nvPr>
        </p:nvSpPr>
        <p:spPr/>
        <p:txBody>
          <a:bodyPr/>
          <a:lstStyle/>
          <a:p>
            <a:endParaRPr lang="nl-BE"/>
          </a:p>
        </p:txBody>
      </p:sp>
      <p:pic>
        <p:nvPicPr>
          <p:cNvPr id="7" name="Afbeelding 6">
            <a:extLst>
              <a:ext uri="{FF2B5EF4-FFF2-40B4-BE49-F238E27FC236}">
                <a16:creationId xmlns:a16="http://schemas.microsoft.com/office/drawing/2014/main" id="{69C5ADCC-747A-61B0-D7B8-3AC429262138}"/>
              </a:ext>
            </a:extLst>
          </p:cNvPr>
          <p:cNvPicPr>
            <a:picLocks noChangeAspect="1"/>
          </p:cNvPicPr>
          <p:nvPr/>
        </p:nvPicPr>
        <p:blipFill>
          <a:blip r:embed="rId3"/>
          <a:stretch>
            <a:fillRect/>
          </a:stretch>
        </p:blipFill>
        <p:spPr>
          <a:xfrm>
            <a:off x="152965" y="1598765"/>
            <a:ext cx="7365134" cy="7858385"/>
          </a:xfrm>
          <a:prstGeom prst="rect">
            <a:avLst/>
          </a:prstGeom>
        </p:spPr>
      </p:pic>
    </p:spTree>
    <p:extLst>
      <p:ext uri="{BB962C8B-B14F-4D97-AF65-F5344CB8AC3E}">
        <p14:creationId xmlns:p14="http://schemas.microsoft.com/office/powerpoint/2010/main" val="633709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2" name="Tijdelijke aanduiding voor inhoud 1"/>
          <p:cNvSpPr>
            <a:spLocks noGrp="1"/>
          </p:cNvSpPr>
          <p:nvPr>
            <p:ph idx="1"/>
          </p:nvPr>
        </p:nvSpPr>
        <p:spPr/>
        <p:txBody>
          <a:bodyPr>
            <a:normAutofit/>
          </a:bodyPr>
          <a:lstStyle/>
          <a:p>
            <a:pPr marL="650230" indent="-650230">
              <a:buFont typeface="Wingdings"/>
              <a:buChar char="à"/>
            </a:pPr>
            <a:endParaRPr lang="nl-BE" sz="3982" dirty="0">
              <a:sym typeface="Wingdings" pitchFamily="2" charset="2"/>
            </a:endParaRPr>
          </a:p>
          <a:p>
            <a:pPr marL="650230" indent="-650230">
              <a:buFont typeface="Wingdings"/>
              <a:buChar char="à"/>
            </a:pPr>
            <a:endParaRPr lang="nl-NL" sz="3982" dirty="0">
              <a:sym typeface="Wingdings" pitchFamily="2" charset="2"/>
            </a:endParaRPr>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26</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0F32D10C-3E98-430A-9A53-4DB2E6D65941}"/>
              </a:ext>
            </a:extLst>
          </p:cNvPr>
          <p:cNvSpPr>
            <a:spLocks noGrp="1"/>
          </p:cNvSpPr>
          <p:nvPr>
            <p:ph idx="13"/>
          </p:nvPr>
        </p:nvSpPr>
        <p:spPr/>
        <p:txBody>
          <a:bodyPr/>
          <a:lstStyle/>
          <a:p>
            <a:endParaRPr lang="nl-BE" dirty="0"/>
          </a:p>
        </p:txBody>
      </p:sp>
      <p:pic>
        <p:nvPicPr>
          <p:cNvPr id="7" name="Afbeelding 6">
            <a:extLst>
              <a:ext uri="{FF2B5EF4-FFF2-40B4-BE49-F238E27FC236}">
                <a16:creationId xmlns:a16="http://schemas.microsoft.com/office/drawing/2014/main" id="{69C5ADCC-747A-61B0-D7B8-3AC429262138}"/>
              </a:ext>
            </a:extLst>
          </p:cNvPr>
          <p:cNvPicPr>
            <a:picLocks noChangeAspect="1"/>
          </p:cNvPicPr>
          <p:nvPr/>
        </p:nvPicPr>
        <p:blipFill>
          <a:blip r:embed="rId3"/>
          <a:stretch>
            <a:fillRect/>
          </a:stretch>
        </p:blipFill>
        <p:spPr>
          <a:xfrm>
            <a:off x="152965" y="1598765"/>
            <a:ext cx="7365134" cy="7858385"/>
          </a:xfrm>
          <a:prstGeom prst="rect">
            <a:avLst/>
          </a:prstGeom>
        </p:spPr>
      </p:pic>
      <p:pic>
        <p:nvPicPr>
          <p:cNvPr id="8" name="Afbeelding 7">
            <a:extLst>
              <a:ext uri="{FF2B5EF4-FFF2-40B4-BE49-F238E27FC236}">
                <a16:creationId xmlns:a16="http://schemas.microsoft.com/office/drawing/2014/main" id="{50597D78-4DAA-BDB0-0F56-36E9C7AF0E06}"/>
              </a:ext>
            </a:extLst>
          </p:cNvPr>
          <p:cNvPicPr>
            <a:picLocks noChangeAspect="1"/>
          </p:cNvPicPr>
          <p:nvPr/>
        </p:nvPicPr>
        <p:blipFill>
          <a:blip r:embed="rId4"/>
          <a:stretch>
            <a:fillRect/>
          </a:stretch>
        </p:blipFill>
        <p:spPr>
          <a:xfrm>
            <a:off x="7929262" y="3132419"/>
            <a:ext cx="8124825" cy="4791075"/>
          </a:xfrm>
          <a:prstGeom prst="rect">
            <a:avLst/>
          </a:prstGeom>
        </p:spPr>
      </p:pic>
      <p:sp>
        <p:nvSpPr>
          <p:cNvPr id="6" name="Rectangle 3">
            <a:extLst>
              <a:ext uri="{FF2B5EF4-FFF2-40B4-BE49-F238E27FC236}">
                <a16:creationId xmlns:a16="http://schemas.microsoft.com/office/drawing/2014/main" id="{A9E56B01-2022-7931-3882-3925DAC4A185}"/>
              </a:ext>
            </a:extLst>
          </p:cNvPr>
          <p:cNvSpPr txBox="1">
            <a:spLocks noChangeArrowheads="1"/>
          </p:cNvSpPr>
          <p:nvPr/>
        </p:nvSpPr>
        <p:spPr bwMode="auto">
          <a:xfrm>
            <a:off x="9939954" y="3703006"/>
            <a:ext cx="5808289" cy="1824950"/>
          </a:xfrm>
          <a:prstGeom prst="rect">
            <a:avLst/>
          </a:prstGeom>
          <a:noFill/>
          <a:ln w="9525">
            <a:noFill/>
            <a:miter lim="800000"/>
            <a:headEnd/>
            <a:tailEnd/>
          </a:ln>
        </p:spPr>
        <p:txBody>
          <a:bodyPr vert="horz" wrap="square" lIns="130048" tIns="65024" rIns="130048" bIns="65024"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F604A"/>
                </a:solidFill>
                <a:latin typeface="+mn-lt"/>
                <a:ea typeface="+mn-ea"/>
                <a:cs typeface="+mn-cs"/>
              </a:defRPr>
            </a:lvl1pPr>
            <a:lvl2pPr marL="742950" indent="-285750" algn="l" rtl="0" eaLnBrk="0" fontAlgn="base" hangingPunct="0">
              <a:spcBef>
                <a:spcPct val="20000"/>
              </a:spcBef>
              <a:spcAft>
                <a:spcPct val="0"/>
              </a:spcAft>
              <a:buChar char="–"/>
              <a:defRPr sz="2800">
                <a:solidFill>
                  <a:srgbClr val="5F604A"/>
                </a:solidFill>
                <a:latin typeface="+mn-lt"/>
              </a:defRPr>
            </a:lvl2pPr>
            <a:lvl3pPr marL="1143000" indent="-228600" algn="l" rtl="0" eaLnBrk="0" fontAlgn="base" hangingPunct="0">
              <a:spcBef>
                <a:spcPct val="20000"/>
              </a:spcBef>
              <a:spcAft>
                <a:spcPct val="0"/>
              </a:spcAft>
              <a:buChar char="•"/>
              <a:defRPr sz="2400">
                <a:solidFill>
                  <a:srgbClr val="7F7358"/>
                </a:solidFill>
                <a:latin typeface="+mn-lt"/>
              </a:defRPr>
            </a:lvl3pPr>
            <a:lvl4pPr marL="1600200" indent="-228600" algn="l" rtl="0" eaLnBrk="0" fontAlgn="base" hangingPunct="0">
              <a:spcBef>
                <a:spcPct val="20000"/>
              </a:spcBef>
              <a:spcAft>
                <a:spcPct val="0"/>
              </a:spcAft>
              <a:buChar char="–"/>
              <a:defRPr sz="2000">
                <a:solidFill>
                  <a:srgbClr val="7F7358"/>
                </a:solidFill>
                <a:latin typeface="+mn-lt"/>
              </a:defRPr>
            </a:lvl4pPr>
            <a:lvl5pPr marL="2057400" indent="-228600" algn="l" rtl="0" eaLnBrk="0" fontAlgn="base" hangingPunct="0">
              <a:spcBef>
                <a:spcPct val="20000"/>
              </a:spcBef>
              <a:spcAft>
                <a:spcPct val="0"/>
              </a:spcAft>
              <a:buChar char="»"/>
              <a:defRPr sz="2000">
                <a:solidFill>
                  <a:srgbClr val="7F7358"/>
                </a:solidFill>
                <a:latin typeface="+mn-lt"/>
              </a:defRPr>
            </a:lvl5pPr>
            <a:lvl6pPr marL="2514600" indent="-228600" algn="l" rtl="0" fontAlgn="base">
              <a:spcBef>
                <a:spcPct val="20000"/>
              </a:spcBef>
              <a:spcAft>
                <a:spcPct val="0"/>
              </a:spcAft>
              <a:buChar char="»"/>
              <a:defRPr sz="2000">
                <a:solidFill>
                  <a:srgbClr val="7F7358"/>
                </a:solidFill>
                <a:latin typeface="+mn-lt"/>
              </a:defRPr>
            </a:lvl6pPr>
            <a:lvl7pPr marL="2971800" indent="-228600" algn="l" rtl="0" fontAlgn="base">
              <a:spcBef>
                <a:spcPct val="20000"/>
              </a:spcBef>
              <a:spcAft>
                <a:spcPct val="0"/>
              </a:spcAft>
              <a:buChar char="»"/>
              <a:defRPr sz="2000">
                <a:solidFill>
                  <a:srgbClr val="7F7358"/>
                </a:solidFill>
                <a:latin typeface="+mn-lt"/>
              </a:defRPr>
            </a:lvl7pPr>
            <a:lvl8pPr marL="3429000" indent="-228600" algn="l" rtl="0" fontAlgn="base">
              <a:spcBef>
                <a:spcPct val="20000"/>
              </a:spcBef>
              <a:spcAft>
                <a:spcPct val="0"/>
              </a:spcAft>
              <a:buChar char="»"/>
              <a:defRPr sz="2000">
                <a:solidFill>
                  <a:srgbClr val="7F7358"/>
                </a:solidFill>
                <a:latin typeface="+mn-lt"/>
              </a:defRPr>
            </a:lvl8pPr>
            <a:lvl9pPr marL="3886200" indent="-228600" algn="l" rtl="0" fontAlgn="base">
              <a:spcBef>
                <a:spcPct val="20000"/>
              </a:spcBef>
              <a:spcAft>
                <a:spcPct val="0"/>
              </a:spcAft>
              <a:buChar char="»"/>
              <a:defRPr sz="2000">
                <a:solidFill>
                  <a:srgbClr val="7F7358"/>
                </a:solidFill>
                <a:latin typeface="+mn-lt"/>
              </a:defRPr>
            </a:lvl9pPr>
          </a:lstStyle>
          <a:p>
            <a:pPr marL="0" indent="0" defTabSz="650230" eaLnBrk="1" hangingPunct="1">
              <a:buNone/>
            </a:pPr>
            <a:r>
              <a:rPr lang="en-US" sz="2800" b="1" u="sng" dirty="0">
                <a:solidFill>
                  <a:srgbClr val="C00000"/>
                </a:solidFill>
                <a:latin typeface="Verdana" panose="020B0604030504040204" pitchFamily="34" charset="0"/>
                <a:ea typeface="Verdana" panose="020B0604030504040204" pitchFamily="34" charset="0"/>
              </a:rPr>
              <a:t>De scree test</a:t>
            </a:r>
          </a:p>
          <a:p>
            <a:pPr marL="0" indent="0" defTabSz="650230" eaLnBrk="1" hangingPunct="1">
              <a:buNone/>
            </a:pPr>
            <a:r>
              <a:rPr lang="en-US" sz="2800" b="1" dirty="0">
                <a:solidFill>
                  <a:srgbClr val="C00000"/>
                </a:solidFill>
                <a:latin typeface="Verdana" panose="020B0604030504040204" pitchFamily="34" charset="0"/>
                <a:ea typeface="Verdana" panose="020B0604030504040204" pitchFamily="34" charset="0"/>
              </a:rPr>
              <a:t>Het punt </a:t>
            </a:r>
            <a:r>
              <a:rPr lang="en-US" sz="2800" b="1" dirty="0" err="1">
                <a:solidFill>
                  <a:srgbClr val="C00000"/>
                </a:solidFill>
                <a:latin typeface="Verdana" panose="020B0604030504040204" pitchFamily="34" charset="0"/>
                <a:ea typeface="Verdana" panose="020B0604030504040204" pitchFamily="34" charset="0"/>
              </a:rPr>
              <a:t>waar</a:t>
            </a:r>
            <a:r>
              <a:rPr lang="en-US" sz="2800" b="1" dirty="0">
                <a:solidFill>
                  <a:srgbClr val="C00000"/>
                </a:solidFill>
                <a:latin typeface="Verdana" panose="020B0604030504040204" pitchFamily="34" charset="0"/>
                <a:ea typeface="Verdana" panose="020B0604030504040204" pitchFamily="34" charset="0"/>
              </a:rPr>
              <a:t> de </a:t>
            </a:r>
            <a:r>
              <a:rPr lang="en-US" sz="2800" b="1" dirty="0" err="1">
                <a:solidFill>
                  <a:srgbClr val="C00000"/>
                </a:solidFill>
                <a:latin typeface="Verdana" panose="020B0604030504040204" pitchFamily="34" charset="0"/>
                <a:ea typeface="Verdana" panose="020B0604030504040204" pitchFamily="34" charset="0"/>
              </a:rPr>
              <a:t>kromme</a:t>
            </a:r>
            <a:r>
              <a:rPr lang="en-US" sz="2800" b="1" dirty="0">
                <a:solidFill>
                  <a:srgbClr val="C00000"/>
                </a:solidFill>
                <a:latin typeface="Verdana" panose="020B0604030504040204" pitchFamily="34" charset="0"/>
                <a:ea typeface="Verdana" panose="020B0604030504040204" pitchFamily="34" charset="0"/>
              </a:rPr>
              <a:t> </a:t>
            </a:r>
            <a:r>
              <a:rPr lang="en-US" sz="2800" b="1" dirty="0" err="1">
                <a:solidFill>
                  <a:srgbClr val="C00000"/>
                </a:solidFill>
                <a:latin typeface="Verdana" panose="020B0604030504040204" pitchFamily="34" charset="0"/>
                <a:ea typeface="Verdana" panose="020B0604030504040204" pitchFamily="34" charset="0"/>
              </a:rPr>
              <a:t>afvlakt</a:t>
            </a:r>
            <a:r>
              <a:rPr lang="en-US" sz="2800" b="1" dirty="0">
                <a:solidFill>
                  <a:srgbClr val="C00000"/>
                </a:solidFill>
                <a:latin typeface="Verdana" panose="020B0604030504040204" pitchFamily="34" charset="0"/>
                <a:ea typeface="Verdana" panose="020B0604030504040204" pitchFamily="34" charset="0"/>
              </a:rPr>
              <a:t>, </a:t>
            </a:r>
            <a:r>
              <a:rPr lang="en-US" sz="2800" b="1" dirty="0" err="1">
                <a:solidFill>
                  <a:srgbClr val="C00000"/>
                </a:solidFill>
                <a:latin typeface="Verdana" panose="020B0604030504040204" pitchFamily="34" charset="0"/>
                <a:ea typeface="Verdana" panose="020B0604030504040204" pitchFamily="34" charset="0"/>
              </a:rPr>
              <a:t>geeft</a:t>
            </a:r>
            <a:r>
              <a:rPr lang="en-US" sz="2800" b="1" dirty="0">
                <a:solidFill>
                  <a:srgbClr val="C00000"/>
                </a:solidFill>
                <a:latin typeface="Verdana" panose="020B0604030504040204" pitchFamily="34" charset="0"/>
                <a:ea typeface="Verdana" panose="020B0604030504040204" pitchFamily="34" charset="0"/>
              </a:rPr>
              <a:t> het begin van </a:t>
            </a:r>
            <a:r>
              <a:rPr lang="en-US" sz="2800" b="1" dirty="0" err="1">
                <a:solidFill>
                  <a:srgbClr val="C00000"/>
                </a:solidFill>
                <a:latin typeface="Verdana" panose="020B0604030504040204" pitchFamily="34" charset="0"/>
                <a:ea typeface="Verdana" panose="020B0604030504040204" pitchFamily="34" charset="0"/>
              </a:rPr>
              <a:t>niet-betekenisvolle</a:t>
            </a:r>
            <a:r>
              <a:rPr lang="en-US" sz="2800" b="1" dirty="0">
                <a:solidFill>
                  <a:srgbClr val="C00000"/>
                </a:solidFill>
                <a:latin typeface="Verdana" panose="020B0604030504040204" pitchFamily="34" charset="0"/>
                <a:ea typeface="Verdana" panose="020B0604030504040204" pitchFamily="34" charset="0"/>
              </a:rPr>
              <a:t> </a:t>
            </a:r>
            <a:r>
              <a:rPr lang="en-US" sz="2800" b="1" dirty="0" err="1">
                <a:solidFill>
                  <a:srgbClr val="C00000"/>
                </a:solidFill>
                <a:latin typeface="Verdana" panose="020B0604030504040204" pitchFamily="34" charset="0"/>
                <a:ea typeface="Verdana" panose="020B0604030504040204" pitchFamily="34" charset="0"/>
              </a:rPr>
              <a:t>factoren</a:t>
            </a:r>
            <a:r>
              <a:rPr lang="en-US" sz="2800" b="1" dirty="0">
                <a:solidFill>
                  <a:srgbClr val="C00000"/>
                </a:solidFill>
                <a:latin typeface="Verdana" panose="020B0604030504040204" pitchFamily="34" charset="0"/>
                <a:ea typeface="Verdana" panose="020B0604030504040204" pitchFamily="34" charset="0"/>
              </a:rPr>
              <a:t> </a:t>
            </a:r>
            <a:r>
              <a:rPr lang="en-US" sz="2800" b="1" dirty="0" err="1">
                <a:solidFill>
                  <a:srgbClr val="C00000"/>
                </a:solidFill>
                <a:latin typeface="Verdana" panose="020B0604030504040204" pitchFamily="34" charset="0"/>
                <a:ea typeface="Verdana" panose="020B0604030504040204" pitchFamily="34" charset="0"/>
              </a:rPr>
              <a:t>aan</a:t>
            </a:r>
            <a:endParaRPr lang="en-US" sz="2800" b="1" dirty="0">
              <a:solidFill>
                <a:srgbClr val="C0000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22630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2" name="Tijdelijke aanduiding voor inhoud 1"/>
          <p:cNvSpPr>
            <a:spLocks noGrp="1"/>
          </p:cNvSpPr>
          <p:nvPr>
            <p:ph idx="1"/>
          </p:nvPr>
        </p:nvSpPr>
        <p:spPr/>
        <p:txBody>
          <a:bodyPr>
            <a:normAutofit/>
          </a:bodyPr>
          <a:lstStyle/>
          <a:p>
            <a:pPr marL="650230" indent="-650230">
              <a:buFont typeface="Wingdings"/>
              <a:buChar char="à"/>
            </a:pPr>
            <a:endParaRPr lang="nl-BE" sz="3982" dirty="0">
              <a:sym typeface="Wingdings" pitchFamily="2" charset="2"/>
            </a:endParaRPr>
          </a:p>
          <a:p>
            <a:pPr marL="650230" indent="-650230">
              <a:buFont typeface="Wingdings"/>
              <a:buChar char="à"/>
            </a:pPr>
            <a:endParaRPr lang="nl-NL" sz="3982" dirty="0">
              <a:sym typeface="Wingdings" pitchFamily="2" charset="2"/>
            </a:endParaRPr>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27</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0F32D10C-3E98-430A-9A53-4DB2E6D65941}"/>
              </a:ext>
            </a:extLst>
          </p:cNvPr>
          <p:cNvSpPr>
            <a:spLocks noGrp="1"/>
          </p:cNvSpPr>
          <p:nvPr>
            <p:ph idx="13"/>
          </p:nvPr>
        </p:nvSpPr>
        <p:spPr/>
        <p:txBody>
          <a:bodyPr/>
          <a:lstStyle/>
          <a:p>
            <a:endParaRPr lang="nl-BE"/>
          </a:p>
        </p:txBody>
      </p:sp>
      <p:pic>
        <p:nvPicPr>
          <p:cNvPr id="7" name="Afbeelding 6">
            <a:extLst>
              <a:ext uri="{FF2B5EF4-FFF2-40B4-BE49-F238E27FC236}">
                <a16:creationId xmlns:a16="http://schemas.microsoft.com/office/drawing/2014/main" id="{69C5ADCC-747A-61B0-D7B8-3AC429262138}"/>
              </a:ext>
            </a:extLst>
          </p:cNvPr>
          <p:cNvPicPr>
            <a:picLocks noChangeAspect="1"/>
          </p:cNvPicPr>
          <p:nvPr/>
        </p:nvPicPr>
        <p:blipFill>
          <a:blip r:embed="rId3"/>
          <a:stretch>
            <a:fillRect/>
          </a:stretch>
        </p:blipFill>
        <p:spPr>
          <a:xfrm>
            <a:off x="152965" y="1598765"/>
            <a:ext cx="7365134" cy="7858385"/>
          </a:xfrm>
          <a:prstGeom prst="rect">
            <a:avLst/>
          </a:prstGeom>
        </p:spPr>
      </p:pic>
      <p:sp>
        <p:nvSpPr>
          <p:cNvPr id="6" name="Ovaal 5">
            <a:extLst>
              <a:ext uri="{FF2B5EF4-FFF2-40B4-BE49-F238E27FC236}">
                <a16:creationId xmlns:a16="http://schemas.microsoft.com/office/drawing/2014/main" id="{92A4DAB3-FB8C-4F49-A8D6-5E589E6CEA22}"/>
              </a:ext>
            </a:extLst>
          </p:cNvPr>
          <p:cNvSpPr/>
          <p:nvPr/>
        </p:nvSpPr>
        <p:spPr>
          <a:xfrm>
            <a:off x="3545305" y="1816274"/>
            <a:ext cx="3240505" cy="2304132"/>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Ovaal 7">
            <a:extLst>
              <a:ext uri="{FF2B5EF4-FFF2-40B4-BE49-F238E27FC236}">
                <a16:creationId xmlns:a16="http://schemas.microsoft.com/office/drawing/2014/main" id="{BA96AA60-A2E3-797D-32D0-50279284B364}"/>
              </a:ext>
            </a:extLst>
          </p:cNvPr>
          <p:cNvSpPr/>
          <p:nvPr/>
        </p:nvSpPr>
        <p:spPr>
          <a:xfrm>
            <a:off x="4459705" y="2336800"/>
            <a:ext cx="1052095" cy="63154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041407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A7D363-40EB-4BF7-181D-330AD9D523A7}"/>
              </a:ext>
            </a:extLst>
          </p:cNvPr>
          <p:cNvSpPr>
            <a:spLocks noGrp="1"/>
          </p:cNvSpPr>
          <p:nvPr>
            <p:ph type="title"/>
          </p:nvPr>
        </p:nvSpPr>
        <p:spPr/>
        <p:txBody>
          <a:bodyPr/>
          <a:lstStyle/>
          <a:p>
            <a:r>
              <a:rPr lang="nl-NL" dirty="0"/>
              <a:t>Factoranalyse in </a:t>
            </a:r>
            <a:r>
              <a:rPr lang="nl-NL" dirty="0" err="1"/>
              <a:t>spss</a:t>
            </a:r>
            <a:endParaRPr lang="nl-NL" dirty="0"/>
          </a:p>
        </p:txBody>
      </p:sp>
      <p:sp>
        <p:nvSpPr>
          <p:cNvPr id="4" name="Tijdelijke aanduiding voor dianummer 3">
            <a:extLst>
              <a:ext uri="{FF2B5EF4-FFF2-40B4-BE49-F238E27FC236}">
                <a16:creationId xmlns:a16="http://schemas.microsoft.com/office/drawing/2014/main" id="{896CBB62-E1C9-E8FB-4C32-A8C4855C4A25}"/>
              </a:ext>
            </a:extLst>
          </p:cNvPr>
          <p:cNvSpPr>
            <a:spLocks noGrp="1"/>
          </p:cNvSpPr>
          <p:nvPr>
            <p:ph type="sldNum" sz="quarter" idx="12"/>
          </p:nvPr>
        </p:nvSpPr>
        <p:spPr/>
        <p:txBody>
          <a:bodyPr/>
          <a:lstStyle/>
          <a:p>
            <a:fld id="{7AE184E0-0BD4-4705-A12B-9B71DDE63301}" type="slidenum">
              <a:rPr lang="en-GB" noProof="0" smtClean="0"/>
              <a:t>28</a:t>
            </a:fld>
            <a:endParaRPr lang="en-GB" noProof="0" dirty="0"/>
          </a:p>
        </p:txBody>
      </p:sp>
      <p:sp>
        <p:nvSpPr>
          <p:cNvPr id="5" name="Tijdelijke aanduiding voor inhoud 4">
            <a:extLst>
              <a:ext uri="{FF2B5EF4-FFF2-40B4-BE49-F238E27FC236}">
                <a16:creationId xmlns:a16="http://schemas.microsoft.com/office/drawing/2014/main" id="{C7CD7F8A-54B0-30CE-5780-41A5E00C5E70}"/>
              </a:ext>
            </a:extLst>
          </p:cNvPr>
          <p:cNvSpPr>
            <a:spLocks noGrp="1"/>
          </p:cNvSpPr>
          <p:nvPr>
            <p:ph idx="13"/>
          </p:nvPr>
        </p:nvSpPr>
        <p:spPr/>
        <p:txBody>
          <a:bodyPr/>
          <a:lstStyle/>
          <a:p>
            <a:endParaRPr lang="nl-NL"/>
          </a:p>
        </p:txBody>
      </p:sp>
      <p:pic>
        <p:nvPicPr>
          <p:cNvPr id="11" name="Tijdelijke aanduiding voor inhoud 10" descr="Afbeelding met tekst, document, nummer, schermopname&#10;&#10;Automatisch gegenereerde beschrijving">
            <a:extLst>
              <a:ext uri="{FF2B5EF4-FFF2-40B4-BE49-F238E27FC236}">
                <a16:creationId xmlns:a16="http://schemas.microsoft.com/office/drawing/2014/main" id="{74AE530A-5FC4-6C84-F19E-98E04D4E8E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528857" y="157068"/>
            <a:ext cx="5753989" cy="9473033"/>
          </a:xfrm>
        </p:spPr>
      </p:pic>
    </p:spTree>
    <p:extLst>
      <p:ext uri="{BB962C8B-B14F-4D97-AF65-F5344CB8AC3E}">
        <p14:creationId xmlns:p14="http://schemas.microsoft.com/office/powerpoint/2010/main" val="2925849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2" name="Tijdelijke aanduiding voor inhoud 1"/>
          <p:cNvSpPr>
            <a:spLocks noGrp="1"/>
          </p:cNvSpPr>
          <p:nvPr>
            <p:ph idx="1"/>
          </p:nvPr>
        </p:nvSpPr>
        <p:spPr>
          <a:xfrm>
            <a:off x="327069" y="1816272"/>
            <a:ext cx="16858641" cy="7327727"/>
          </a:xfrm>
        </p:spPr>
        <p:txBody>
          <a:bodyPr>
            <a:normAutofit lnSpcReduction="10000"/>
          </a:bodyPr>
          <a:lstStyle/>
          <a:p>
            <a:pPr marL="86400" indent="0">
              <a:lnSpc>
                <a:spcPct val="150000"/>
              </a:lnSpc>
              <a:buNone/>
            </a:pPr>
            <a:r>
              <a:rPr lang="nl-NL" b="1" dirty="0">
                <a:sym typeface="Wingdings" pitchFamily="2" charset="2"/>
              </a:rPr>
              <a:t>Ook het type van </a:t>
            </a:r>
            <a:r>
              <a:rPr lang="nl-NL" b="1" u="sng" dirty="0">
                <a:sym typeface="Wingdings" pitchFamily="2" charset="2"/>
              </a:rPr>
              <a:t>rotatie</a:t>
            </a:r>
            <a:r>
              <a:rPr lang="nl-NL" b="1" dirty="0">
                <a:sym typeface="Wingdings" pitchFamily="2" charset="2"/>
              </a:rPr>
              <a:t> speelt een rol</a:t>
            </a:r>
            <a:endParaRPr lang="en-US" b="1" dirty="0"/>
          </a:p>
          <a:p>
            <a:pPr>
              <a:lnSpc>
                <a:spcPct val="150000"/>
              </a:lnSpc>
            </a:pPr>
            <a:r>
              <a:rPr lang="en-US" b="1" dirty="0" err="1">
                <a:solidFill>
                  <a:srgbClr val="002060"/>
                </a:solidFill>
              </a:rPr>
              <a:t>Orthogonale</a:t>
            </a:r>
            <a:r>
              <a:rPr lang="en-US" b="1" dirty="0">
                <a:solidFill>
                  <a:srgbClr val="002060"/>
                </a:solidFill>
              </a:rPr>
              <a:t> </a:t>
            </a:r>
            <a:r>
              <a:rPr lang="en-US" b="1" dirty="0" err="1">
                <a:solidFill>
                  <a:srgbClr val="002060"/>
                </a:solidFill>
              </a:rPr>
              <a:t>rotatie</a:t>
            </a:r>
            <a:endParaRPr lang="en-US" b="1" dirty="0">
              <a:solidFill>
                <a:srgbClr val="002060"/>
              </a:solidFill>
            </a:endParaRPr>
          </a:p>
          <a:p>
            <a:pPr lvl="1">
              <a:lnSpc>
                <a:spcPct val="150000"/>
              </a:lnSpc>
            </a:pPr>
            <a:r>
              <a:rPr lang="en-US" dirty="0" err="1"/>
              <a:t>Geen</a:t>
            </a:r>
            <a:r>
              <a:rPr lang="en-US" dirty="0"/>
              <a:t> van de </a:t>
            </a:r>
            <a:r>
              <a:rPr lang="en-US" dirty="0" err="1"/>
              <a:t>factoren</a:t>
            </a:r>
            <a:r>
              <a:rPr lang="en-US" dirty="0"/>
              <a:t> mag </a:t>
            </a:r>
            <a:r>
              <a:rPr lang="en-US" dirty="0" err="1"/>
              <a:t>correleren</a:t>
            </a:r>
            <a:r>
              <a:rPr lang="en-US" dirty="0"/>
              <a:t> (</a:t>
            </a:r>
            <a:r>
              <a:rPr lang="en-US" dirty="0" err="1"/>
              <a:t>varimax</a:t>
            </a:r>
            <a:r>
              <a:rPr lang="en-US" dirty="0"/>
              <a:t>)</a:t>
            </a:r>
          </a:p>
          <a:p>
            <a:pPr>
              <a:lnSpc>
                <a:spcPct val="150000"/>
              </a:lnSpc>
            </a:pPr>
            <a:r>
              <a:rPr lang="en-US" b="1" dirty="0" err="1">
                <a:solidFill>
                  <a:srgbClr val="C00000"/>
                </a:solidFill>
                <a:highlight>
                  <a:srgbClr val="FFFF00"/>
                </a:highlight>
              </a:rPr>
              <a:t>Oblieke</a:t>
            </a:r>
            <a:r>
              <a:rPr lang="en-US" b="1" dirty="0">
                <a:solidFill>
                  <a:srgbClr val="C00000"/>
                </a:solidFill>
                <a:highlight>
                  <a:srgbClr val="FFFF00"/>
                </a:highlight>
              </a:rPr>
              <a:t> </a:t>
            </a:r>
            <a:r>
              <a:rPr lang="en-US" b="1" dirty="0" err="1">
                <a:solidFill>
                  <a:srgbClr val="C00000"/>
                </a:solidFill>
                <a:highlight>
                  <a:srgbClr val="FFFF00"/>
                </a:highlight>
              </a:rPr>
              <a:t>rotatie</a:t>
            </a:r>
            <a:endParaRPr lang="en-US" b="1" dirty="0">
              <a:solidFill>
                <a:srgbClr val="C00000"/>
              </a:solidFill>
              <a:highlight>
                <a:srgbClr val="FFFF00"/>
              </a:highlight>
            </a:endParaRPr>
          </a:p>
          <a:p>
            <a:pPr lvl="1">
              <a:lnSpc>
                <a:spcPct val="150000"/>
              </a:lnSpc>
            </a:pPr>
            <a:r>
              <a:rPr lang="nl-BE" dirty="0">
                <a:highlight>
                  <a:srgbClr val="FFFF00"/>
                </a:highlight>
              </a:rPr>
              <a:t>De factoren mogen met elkaar correleren </a:t>
            </a:r>
            <a:r>
              <a:rPr lang="nl-BE" dirty="0"/>
              <a:t>(</a:t>
            </a:r>
            <a:r>
              <a:rPr lang="nl-BE" dirty="0" err="1">
                <a:highlight>
                  <a:srgbClr val="FFFF00"/>
                </a:highlight>
              </a:rPr>
              <a:t>promax</a:t>
            </a:r>
            <a:r>
              <a:rPr lang="nl-BE" dirty="0"/>
              <a:t>)</a:t>
            </a:r>
          </a:p>
          <a:p>
            <a:pPr lvl="2">
              <a:lnSpc>
                <a:spcPct val="150000"/>
              </a:lnSpc>
            </a:pPr>
            <a:r>
              <a:rPr lang="en-US" dirty="0"/>
              <a:t>Factor Matrix – </a:t>
            </a:r>
            <a:r>
              <a:rPr lang="en-US" dirty="0" err="1"/>
              <a:t>correlatie</a:t>
            </a:r>
            <a:r>
              <a:rPr lang="en-US" dirty="0"/>
              <a:t> </a:t>
            </a:r>
            <a:r>
              <a:rPr lang="en-US" dirty="0" err="1"/>
              <a:t>tussen</a:t>
            </a:r>
            <a:r>
              <a:rPr lang="en-US" dirty="0"/>
              <a:t> </a:t>
            </a:r>
            <a:r>
              <a:rPr lang="en-US" dirty="0" err="1"/>
              <a:t>factoren</a:t>
            </a:r>
            <a:endParaRPr lang="en-US" dirty="0"/>
          </a:p>
          <a:p>
            <a:pPr lvl="2">
              <a:lnSpc>
                <a:spcPct val="150000"/>
              </a:lnSpc>
            </a:pPr>
            <a:r>
              <a:rPr lang="en-US" dirty="0"/>
              <a:t>Structure Matrix – </a:t>
            </a:r>
            <a:r>
              <a:rPr lang="en-US" dirty="0" err="1"/>
              <a:t>correlatie</a:t>
            </a:r>
            <a:r>
              <a:rPr lang="en-US" dirty="0"/>
              <a:t> </a:t>
            </a:r>
            <a:r>
              <a:rPr lang="en-US" dirty="0" err="1"/>
              <a:t>tussen</a:t>
            </a:r>
            <a:r>
              <a:rPr lang="en-US" dirty="0"/>
              <a:t> </a:t>
            </a:r>
            <a:r>
              <a:rPr lang="en-US" dirty="0" err="1"/>
              <a:t>factoren</a:t>
            </a:r>
            <a:r>
              <a:rPr lang="en-US" dirty="0"/>
              <a:t> en </a:t>
            </a:r>
            <a:r>
              <a:rPr lang="en-US" dirty="0" err="1"/>
              <a:t>variabelen</a:t>
            </a:r>
            <a:endParaRPr lang="en-US" dirty="0"/>
          </a:p>
          <a:p>
            <a:pPr lvl="2">
              <a:lnSpc>
                <a:spcPct val="150000"/>
              </a:lnSpc>
            </a:pPr>
            <a:r>
              <a:rPr lang="en-US" b="1" dirty="0">
                <a:solidFill>
                  <a:srgbClr val="C00000"/>
                </a:solidFill>
                <a:highlight>
                  <a:srgbClr val="FFFF00"/>
                </a:highlight>
              </a:rPr>
              <a:t>Pattern Matrix – </a:t>
            </a:r>
            <a:r>
              <a:rPr lang="en-US" b="1" dirty="0" err="1">
                <a:solidFill>
                  <a:srgbClr val="C00000"/>
                </a:solidFill>
                <a:highlight>
                  <a:srgbClr val="FFFF00"/>
                </a:highlight>
              </a:rPr>
              <a:t>unieke</a:t>
            </a:r>
            <a:r>
              <a:rPr lang="en-US" b="1" dirty="0">
                <a:solidFill>
                  <a:srgbClr val="C00000"/>
                </a:solidFill>
                <a:highlight>
                  <a:srgbClr val="FFFF00"/>
                </a:highlight>
              </a:rPr>
              <a:t> </a:t>
            </a:r>
            <a:r>
              <a:rPr lang="en-US" b="1" dirty="0" err="1">
                <a:solidFill>
                  <a:srgbClr val="C00000"/>
                </a:solidFill>
                <a:highlight>
                  <a:srgbClr val="FFFF00"/>
                </a:highlight>
              </a:rPr>
              <a:t>relatie</a:t>
            </a:r>
            <a:r>
              <a:rPr lang="en-US" b="1" dirty="0">
                <a:solidFill>
                  <a:srgbClr val="C00000"/>
                </a:solidFill>
                <a:highlight>
                  <a:srgbClr val="FFFF00"/>
                </a:highlight>
              </a:rPr>
              <a:t> </a:t>
            </a:r>
            <a:r>
              <a:rPr lang="en-US" b="1" dirty="0" err="1">
                <a:solidFill>
                  <a:srgbClr val="C00000"/>
                </a:solidFill>
                <a:highlight>
                  <a:srgbClr val="FFFF00"/>
                </a:highlight>
              </a:rPr>
              <a:t>tussen</a:t>
            </a:r>
            <a:r>
              <a:rPr lang="en-US" b="1" dirty="0">
                <a:solidFill>
                  <a:srgbClr val="C00000"/>
                </a:solidFill>
                <a:highlight>
                  <a:srgbClr val="FFFF00"/>
                </a:highlight>
              </a:rPr>
              <a:t> elke factor en </a:t>
            </a:r>
            <a:r>
              <a:rPr lang="en-US" b="1" dirty="0" err="1">
                <a:solidFill>
                  <a:srgbClr val="C00000"/>
                </a:solidFill>
                <a:highlight>
                  <a:srgbClr val="FFFF00"/>
                </a:highlight>
              </a:rPr>
              <a:t>variabele</a:t>
            </a:r>
            <a:r>
              <a:rPr lang="en-US" b="1" dirty="0">
                <a:solidFill>
                  <a:srgbClr val="C00000"/>
                </a:solidFill>
                <a:highlight>
                  <a:srgbClr val="FFFF00"/>
                </a:highlight>
              </a:rPr>
              <a:t> (</a:t>
            </a:r>
            <a:r>
              <a:rPr lang="en-US" b="1" dirty="0" err="1">
                <a:solidFill>
                  <a:srgbClr val="C00000"/>
                </a:solidFill>
                <a:highlight>
                  <a:srgbClr val="FFFF00"/>
                </a:highlight>
              </a:rPr>
              <a:t>zonder</a:t>
            </a:r>
            <a:r>
              <a:rPr lang="en-US" b="1" dirty="0">
                <a:solidFill>
                  <a:srgbClr val="C00000"/>
                </a:solidFill>
                <a:highlight>
                  <a:srgbClr val="FFFF00"/>
                </a:highlight>
              </a:rPr>
              <a:t> overlap </a:t>
            </a:r>
            <a:r>
              <a:rPr lang="en-US" b="1" dirty="0" err="1">
                <a:solidFill>
                  <a:srgbClr val="C00000"/>
                </a:solidFill>
                <a:highlight>
                  <a:srgbClr val="FFFF00"/>
                </a:highlight>
              </a:rPr>
              <a:t>tussen</a:t>
            </a:r>
            <a:r>
              <a:rPr lang="en-US" b="1" dirty="0">
                <a:solidFill>
                  <a:srgbClr val="C00000"/>
                </a:solidFill>
                <a:highlight>
                  <a:srgbClr val="FFFF00"/>
                </a:highlight>
              </a:rPr>
              <a:t> </a:t>
            </a:r>
            <a:r>
              <a:rPr lang="en-US" b="1" dirty="0" err="1">
                <a:solidFill>
                  <a:srgbClr val="C00000"/>
                </a:solidFill>
                <a:highlight>
                  <a:srgbClr val="FFFF00"/>
                </a:highlight>
              </a:rPr>
              <a:t>factoren</a:t>
            </a:r>
            <a:r>
              <a:rPr lang="en-US" b="1" dirty="0">
                <a:solidFill>
                  <a:srgbClr val="C00000"/>
                </a:solidFill>
                <a:highlight>
                  <a:srgbClr val="FFFF00"/>
                </a:highlight>
              </a:rPr>
              <a:t>)</a:t>
            </a:r>
            <a:endParaRPr lang="nl-BE" b="1" dirty="0">
              <a:solidFill>
                <a:srgbClr val="C00000"/>
              </a:solidFill>
              <a:highlight>
                <a:srgbClr val="FFFF00"/>
              </a:highlight>
            </a:endParaRPr>
          </a:p>
          <a:p>
            <a:pPr>
              <a:lnSpc>
                <a:spcPct val="150000"/>
              </a:lnSpc>
            </a:pPr>
            <a:r>
              <a:rPr lang="nl-BE" u="sng" dirty="0"/>
              <a:t>Opgelet</a:t>
            </a:r>
            <a:r>
              <a:rPr lang="nl-BE" dirty="0"/>
              <a:t>: Items moeten in dezelfde richting staan!</a:t>
            </a:r>
          </a:p>
          <a:p>
            <a:pPr lvl="1">
              <a:lnSpc>
                <a:spcPct val="150000"/>
              </a:lnSpc>
            </a:pPr>
            <a:r>
              <a:rPr lang="nl-BE" dirty="0" err="1"/>
              <a:t>Cfr</a:t>
            </a:r>
            <a:r>
              <a:rPr lang="nl-BE" dirty="0"/>
              <a:t>. procedure in SPSS </a:t>
            </a:r>
            <a:r>
              <a:rPr lang="nl-BE" i="1" dirty="0"/>
              <a:t>‘</a:t>
            </a:r>
            <a:r>
              <a:rPr lang="nl-BE" i="1" dirty="0" err="1"/>
              <a:t>Recode</a:t>
            </a:r>
            <a:r>
              <a:rPr lang="nl-BE" i="1" dirty="0"/>
              <a:t> </a:t>
            </a:r>
            <a:r>
              <a:rPr lang="nl-BE" i="1" dirty="0" err="1"/>
              <a:t>into</a:t>
            </a:r>
            <a:r>
              <a:rPr lang="nl-BE" i="1" dirty="0"/>
              <a:t> different variables’</a:t>
            </a:r>
          </a:p>
          <a:p>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29</a:t>
            </a:fld>
            <a:endParaRPr lang="en-US" dirty="0">
              <a:solidFill>
                <a:prstClr val="white"/>
              </a:solidFill>
            </a:endParaRPr>
          </a:p>
        </p:txBody>
      </p:sp>
      <p:sp>
        <p:nvSpPr>
          <p:cNvPr id="5" name="Tijdelijke aanduiding voor inhoud 4">
            <a:extLst>
              <a:ext uri="{FF2B5EF4-FFF2-40B4-BE49-F238E27FC236}">
                <a16:creationId xmlns:a16="http://schemas.microsoft.com/office/drawing/2014/main" id="{8CFC7538-1420-4CD3-9CE3-A328CAF46809}"/>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2015772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A7D363-40EB-4BF7-181D-330AD9D523A7}"/>
              </a:ext>
            </a:extLst>
          </p:cNvPr>
          <p:cNvSpPr>
            <a:spLocks noGrp="1"/>
          </p:cNvSpPr>
          <p:nvPr>
            <p:ph type="title"/>
          </p:nvPr>
        </p:nvSpPr>
        <p:spPr/>
        <p:txBody>
          <a:bodyPr/>
          <a:lstStyle/>
          <a:p>
            <a:r>
              <a:rPr lang="nl-NL" dirty="0"/>
              <a:t>Factoranalyse in </a:t>
            </a:r>
            <a:r>
              <a:rPr lang="nl-NL" dirty="0" err="1"/>
              <a:t>spss</a:t>
            </a:r>
            <a:endParaRPr lang="nl-NL" dirty="0"/>
          </a:p>
        </p:txBody>
      </p:sp>
      <p:sp>
        <p:nvSpPr>
          <p:cNvPr id="4" name="Tijdelijke aanduiding voor dianummer 3">
            <a:extLst>
              <a:ext uri="{FF2B5EF4-FFF2-40B4-BE49-F238E27FC236}">
                <a16:creationId xmlns:a16="http://schemas.microsoft.com/office/drawing/2014/main" id="{896CBB62-E1C9-E8FB-4C32-A8C4855C4A25}"/>
              </a:ext>
            </a:extLst>
          </p:cNvPr>
          <p:cNvSpPr>
            <a:spLocks noGrp="1"/>
          </p:cNvSpPr>
          <p:nvPr>
            <p:ph type="sldNum" sz="quarter" idx="12"/>
          </p:nvPr>
        </p:nvSpPr>
        <p:spPr/>
        <p:txBody>
          <a:bodyPr/>
          <a:lstStyle/>
          <a:p>
            <a:fld id="{7AE184E0-0BD4-4705-A12B-9B71DDE63301}" type="slidenum">
              <a:rPr lang="en-GB" noProof="0" smtClean="0"/>
              <a:t>30</a:t>
            </a:fld>
            <a:endParaRPr lang="en-GB" noProof="0" dirty="0"/>
          </a:p>
        </p:txBody>
      </p:sp>
      <p:sp>
        <p:nvSpPr>
          <p:cNvPr id="5" name="Tijdelijke aanduiding voor inhoud 4">
            <a:extLst>
              <a:ext uri="{FF2B5EF4-FFF2-40B4-BE49-F238E27FC236}">
                <a16:creationId xmlns:a16="http://schemas.microsoft.com/office/drawing/2014/main" id="{C7CD7F8A-54B0-30CE-5780-41A5E00C5E70}"/>
              </a:ext>
            </a:extLst>
          </p:cNvPr>
          <p:cNvSpPr>
            <a:spLocks noGrp="1"/>
          </p:cNvSpPr>
          <p:nvPr>
            <p:ph idx="13"/>
          </p:nvPr>
        </p:nvSpPr>
        <p:spPr/>
        <p:txBody>
          <a:bodyPr/>
          <a:lstStyle/>
          <a:p>
            <a:endParaRPr lang="nl-NL"/>
          </a:p>
        </p:txBody>
      </p:sp>
      <p:pic>
        <p:nvPicPr>
          <p:cNvPr id="11" name="Tijdelijke aanduiding voor inhoud 10" descr="Afbeelding met tekst, document, nummer, schermopname&#10;&#10;Automatisch gegenereerde beschrijving">
            <a:extLst>
              <a:ext uri="{FF2B5EF4-FFF2-40B4-BE49-F238E27FC236}">
                <a16:creationId xmlns:a16="http://schemas.microsoft.com/office/drawing/2014/main" id="{74AE530A-5FC4-6C84-F19E-98E04D4E8E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528857" y="157068"/>
            <a:ext cx="5753989" cy="9473033"/>
          </a:xfrm>
        </p:spPr>
      </p:pic>
      <p:pic>
        <p:nvPicPr>
          <p:cNvPr id="3" name="Afbeelding 2">
            <a:extLst>
              <a:ext uri="{FF2B5EF4-FFF2-40B4-BE49-F238E27FC236}">
                <a16:creationId xmlns:a16="http://schemas.microsoft.com/office/drawing/2014/main" id="{8B887C9B-FC30-D848-85EF-5D4EC6A2D418}"/>
              </a:ext>
            </a:extLst>
          </p:cNvPr>
          <p:cNvPicPr>
            <a:picLocks noChangeAspect="1"/>
          </p:cNvPicPr>
          <p:nvPr/>
        </p:nvPicPr>
        <p:blipFill>
          <a:blip r:embed="rId4"/>
          <a:stretch>
            <a:fillRect/>
          </a:stretch>
        </p:blipFill>
        <p:spPr>
          <a:xfrm>
            <a:off x="1053769" y="2431828"/>
            <a:ext cx="6419644" cy="4590686"/>
          </a:xfrm>
          <a:prstGeom prst="rect">
            <a:avLst/>
          </a:prstGeom>
        </p:spPr>
      </p:pic>
    </p:spTree>
    <p:extLst>
      <p:ext uri="{BB962C8B-B14F-4D97-AF65-F5344CB8AC3E}">
        <p14:creationId xmlns:p14="http://schemas.microsoft.com/office/powerpoint/2010/main" val="3506837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nl-BE" dirty="0"/>
              <a:t>Factoranalyse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31</a:t>
            </a:fld>
            <a:endParaRPr lang="en-US" dirty="0">
              <a:solidFill>
                <a:prstClr val="white"/>
              </a:solidFill>
            </a:endParaRPr>
          </a:p>
        </p:txBody>
      </p:sp>
      <p:sp>
        <p:nvSpPr>
          <p:cNvPr id="2" name="Tijdelijke aanduiding voor inhoud 1">
            <a:extLst>
              <a:ext uri="{FF2B5EF4-FFF2-40B4-BE49-F238E27FC236}">
                <a16:creationId xmlns:a16="http://schemas.microsoft.com/office/drawing/2014/main" id="{C1CC4457-48C2-41F4-B3EC-58EDA9E49BB2}"/>
              </a:ext>
            </a:extLst>
          </p:cNvPr>
          <p:cNvSpPr>
            <a:spLocks noGrp="1"/>
          </p:cNvSpPr>
          <p:nvPr>
            <p:ph idx="13"/>
          </p:nvPr>
        </p:nvSpPr>
        <p:spPr/>
        <p:txBody>
          <a:bodyPr/>
          <a:lstStyle/>
          <a:p>
            <a:endParaRPr lang="nl-BE"/>
          </a:p>
        </p:txBody>
      </p:sp>
      <p:sp>
        <p:nvSpPr>
          <p:cNvPr id="6" name="Rectangle 3"/>
          <p:cNvSpPr txBox="1">
            <a:spLocks noChangeArrowheads="1"/>
          </p:cNvSpPr>
          <p:nvPr/>
        </p:nvSpPr>
        <p:spPr bwMode="auto">
          <a:xfrm>
            <a:off x="9914325" y="6445561"/>
            <a:ext cx="6349505" cy="2274842"/>
          </a:xfrm>
          <a:prstGeom prst="rect">
            <a:avLst/>
          </a:prstGeom>
          <a:noFill/>
          <a:ln w="9525">
            <a:noFill/>
            <a:miter lim="800000"/>
            <a:headEnd/>
            <a:tailEnd/>
          </a:ln>
        </p:spPr>
        <p:txBody>
          <a:bodyPr vert="horz" wrap="square" lIns="130048" tIns="65024" rIns="130048" bIns="65024"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5F604A"/>
                </a:solidFill>
                <a:latin typeface="+mn-lt"/>
                <a:ea typeface="+mn-ea"/>
                <a:cs typeface="+mn-cs"/>
              </a:defRPr>
            </a:lvl1pPr>
            <a:lvl2pPr marL="742950" indent="-285750" algn="l" rtl="0" eaLnBrk="0" fontAlgn="base" hangingPunct="0">
              <a:spcBef>
                <a:spcPct val="20000"/>
              </a:spcBef>
              <a:spcAft>
                <a:spcPct val="0"/>
              </a:spcAft>
              <a:buChar char="–"/>
              <a:defRPr sz="2800">
                <a:solidFill>
                  <a:srgbClr val="5F604A"/>
                </a:solidFill>
                <a:latin typeface="+mn-lt"/>
              </a:defRPr>
            </a:lvl2pPr>
            <a:lvl3pPr marL="1143000" indent="-228600" algn="l" rtl="0" eaLnBrk="0" fontAlgn="base" hangingPunct="0">
              <a:spcBef>
                <a:spcPct val="20000"/>
              </a:spcBef>
              <a:spcAft>
                <a:spcPct val="0"/>
              </a:spcAft>
              <a:buChar char="•"/>
              <a:defRPr sz="2400">
                <a:solidFill>
                  <a:srgbClr val="7F7358"/>
                </a:solidFill>
                <a:latin typeface="+mn-lt"/>
              </a:defRPr>
            </a:lvl3pPr>
            <a:lvl4pPr marL="1600200" indent="-228600" algn="l" rtl="0" eaLnBrk="0" fontAlgn="base" hangingPunct="0">
              <a:spcBef>
                <a:spcPct val="20000"/>
              </a:spcBef>
              <a:spcAft>
                <a:spcPct val="0"/>
              </a:spcAft>
              <a:buChar char="–"/>
              <a:defRPr sz="2000">
                <a:solidFill>
                  <a:srgbClr val="7F7358"/>
                </a:solidFill>
                <a:latin typeface="+mn-lt"/>
              </a:defRPr>
            </a:lvl4pPr>
            <a:lvl5pPr marL="2057400" indent="-228600" algn="l" rtl="0" eaLnBrk="0" fontAlgn="base" hangingPunct="0">
              <a:spcBef>
                <a:spcPct val="20000"/>
              </a:spcBef>
              <a:spcAft>
                <a:spcPct val="0"/>
              </a:spcAft>
              <a:buChar char="»"/>
              <a:defRPr sz="2000">
                <a:solidFill>
                  <a:srgbClr val="7F7358"/>
                </a:solidFill>
                <a:latin typeface="+mn-lt"/>
              </a:defRPr>
            </a:lvl5pPr>
            <a:lvl6pPr marL="2514600" indent="-228600" algn="l" rtl="0" fontAlgn="base">
              <a:spcBef>
                <a:spcPct val="20000"/>
              </a:spcBef>
              <a:spcAft>
                <a:spcPct val="0"/>
              </a:spcAft>
              <a:buChar char="»"/>
              <a:defRPr sz="2000">
                <a:solidFill>
                  <a:srgbClr val="7F7358"/>
                </a:solidFill>
                <a:latin typeface="+mn-lt"/>
              </a:defRPr>
            </a:lvl6pPr>
            <a:lvl7pPr marL="2971800" indent="-228600" algn="l" rtl="0" fontAlgn="base">
              <a:spcBef>
                <a:spcPct val="20000"/>
              </a:spcBef>
              <a:spcAft>
                <a:spcPct val="0"/>
              </a:spcAft>
              <a:buChar char="»"/>
              <a:defRPr sz="2000">
                <a:solidFill>
                  <a:srgbClr val="7F7358"/>
                </a:solidFill>
                <a:latin typeface="+mn-lt"/>
              </a:defRPr>
            </a:lvl7pPr>
            <a:lvl8pPr marL="3429000" indent="-228600" algn="l" rtl="0" fontAlgn="base">
              <a:spcBef>
                <a:spcPct val="20000"/>
              </a:spcBef>
              <a:spcAft>
                <a:spcPct val="0"/>
              </a:spcAft>
              <a:buChar char="»"/>
              <a:defRPr sz="2000">
                <a:solidFill>
                  <a:srgbClr val="7F7358"/>
                </a:solidFill>
                <a:latin typeface="+mn-lt"/>
              </a:defRPr>
            </a:lvl8pPr>
            <a:lvl9pPr marL="3886200" indent="-228600" algn="l" rtl="0" fontAlgn="base">
              <a:spcBef>
                <a:spcPct val="20000"/>
              </a:spcBef>
              <a:spcAft>
                <a:spcPct val="0"/>
              </a:spcAft>
              <a:buChar char="»"/>
              <a:defRPr sz="2000">
                <a:solidFill>
                  <a:srgbClr val="7F7358"/>
                </a:solidFill>
                <a:latin typeface="+mn-lt"/>
              </a:defRPr>
            </a:lvl9pPr>
          </a:lstStyle>
          <a:p>
            <a:pPr defTabSz="650230" eaLnBrk="1" hangingPunct="1">
              <a:buFont typeface="Wingdings" panose="05000000000000000000" pitchFamily="2" charset="2"/>
              <a:buChar char="Ø"/>
            </a:pPr>
            <a:r>
              <a:rPr lang="en-US" sz="2800" dirty="0" err="1">
                <a:solidFill>
                  <a:srgbClr val="003366"/>
                </a:solidFill>
                <a:latin typeface="Verdana" panose="020B0604030504040204" pitchFamily="34" charset="0"/>
                <a:ea typeface="Verdana" panose="020B0604030504040204" pitchFamily="34" charset="0"/>
              </a:rPr>
              <a:t>Geen</a:t>
            </a:r>
            <a:r>
              <a:rPr lang="en-US" sz="2800" dirty="0">
                <a:solidFill>
                  <a:srgbClr val="003366"/>
                </a:solidFill>
                <a:latin typeface="Verdana" panose="020B0604030504040204" pitchFamily="34" charset="0"/>
                <a:ea typeface="Verdana" panose="020B0604030504040204" pitchFamily="34" charset="0"/>
              </a:rPr>
              <a:t> </a:t>
            </a:r>
            <a:r>
              <a:rPr lang="en-US" sz="2800" dirty="0" err="1">
                <a:solidFill>
                  <a:srgbClr val="003366"/>
                </a:solidFill>
                <a:latin typeface="Verdana" panose="020B0604030504040204" pitchFamily="34" charset="0"/>
                <a:ea typeface="Verdana" panose="020B0604030504040204" pitchFamily="34" charset="0"/>
              </a:rPr>
              <a:t>significantietoetsen</a:t>
            </a:r>
            <a:r>
              <a:rPr lang="en-US" sz="2800" dirty="0">
                <a:solidFill>
                  <a:srgbClr val="003366"/>
                </a:solidFill>
                <a:latin typeface="Verdana" panose="020B0604030504040204" pitchFamily="34" charset="0"/>
                <a:ea typeface="Verdana" panose="020B0604030504040204" pitchFamily="34" charset="0"/>
              </a:rPr>
              <a:t> van de </a:t>
            </a:r>
            <a:r>
              <a:rPr lang="en-US" sz="2800" dirty="0" err="1">
                <a:solidFill>
                  <a:srgbClr val="003366"/>
                </a:solidFill>
                <a:latin typeface="Verdana" panose="020B0604030504040204" pitchFamily="34" charset="0"/>
                <a:ea typeface="Verdana" panose="020B0604030504040204" pitchFamily="34" charset="0"/>
              </a:rPr>
              <a:t>correlatie-coëfficiënten</a:t>
            </a:r>
            <a:r>
              <a:rPr lang="en-US" sz="2800" dirty="0">
                <a:solidFill>
                  <a:srgbClr val="003366"/>
                </a:solidFill>
                <a:latin typeface="Verdana" panose="020B0604030504040204" pitchFamily="34" charset="0"/>
                <a:ea typeface="Verdana" panose="020B0604030504040204" pitchFamily="34" charset="0"/>
              </a:rPr>
              <a:t> in FA</a:t>
            </a:r>
          </a:p>
          <a:p>
            <a:pPr defTabSz="650230" eaLnBrk="1" hangingPunct="1">
              <a:buFont typeface="Wingdings" panose="05000000000000000000" pitchFamily="2" charset="2"/>
              <a:buChar char="Ø"/>
            </a:pPr>
            <a:endParaRPr lang="en-US" sz="2800" dirty="0">
              <a:solidFill>
                <a:srgbClr val="003366"/>
              </a:solidFill>
              <a:latin typeface="Verdana" panose="020B0604030504040204" pitchFamily="34" charset="0"/>
              <a:ea typeface="Verdana" panose="020B0604030504040204" pitchFamily="34" charset="0"/>
            </a:endParaRPr>
          </a:p>
          <a:p>
            <a:pPr marL="0" indent="0" defTabSz="650230" eaLnBrk="1" hangingPunct="1">
              <a:buNone/>
            </a:pPr>
            <a:r>
              <a:rPr lang="en-US" sz="2800" dirty="0">
                <a:solidFill>
                  <a:srgbClr val="003366"/>
                </a:solidFill>
                <a:latin typeface="Verdana" panose="020B0604030504040204" pitchFamily="34" charset="0"/>
                <a:ea typeface="Verdana" panose="020B0604030504040204" pitchFamily="34" charset="0"/>
                <a:sym typeface="Wingdings" panose="05000000000000000000" pitchFamily="2" charset="2"/>
              </a:rPr>
              <a:t> Bivariate </a:t>
            </a:r>
            <a:r>
              <a:rPr lang="en-US" sz="2800" dirty="0" err="1">
                <a:solidFill>
                  <a:srgbClr val="003366"/>
                </a:solidFill>
                <a:latin typeface="Verdana" panose="020B0604030504040204" pitchFamily="34" charset="0"/>
                <a:ea typeface="Verdana" panose="020B0604030504040204" pitchFamily="34" charset="0"/>
                <a:sym typeface="Wingdings" panose="05000000000000000000" pitchFamily="2" charset="2"/>
              </a:rPr>
              <a:t>correlaties</a:t>
            </a:r>
            <a:r>
              <a:rPr lang="en-US" sz="2800" dirty="0">
                <a:solidFill>
                  <a:srgbClr val="003366"/>
                </a:solidFill>
                <a:latin typeface="Verdana" panose="020B0604030504040204" pitchFamily="34" charset="0"/>
                <a:ea typeface="Verdana" panose="020B0604030504040204" pitchFamily="34" charset="0"/>
                <a:sym typeface="Wingdings" panose="05000000000000000000" pitchFamily="2" charset="2"/>
              </a:rPr>
              <a:t> </a:t>
            </a:r>
            <a:r>
              <a:rPr lang="en-US" sz="2800" dirty="0" err="1">
                <a:solidFill>
                  <a:srgbClr val="003366"/>
                </a:solidFill>
                <a:latin typeface="Verdana" panose="020B0604030504040204" pitchFamily="34" charset="0"/>
                <a:ea typeface="Verdana" panose="020B0604030504040204" pitchFamily="34" charset="0"/>
                <a:sym typeface="Wingdings" panose="05000000000000000000" pitchFamily="2" charset="2"/>
              </a:rPr>
              <a:t>opvragen</a:t>
            </a:r>
            <a:endParaRPr lang="en-US" dirty="0">
              <a:solidFill>
                <a:srgbClr val="003366"/>
              </a:solidFill>
              <a:latin typeface="Verdana" panose="020B0604030504040204" pitchFamily="34" charset="0"/>
              <a:ea typeface="Verdana" panose="020B0604030504040204" pitchFamily="34" charset="0"/>
            </a:endParaRPr>
          </a:p>
        </p:txBody>
      </p:sp>
      <p:pic>
        <p:nvPicPr>
          <p:cNvPr id="8" name="Tijdelijke aanduiding voor inhoud 7">
            <a:extLst>
              <a:ext uri="{FF2B5EF4-FFF2-40B4-BE49-F238E27FC236}">
                <a16:creationId xmlns:a16="http://schemas.microsoft.com/office/drawing/2014/main" id="{90C77822-1EEC-14A8-53A7-14B105B77ACD}"/>
              </a:ext>
            </a:extLst>
          </p:cNvPr>
          <p:cNvPicPr>
            <a:picLocks noGrp="1" noChangeAspect="1"/>
          </p:cNvPicPr>
          <p:nvPr>
            <p:ph idx="1"/>
          </p:nvPr>
        </p:nvPicPr>
        <p:blipFill>
          <a:blip r:embed="rId3"/>
          <a:stretch>
            <a:fillRect/>
          </a:stretch>
        </p:blipFill>
        <p:spPr>
          <a:xfrm>
            <a:off x="557588" y="1705186"/>
            <a:ext cx="10082703" cy="4740375"/>
          </a:xfrm>
        </p:spPr>
      </p:pic>
    </p:spTree>
    <p:extLst>
      <p:ext uri="{BB962C8B-B14F-4D97-AF65-F5344CB8AC3E}">
        <p14:creationId xmlns:p14="http://schemas.microsoft.com/office/powerpoint/2010/main" val="300756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6EF4C-1253-473B-4862-439E91365E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2CDF2ED-52D8-2FF7-8400-D7A95F39E309}"/>
              </a:ext>
            </a:extLst>
          </p:cNvPr>
          <p:cNvSpPr>
            <a:spLocks noGrp="1"/>
          </p:cNvSpPr>
          <p:nvPr>
            <p:ph type="title"/>
          </p:nvPr>
        </p:nvSpPr>
        <p:spPr/>
        <p:txBody>
          <a:bodyPr/>
          <a:lstStyle/>
          <a:p>
            <a:r>
              <a:rPr lang="nl-BE" dirty="0"/>
              <a:t>Betrouwbaarheidsanalyse: </a:t>
            </a:r>
            <a:r>
              <a:rPr lang="nl-BE" dirty="0" err="1"/>
              <a:t>Cronbach’s</a:t>
            </a:r>
            <a:r>
              <a:rPr lang="nl-BE" dirty="0"/>
              <a:t> </a:t>
            </a:r>
            <a:r>
              <a:rPr lang="nl-BE" dirty="0" err="1"/>
              <a:t>Alpha</a:t>
            </a:r>
            <a:endParaRPr lang="nl-BE" dirty="0"/>
          </a:p>
        </p:txBody>
      </p:sp>
      <mc:AlternateContent xmlns:mc="http://schemas.openxmlformats.org/markup-compatibility/2006" xmlns:a14="http://schemas.microsoft.com/office/drawing/2010/main">
        <mc:Choice Requires="a14">
          <p:sp>
            <p:nvSpPr>
              <p:cNvPr id="9" name="Tijdelijke aanduiding voor inhoud 8">
                <a:extLst>
                  <a:ext uri="{FF2B5EF4-FFF2-40B4-BE49-F238E27FC236}">
                    <a16:creationId xmlns:a16="http://schemas.microsoft.com/office/drawing/2014/main" id="{BBC83EA0-BC2B-37B1-438C-E4F96E3A3883}"/>
                  </a:ext>
                </a:extLst>
              </p:cNvPr>
              <p:cNvSpPr>
                <a:spLocks noGrp="1"/>
              </p:cNvSpPr>
              <p:nvPr>
                <p:ph idx="1"/>
              </p:nvPr>
            </p:nvSpPr>
            <p:spPr>
              <a:xfrm>
                <a:off x="327069" y="1816272"/>
                <a:ext cx="16858641" cy="7508201"/>
              </a:xfrm>
            </p:spPr>
            <p:txBody>
              <a:bodyPr>
                <a:normAutofit/>
              </a:bodyPr>
              <a:lstStyle/>
              <a:p>
                <a:pPr marL="86400" indent="0">
                  <a:buNone/>
                </a:pPr>
                <a:r>
                  <a:rPr lang="nl-BE" b="1" dirty="0" err="1">
                    <a:sym typeface="Wingdings" panose="05000000000000000000" pitchFamily="2" charset="2"/>
                  </a:rPr>
                  <a:t>Cronbach’s</a:t>
                </a:r>
                <a:r>
                  <a:rPr lang="nl-BE" b="1" dirty="0">
                    <a:sym typeface="Wingdings" panose="05000000000000000000" pitchFamily="2" charset="2"/>
                  </a:rPr>
                  <a:t> </a:t>
                </a:r>
                <a:r>
                  <a:rPr lang="nl-BE" b="1" dirty="0" err="1">
                    <a:sym typeface="Wingdings" panose="05000000000000000000" pitchFamily="2" charset="2"/>
                  </a:rPr>
                  <a:t>Alpha</a:t>
                </a:r>
                <a:r>
                  <a:rPr lang="nl-BE" b="1" dirty="0">
                    <a:sym typeface="Wingdings" panose="05000000000000000000" pitchFamily="2" charset="2"/>
                  </a:rPr>
                  <a:t> (</a:t>
                </a:r>
                <a14:m>
                  <m:oMath xmlns:m="http://schemas.openxmlformats.org/officeDocument/2006/math">
                    <m:r>
                      <a:rPr lang="nl-BE" b="1" i="1" smtClean="0">
                        <a:latin typeface="Cambria Math" panose="02040503050406030204" pitchFamily="18" charset="0"/>
                        <a:ea typeface="Cambria Math" panose="02040503050406030204" pitchFamily="18" charset="0"/>
                        <a:sym typeface="Wingdings" panose="05000000000000000000" pitchFamily="2" charset="2"/>
                      </a:rPr>
                      <m:t>𝜶</m:t>
                    </m:r>
                  </m:oMath>
                </a14:m>
                <a:r>
                  <a:rPr lang="nl-BE" b="1" dirty="0">
                    <a:sym typeface="Wingdings" panose="05000000000000000000" pitchFamily="2" charset="2"/>
                  </a:rPr>
                  <a:t>): is een schaal betrouwbaar?</a:t>
                </a:r>
              </a:p>
              <a:p>
                <a:r>
                  <a:rPr lang="nl-BE" dirty="0">
                    <a:highlight>
                      <a:srgbClr val="FFFF00"/>
                    </a:highlight>
                    <a:sym typeface="Wingdings" panose="05000000000000000000" pitchFamily="2" charset="2"/>
                  </a:rPr>
                  <a:t>Mate van interne consistentie</a:t>
                </a:r>
              </a:p>
              <a:p>
                <a:pPr lvl="1"/>
                <a:r>
                  <a:rPr lang="nl-BE" dirty="0">
                    <a:sym typeface="Wingdings" panose="05000000000000000000" pitchFamily="2" charset="2"/>
                  </a:rPr>
                  <a:t>Meten alle items die tot 1 factor behoren hetzelfde concept?</a:t>
                </a:r>
              </a:p>
              <a:p>
                <a14:m>
                  <m:oMath xmlns:m="http://schemas.openxmlformats.org/officeDocument/2006/math">
                    <m:r>
                      <a:rPr lang="nl-BE" b="1" i="1">
                        <a:latin typeface="Cambria Math" panose="02040503050406030204" pitchFamily="18" charset="0"/>
                        <a:ea typeface="Cambria Math" panose="02040503050406030204" pitchFamily="18" charset="0"/>
                        <a:sym typeface="Wingdings" panose="05000000000000000000" pitchFamily="2" charset="2"/>
                      </a:rPr>
                      <m:t>𝜶</m:t>
                    </m:r>
                  </m:oMath>
                </a14:m>
                <a:r>
                  <a:rPr lang="nl-BE" dirty="0">
                    <a:sym typeface="Wingdings" panose="05000000000000000000" pitchFamily="2" charset="2"/>
                  </a:rPr>
                  <a:t> = gemiddelde van de correlaties van alle mogelijke splitsingen in 2 delen items</a:t>
                </a:r>
              </a:p>
              <a:p>
                <a:r>
                  <a:rPr lang="nl-BE" dirty="0">
                    <a:sym typeface="Wingdings" panose="05000000000000000000" pitchFamily="2" charset="2"/>
                  </a:rPr>
                  <a:t>Hoe hoger </a:t>
                </a:r>
                <a14:m>
                  <m:oMath xmlns:m="http://schemas.openxmlformats.org/officeDocument/2006/math">
                    <m:r>
                      <a:rPr lang="nl-BE" b="1" i="1">
                        <a:latin typeface="Cambria Math" panose="02040503050406030204" pitchFamily="18" charset="0"/>
                        <a:ea typeface="Cambria Math" panose="02040503050406030204" pitchFamily="18" charset="0"/>
                        <a:sym typeface="Wingdings" panose="05000000000000000000" pitchFamily="2" charset="2"/>
                      </a:rPr>
                      <m:t>𝜶</m:t>
                    </m:r>
                  </m:oMath>
                </a14:m>
                <a:r>
                  <a:rPr lang="nl-BE" dirty="0">
                    <a:sym typeface="Wingdings" panose="05000000000000000000" pitchFamily="2" charset="2"/>
                  </a:rPr>
                  <a:t>, hoe hoger de betrouwbaarheid</a:t>
                </a:r>
              </a:p>
              <a:p>
                <a:pPr lvl="1"/>
                <a:endParaRPr lang="nl-BE" dirty="0">
                  <a:sym typeface="Wingdings" panose="05000000000000000000" pitchFamily="2" charset="2"/>
                </a:endParaRPr>
              </a:p>
              <a:p>
                <a:r>
                  <a:rPr lang="nl-BE" b="1" dirty="0">
                    <a:sym typeface="Wingdings" panose="05000000000000000000" pitchFamily="2" charset="2"/>
                  </a:rPr>
                  <a:t>Nadelen:</a:t>
                </a:r>
                <a:r>
                  <a:rPr lang="nl-BE" dirty="0">
                    <a:sym typeface="Wingdings" panose="05000000000000000000" pitchFamily="2" charset="2"/>
                  </a:rPr>
                  <a:t> </a:t>
                </a:r>
              </a:p>
              <a:p>
                <a:pPr lvl="1"/>
                <a:r>
                  <a:rPr lang="nl-BE" dirty="0">
                    <a:sym typeface="Wingdings" panose="05000000000000000000" pitchFamily="2" charset="2"/>
                  </a:rPr>
                  <a:t>Enkel mogelijk bij </a:t>
                </a:r>
                <a:r>
                  <a:rPr lang="nl-BE" dirty="0" err="1">
                    <a:sym typeface="Wingdings" panose="05000000000000000000" pitchFamily="2" charset="2"/>
                  </a:rPr>
                  <a:t>unidimensionele</a:t>
                </a:r>
                <a:r>
                  <a:rPr lang="nl-BE" dirty="0">
                    <a:sym typeface="Wingdings" panose="05000000000000000000" pitchFamily="2" charset="2"/>
                  </a:rPr>
                  <a:t> schalen</a:t>
                </a:r>
              </a:p>
              <a:p>
                <a:pPr lvl="1"/>
                <a:r>
                  <a:rPr lang="nl-BE" dirty="0">
                    <a:sym typeface="Wingdings" panose="05000000000000000000" pitchFamily="2" charset="2"/>
                  </a:rPr>
                  <a:t>Gevoelig voor aantal items</a:t>
                </a:r>
              </a:p>
              <a:p>
                <a:pPr lvl="2"/>
                <a:r>
                  <a:rPr lang="nl-BE" dirty="0">
                    <a:sym typeface="Wingdings" panose="05000000000000000000" pitchFamily="2" charset="2"/>
                  </a:rPr>
                  <a:t>Hoe meer items, hoe hoger </a:t>
                </a:r>
                <a:r>
                  <a:rPr lang="nl-BE" dirty="0" err="1">
                    <a:sym typeface="Wingdings" panose="05000000000000000000" pitchFamily="2" charset="2"/>
                  </a:rPr>
                  <a:t>alpha</a:t>
                </a:r>
                <a:endParaRPr lang="nl-BE" dirty="0">
                  <a:sym typeface="Wingdings" panose="05000000000000000000" pitchFamily="2" charset="2"/>
                </a:endParaRPr>
              </a:p>
              <a:p>
                <a:r>
                  <a:rPr lang="nl-BE" b="1" dirty="0">
                    <a:sym typeface="Wingdings" panose="05000000000000000000" pitchFamily="2" charset="2"/>
                  </a:rPr>
                  <a:t>In SPSS:</a:t>
                </a:r>
              </a:p>
              <a:p>
                <a:pPr lvl="1"/>
                <a:r>
                  <a:rPr lang="nl-BE" i="1" dirty="0" err="1">
                    <a:sym typeface="Wingdings" panose="05000000000000000000" pitchFamily="2" charset="2"/>
                  </a:rPr>
                  <a:t>Analyze</a:t>
                </a:r>
                <a:r>
                  <a:rPr lang="nl-BE" i="1" dirty="0"/>
                  <a:t> ›› </a:t>
                </a:r>
                <a:r>
                  <a:rPr lang="nl-BE" i="1" dirty="0" err="1"/>
                  <a:t>Scale</a:t>
                </a:r>
                <a:r>
                  <a:rPr lang="nl-BE" i="1" dirty="0"/>
                  <a:t> ›› </a:t>
                </a:r>
                <a:r>
                  <a:rPr lang="nl-BE" i="1" dirty="0" err="1"/>
                  <a:t>Reliability</a:t>
                </a:r>
                <a:r>
                  <a:rPr lang="nl-BE" i="1" dirty="0"/>
                  <a:t> Analysis</a:t>
                </a:r>
              </a:p>
              <a:p>
                <a:pPr lvl="1"/>
                <a:r>
                  <a:rPr lang="nl-BE" u="sng" dirty="0">
                    <a:sym typeface="Wingdings" panose="05000000000000000000" pitchFamily="2" charset="2"/>
                  </a:rPr>
                  <a:t>Zie hoofdstuk 5</a:t>
                </a:r>
              </a:p>
              <a:p>
                <a:endParaRPr lang="nl-BE" dirty="0">
                  <a:sym typeface="Wingdings" panose="05000000000000000000" pitchFamily="2" charset="2"/>
                </a:endParaRPr>
              </a:p>
            </p:txBody>
          </p:sp>
        </mc:Choice>
        <mc:Fallback xmlns="">
          <p:sp>
            <p:nvSpPr>
              <p:cNvPr id="9" name="Tijdelijke aanduiding voor inhoud 8">
                <a:extLst>
                  <a:ext uri="{FF2B5EF4-FFF2-40B4-BE49-F238E27FC236}">
                    <a16:creationId xmlns:a16="http://schemas.microsoft.com/office/drawing/2014/main" id="{BBC83EA0-BC2B-37B1-438C-E4F96E3A3883}"/>
                  </a:ext>
                </a:extLst>
              </p:cNvPr>
              <p:cNvSpPr>
                <a:spLocks noGrp="1" noRot="1" noChangeAspect="1" noMove="1" noResize="1" noEditPoints="1" noAdjustHandles="1" noChangeArrowheads="1" noChangeShapeType="1" noTextEdit="1"/>
              </p:cNvSpPr>
              <p:nvPr>
                <p:ph idx="1"/>
              </p:nvPr>
            </p:nvSpPr>
            <p:spPr>
              <a:xfrm>
                <a:off x="327069" y="1816272"/>
                <a:ext cx="16858641" cy="7508201"/>
              </a:xfrm>
              <a:blipFill>
                <a:blip r:embed="rId3"/>
                <a:stretch>
                  <a:fillRect l="-253" t="-487"/>
                </a:stretch>
              </a:blipFill>
            </p:spPr>
            <p:txBody>
              <a:bodyPr/>
              <a:lstStyle/>
              <a:p>
                <a:r>
                  <a:rPr lang="nl-NL">
                    <a:noFill/>
                  </a:rPr>
                  <a:t> </a:t>
                </a:r>
              </a:p>
            </p:txBody>
          </p:sp>
        </mc:Fallback>
      </mc:AlternateContent>
      <p:sp>
        <p:nvSpPr>
          <p:cNvPr id="4" name="Tijdelijke aanduiding voor dianummer 3">
            <a:extLst>
              <a:ext uri="{FF2B5EF4-FFF2-40B4-BE49-F238E27FC236}">
                <a16:creationId xmlns:a16="http://schemas.microsoft.com/office/drawing/2014/main" id="{C73C3B84-52E9-713E-5BDD-08E8656200AD}"/>
              </a:ext>
            </a:extLst>
          </p:cNvPr>
          <p:cNvSpPr>
            <a:spLocks noGrp="1"/>
          </p:cNvSpPr>
          <p:nvPr>
            <p:ph type="sldNum" sz="quarter" idx="12"/>
          </p:nvPr>
        </p:nvSpPr>
        <p:spPr/>
        <p:txBody>
          <a:bodyPr/>
          <a:lstStyle/>
          <a:p>
            <a:fld id="{7AE184E0-0BD4-4705-A12B-9B71DDE63301}" type="slidenum">
              <a:rPr lang="en-GB" noProof="0" smtClean="0"/>
              <a:t>32</a:t>
            </a:fld>
            <a:endParaRPr lang="en-GB" noProof="0" dirty="0"/>
          </a:p>
        </p:txBody>
      </p:sp>
      <p:sp>
        <p:nvSpPr>
          <p:cNvPr id="10" name="Tijdelijke aanduiding voor inhoud 9">
            <a:extLst>
              <a:ext uri="{FF2B5EF4-FFF2-40B4-BE49-F238E27FC236}">
                <a16:creationId xmlns:a16="http://schemas.microsoft.com/office/drawing/2014/main" id="{D4210CF2-9ECE-457F-2AF3-528D5C7B40ED}"/>
              </a:ext>
            </a:extLst>
          </p:cNvPr>
          <p:cNvSpPr>
            <a:spLocks noGrp="1"/>
          </p:cNvSpPr>
          <p:nvPr>
            <p:ph idx="13"/>
          </p:nvPr>
        </p:nvSpPr>
        <p:spPr/>
        <p:txBody>
          <a:bodyPr/>
          <a:lstStyle/>
          <a:p>
            <a:endParaRPr lang="nl-BE"/>
          </a:p>
        </p:txBody>
      </p:sp>
      <p:pic>
        <p:nvPicPr>
          <p:cNvPr id="3" name="Afbeelding 2">
            <a:extLst>
              <a:ext uri="{FF2B5EF4-FFF2-40B4-BE49-F238E27FC236}">
                <a16:creationId xmlns:a16="http://schemas.microsoft.com/office/drawing/2014/main" id="{D6DAE748-1D04-0013-3697-48CBCC376B3A}"/>
              </a:ext>
            </a:extLst>
          </p:cNvPr>
          <p:cNvPicPr>
            <a:picLocks noChangeAspect="1"/>
          </p:cNvPicPr>
          <p:nvPr/>
        </p:nvPicPr>
        <p:blipFill>
          <a:blip r:embed="rId4"/>
          <a:stretch>
            <a:fillRect/>
          </a:stretch>
        </p:blipFill>
        <p:spPr>
          <a:xfrm>
            <a:off x="9806514" y="4876800"/>
            <a:ext cx="7070926" cy="3294508"/>
          </a:xfrm>
          <a:prstGeom prst="rect">
            <a:avLst/>
          </a:prstGeom>
        </p:spPr>
      </p:pic>
    </p:spTree>
    <p:extLst>
      <p:ext uri="{BB962C8B-B14F-4D97-AF65-F5344CB8AC3E}">
        <p14:creationId xmlns:p14="http://schemas.microsoft.com/office/powerpoint/2010/main" val="878300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a:t>
            </a:r>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r>
              <a:rPr lang="nl-BE" b="1" u="sng" dirty="0">
                <a:effectLst/>
                <a:cs typeface="Calibri" panose="020F0502020204030204" pitchFamily="34" charset="0"/>
              </a:rPr>
              <a:t>Voer een betrouwbaarheidsanalyse uit.  </a:t>
            </a:r>
            <a:endParaRPr lang="nl-NL" b="1" u="sng" dirty="0">
              <a:effectLst/>
              <a:cs typeface="Times New Roman" panose="02020603050405020304" pitchFamily="18" charset="0"/>
            </a:endParaRPr>
          </a:p>
          <a:p>
            <a:pPr marL="1143000" lvl="2" indent="-228600" algn="just">
              <a:lnSpc>
                <a:spcPct val="150000"/>
              </a:lnSpc>
              <a:spcAft>
                <a:spcPts val="800"/>
              </a:spcAft>
              <a:buFont typeface="Wingdings" panose="05000000000000000000" pitchFamily="2" charset="2"/>
              <a:buChar char=""/>
            </a:pPr>
            <a:r>
              <a:rPr lang="nl-BE" dirty="0">
                <a:effectLst/>
                <a:cs typeface="Calibri" panose="020F0502020204030204" pitchFamily="34" charset="0"/>
              </a:rPr>
              <a:t>Hoeveel schalen kun je vormen op basis van de resultaten van de factoranalyse ? </a:t>
            </a:r>
          </a:p>
          <a:p>
            <a:pPr marL="1143000" lvl="2" indent="-228600" algn="just">
              <a:lnSpc>
                <a:spcPct val="150000"/>
              </a:lnSpc>
              <a:spcAft>
                <a:spcPts val="800"/>
              </a:spcAft>
              <a:buFont typeface="Wingdings" panose="05000000000000000000" pitchFamily="2" charset="2"/>
              <a:buChar char=""/>
            </a:pPr>
            <a:r>
              <a:rPr lang="nl-BE" dirty="0">
                <a:effectLst/>
                <a:cs typeface="Calibri" panose="020F0502020204030204" pitchFamily="34" charset="0"/>
              </a:rPr>
              <a:t>Op basis van hoeveel items ? </a:t>
            </a:r>
            <a:endParaRPr lang="nl-NL" dirty="0">
              <a:effectLst/>
              <a:cs typeface="Times New Roman" panose="02020603050405020304" pitchFamily="18"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33</a:t>
            </a:fld>
            <a:endParaRPr lang="en-GB" noProof="0" dirty="0"/>
          </a:p>
        </p:txBody>
      </p:sp>
      <p:sp>
        <p:nvSpPr>
          <p:cNvPr id="5" name="Tijdelijke aanduiding voor inhoud 4">
            <a:extLst>
              <a:ext uri="{FF2B5EF4-FFF2-40B4-BE49-F238E27FC236}">
                <a16:creationId xmlns:a16="http://schemas.microsoft.com/office/drawing/2014/main" id="{6D01010A-8676-CB35-65E6-8BEE8DA5CAD2}"/>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430205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Betrouwbaarheidsanalyse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Scale</a:t>
            </a:r>
            <a:r>
              <a:rPr lang="nl-BE" i="1" dirty="0">
                <a:sym typeface="Wingdings" pitchFamily="2" charset="2"/>
              </a:rPr>
              <a:t> ›› </a:t>
            </a:r>
            <a:r>
              <a:rPr lang="nl-BE" i="1" dirty="0" err="1">
                <a:sym typeface="Wingdings" pitchFamily="2" charset="2"/>
              </a:rPr>
              <a:t>Reliability</a:t>
            </a:r>
            <a:r>
              <a:rPr lang="nl-BE" i="1" dirty="0">
                <a:sym typeface="Wingdings" pitchFamily="2" charset="2"/>
              </a:rPr>
              <a:t> Analysis</a:t>
            </a:r>
            <a:endParaRPr lang="nl-BE" i="1" dirty="0"/>
          </a:p>
          <a:p>
            <a:pPr marL="650230" indent="-650230">
              <a:buFont typeface="Wingdings"/>
              <a:buChar char="à"/>
            </a:pPr>
            <a:endParaRPr lang="nl-BE" dirty="0">
              <a:sym typeface="Wingdings" pitchFamily="2" charset="2"/>
            </a:endParaRPr>
          </a:p>
          <a:p>
            <a:pPr>
              <a:lnSpc>
                <a:spcPct val="107000"/>
              </a:lnSpc>
              <a:spcAft>
                <a:spcPts val="800"/>
              </a:spcAft>
            </a:pPr>
            <a:r>
              <a:rPr lang="nl-BE" b="1" dirty="0">
                <a:solidFill>
                  <a:srgbClr val="C00000"/>
                </a:solidFill>
                <a:effectLst/>
                <a:cs typeface="Times New Roman" panose="02020603050405020304" pitchFamily="18" charset="0"/>
              </a:rPr>
              <a:t>OP BASIS RESULTATEN FA beslissen we om </a:t>
            </a:r>
            <a:r>
              <a:rPr lang="nl-BE" b="1" u="sng" dirty="0">
                <a:solidFill>
                  <a:srgbClr val="C00000"/>
                </a:solidFill>
                <a:effectLst/>
                <a:cs typeface="Times New Roman" panose="02020603050405020304" pitchFamily="18" charset="0"/>
              </a:rPr>
              <a:t>5 schalen</a:t>
            </a:r>
            <a:r>
              <a:rPr lang="nl-BE" b="1" dirty="0">
                <a:solidFill>
                  <a:srgbClr val="C00000"/>
                </a:solidFill>
                <a:effectLst/>
                <a:cs typeface="Times New Roman" panose="02020603050405020304" pitchFamily="18" charset="0"/>
              </a:rPr>
              <a:t> te vormen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highlight>
                  <a:srgbClr val="FFFF00"/>
                </a:highlight>
                <a:cs typeface="Times New Roman" panose="02020603050405020304" pitchFamily="18" charset="0"/>
              </a:rPr>
              <a:t>1 schaal op basis van items 14, 16, 22, 17, 13 en 8</a:t>
            </a:r>
            <a:endParaRPr lang="nl-NL" dirty="0">
              <a:effectLst/>
              <a:highlight>
                <a:srgbClr val="FFFF00"/>
              </a:highligh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19, 25, 27, 20, 7 en 26</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24, 3, 4, 1, 15 en 21</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 6 en 18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23, 5 en 28</a:t>
            </a:r>
            <a:endParaRPr lang="nl-NL" dirty="0">
              <a:effectLst/>
              <a:cs typeface="Times New Roman" panose="02020603050405020304" pitchFamily="18" charset="0"/>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betrouwbaarheidsanalyse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34</a:t>
            </a:fld>
            <a:endParaRPr lang="en-US" dirty="0">
              <a:solidFill>
                <a:prstClr val="white"/>
              </a:solidFill>
            </a:endParaRPr>
          </a:p>
        </p:txBody>
      </p:sp>
      <p:sp>
        <p:nvSpPr>
          <p:cNvPr id="14" name="Tijdelijke aanduiding voor inhoud 13">
            <a:extLst>
              <a:ext uri="{FF2B5EF4-FFF2-40B4-BE49-F238E27FC236}">
                <a16:creationId xmlns:a16="http://schemas.microsoft.com/office/drawing/2014/main" id="{C86F63C6-FF34-B011-EC4E-FC513A51886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665911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E1416-5328-42B5-20DF-B2F8FBBD63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F90B50-0E59-6C49-9F4D-030B25153CA9}"/>
              </a:ext>
            </a:extLst>
          </p:cNvPr>
          <p:cNvSpPr>
            <a:spLocks noGrp="1"/>
          </p:cNvSpPr>
          <p:nvPr>
            <p:ph type="title"/>
          </p:nvPr>
        </p:nvSpPr>
        <p:spPr/>
        <p:txBody>
          <a:bodyPr/>
          <a:lstStyle/>
          <a:p>
            <a:r>
              <a:rPr lang="nl-NL" dirty="0"/>
              <a:t>betrouwbaarheidsanalyse</a:t>
            </a:r>
          </a:p>
        </p:txBody>
      </p:sp>
      <p:sp>
        <p:nvSpPr>
          <p:cNvPr id="3" name="Tijdelijke aanduiding voor inhoud 2">
            <a:extLst>
              <a:ext uri="{FF2B5EF4-FFF2-40B4-BE49-F238E27FC236}">
                <a16:creationId xmlns:a16="http://schemas.microsoft.com/office/drawing/2014/main" id="{403AC37C-D50C-94B8-EB5B-186669FD2D77}"/>
              </a:ext>
            </a:extLst>
          </p:cNvPr>
          <p:cNvSpPr>
            <a:spLocks noGrp="1"/>
          </p:cNvSpPr>
          <p:nvPr>
            <p:ph idx="1"/>
          </p:nvPr>
        </p:nvSpPr>
        <p:spPr>
          <a:xfrm>
            <a:off x="0" y="1816273"/>
            <a:ext cx="17185711" cy="6864264"/>
          </a:xfrm>
        </p:spPr>
        <p:txBody>
          <a:bodyPr/>
          <a:lstStyle/>
          <a:p>
            <a:pPr algn="just">
              <a:lnSpc>
                <a:spcPct val="150000"/>
              </a:lnSpc>
              <a:spcAft>
                <a:spcPts val="800"/>
              </a:spcAft>
            </a:pPr>
            <a:r>
              <a:rPr lang="nl-BE" b="1" u="sng" dirty="0">
                <a:effectLst/>
                <a:cs typeface="Calibri" panose="020F0502020204030204" pitchFamily="34" charset="0"/>
              </a:rPr>
              <a:t>Voer een betrouwbaarheidsanalyse uit.  </a:t>
            </a:r>
            <a:endParaRPr lang="nl-NL" b="1" u="sng" dirty="0">
              <a:effectLst/>
              <a:cs typeface="Times New Roman" panose="02020603050405020304" pitchFamily="18" charset="0"/>
            </a:endParaRPr>
          </a:p>
          <a:p>
            <a:pPr marL="1143000" lvl="2" indent="-228600" algn="just">
              <a:lnSpc>
                <a:spcPct val="150000"/>
              </a:lnSpc>
              <a:spcAft>
                <a:spcPts val="800"/>
              </a:spcAft>
              <a:buFont typeface="Wingdings" panose="05000000000000000000" pitchFamily="2" charset="2"/>
              <a:buChar char=""/>
            </a:pPr>
            <a:r>
              <a:rPr lang="nl-BE" dirty="0">
                <a:effectLst/>
                <a:cs typeface="Calibri" panose="020F0502020204030204" pitchFamily="34" charset="0"/>
              </a:rPr>
              <a:t>Zijn de schalen intern consistent ? Rapporteer de relevante parameter en interpreteer.</a:t>
            </a:r>
            <a:endParaRPr lang="nl-NL" dirty="0">
              <a:effectLst/>
              <a:cs typeface="Times New Roman" panose="02020603050405020304" pitchFamily="18" charset="0"/>
            </a:endParaRPr>
          </a:p>
          <a:p>
            <a:pPr marL="1143000" lvl="2" indent="-228600" algn="just">
              <a:lnSpc>
                <a:spcPct val="150000"/>
              </a:lnSpc>
              <a:spcAft>
                <a:spcPts val="800"/>
              </a:spcAft>
              <a:buFont typeface="Wingdings" panose="05000000000000000000" pitchFamily="2" charset="2"/>
              <a:buChar char=""/>
            </a:pPr>
            <a:r>
              <a:rPr lang="nl-BE" dirty="0">
                <a:effectLst/>
                <a:cs typeface="Calibri" panose="020F0502020204030204" pitchFamily="34" charset="0"/>
              </a:rPr>
              <a:t>Kan de interne consistentie van elke schaal verbeterd worden door items weg te laten ? Beargumenteer.</a:t>
            </a:r>
            <a:endParaRPr lang="nl-NL" dirty="0">
              <a:effectLst/>
              <a:cs typeface="Times New Roman" panose="02020603050405020304" pitchFamily="18" charset="0"/>
            </a:endParaRPr>
          </a:p>
          <a:p>
            <a:pPr marL="1143000" lvl="2" indent="-228600" algn="just">
              <a:lnSpc>
                <a:spcPct val="150000"/>
              </a:lnSpc>
              <a:spcAft>
                <a:spcPts val="800"/>
              </a:spcAft>
              <a:buFont typeface="Wingdings" panose="05000000000000000000" pitchFamily="2" charset="2"/>
              <a:buChar char=""/>
            </a:pPr>
            <a:r>
              <a:rPr lang="nl-BE" dirty="0">
                <a:effectLst/>
                <a:cs typeface="Calibri" panose="020F0502020204030204" pitchFamily="34" charset="0"/>
              </a:rPr>
              <a:t>Correleert elk item voldoende hoog met de totale schaalscore ? Beargumenteer.</a:t>
            </a:r>
            <a:endParaRPr lang="nl-NL" dirty="0">
              <a:effectLst/>
              <a:cs typeface="Times New Roman" panose="02020603050405020304" pitchFamily="18" charset="0"/>
            </a:endParaRPr>
          </a:p>
          <a:p>
            <a:endParaRPr lang="nl-NL" dirty="0"/>
          </a:p>
        </p:txBody>
      </p:sp>
      <p:sp>
        <p:nvSpPr>
          <p:cNvPr id="4" name="Tijdelijke aanduiding voor dianummer 3">
            <a:extLst>
              <a:ext uri="{FF2B5EF4-FFF2-40B4-BE49-F238E27FC236}">
                <a16:creationId xmlns:a16="http://schemas.microsoft.com/office/drawing/2014/main" id="{16E6B822-7053-4DC7-BEC6-05D19D936060}"/>
              </a:ext>
            </a:extLst>
          </p:cNvPr>
          <p:cNvSpPr>
            <a:spLocks noGrp="1"/>
          </p:cNvSpPr>
          <p:nvPr>
            <p:ph type="sldNum" sz="quarter" idx="12"/>
          </p:nvPr>
        </p:nvSpPr>
        <p:spPr/>
        <p:txBody>
          <a:bodyPr/>
          <a:lstStyle/>
          <a:p>
            <a:fld id="{7AE184E0-0BD4-4705-A12B-9B71DDE63301}" type="slidenum">
              <a:rPr lang="en-GB" noProof="0" smtClean="0"/>
              <a:t>35</a:t>
            </a:fld>
            <a:endParaRPr lang="en-GB" noProof="0" dirty="0"/>
          </a:p>
        </p:txBody>
      </p:sp>
      <p:sp>
        <p:nvSpPr>
          <p:cNvPr id="5" name="Tijdelijke aanduiding voor inhoud 4">
            <a:extLst>
              <a:ext uri="{FF2B5EF4-FFF2-40B4-BE49-F238E27FC236}">
                <a16:creationId xmlns:a16="http://schemas.microsoft.com/office/drawing/2014/main" id="{09FF244E-9A1E-2D71-78FE-7C162A782F4D}"/>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125232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36</a:t>
            </a:fld>
            <a:endParaRPr lang="en-GB" noProof="0" dirty="0"/>
          </a:p>
        </p:txBody>
      </p:sp>
      <p:pic>
        <p:nvPicPr>
          <p:cNvPr id="8" name="Tijdelijke aanduiding voor inhoud 6" descr="Afbeelding met schermopname, tekst, software, Multimediasoftware&#10;&#10;Automatisch gegenereerde beschrijving">
            <a:extLst>
              <a:ext uri="{FF2B5EF4-FFF2-40B4-BE49-F238E27FC236}">
                <a16:creationId xmlns:a16="http://schemas.microsoft.com/office/drawing/2014/main" id="{637C0CB9-7EA8-FEBA-F7E0-DEF07CAC96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574" y="1816273"/>
            <a:ext cx="11205556" cy="6715736"/>
          </a:xfrm>
          <a:prstGeom prst="rect">
            <a:avLst/>
          </a:prstGeom>
        </p:spPr>
      </p:pic>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13" name="Tijdelijke aanduiding voor inhoud 9" descr="Afbeelding met tekst, schermopname, Lettertype, nummer&#10;&#10;Automatisch gegenereerde beschrijving">
            <a:extLst>
              <a:ext uri="{FF2B5EF4-FFF2-40B4-BE49-F238E27FC236}">
                <a16:creationId xmlns:a16="http://schemas.microsoft.com/office/drawing/2014/main" id="{9202DB3F-0C4A-71FD-385A-38657C9EA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917" y="1445391"/>
            <a:ext cx="5201006" cy="7606028"/>
          </a:xfrm>
          <a:prstGeom prst="rect">
            <a:avLst/>
          </a:prstGeom>
        </p:spPr>
      </p:pic>
    </p:spTree>
    <p:extLst>
      <p:ext uri="{BB962C8B-B14F-4D97-AF65-F5344CB8AC3E}">
        <p14:creationId xmlns:p14="http://schemas.microsoft.com/office/powerpoint/2010/main" val="680686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37</a:t>
            </a:fld>
            <a:endParaRPr lang="en-GB" noProof="0" dirty="0"/>
          </a:p>
        </p:txBody>
      </p:sp>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9" name="Afbeelding 8">
            <a:extLst>
              <a:ext uri="{FF2B5EF4-FFF2-40B4-BE49-F238E27FC236}">
                <a16:creationId xmlns:a16="http://schemas.microsoft.com/office/drawing/2014/main" id="{411A5BC1-68F8-91F8-6558-9B2ECE52F720}"/>
              </a:ext>
            </a:extLst>
          </p:cNvPr>
          <p:cNvPicPr>
            <a:picLocks noChangeAspect="1"/>
          </p:cNvPicPr>
          <p:nvPr/>
        </p:nvPicPr>
        <p:blipFill>
          <a:blip r:embed="rId3"/>
          <a:stretch>
            <a:fillRect/>
          </a:stretch>
        </p:blipFill>
        <p:spPr>
          <a:xfrm>
            <a:off x="532016" y="2223728"/>
            <a:ext cx="5442700" cy="2653072"/>
          </a:xfrm>
          <a:prstGeom prst="rect">
            <a:avLst/>
          </a:prstGeom>
        </p:spPr>
      </p:pic>
      <p:sp>
        <p:nvSpPr>
          <p:cNvPr id="15" name="Ovaal 14">
            <a:extLst>
              <a:ext uri="{FF2B5EF4-FFF2-40B4-BE49-F238E27FC236}">
                <a16:creationId xmlns:a16="http://schemas.microsoft.com/office/drawing/2014/main" id="{9C1534FE-3E5C-EB11-372E-41AF7B6998CB}"/>
              </a:ext>
            </a:extLst>
          </p:cNvPr>
          <p:cNvSpPr/>
          <p:nvPr/>
        </p:nvSpPr>
        <p:spPr>
          <a:xfrm>
            <a:off x="478934" y="3531359"/>
            <a:ext cx="2481461" cy="1440191"/>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8" name="Afbeelding 17">
            <a:extLst>
              <a:ext uri="{FF2B5EF4-FFF2-40B4-BE49-F238E27FC236}">
                <a16:creationId xmlns:a16="http://schemas.microsoft.com/office/drawing/2014/main" id="{B924BA4F-DCD4-AE5E-67FD-FDBDF54AD8BE}"/>
              </a:ext>
            </a:extLst>
          </p:cNvPr>
          <p:cNvPicPr>
            <a:picLocks noChangeAspect="1"/>
          </p:cNvPicPr>
          <p:nvPr/>
        </p:nvPicPr>
        <p:blipFill>
          <a:blip r:embed="rId4"/>
          <a:stretch>
            <a:fillRect/>
          </a:stretch>
        </p:blipFill>
        <p:spPr>
          <a:xfrm>
            <a:off x="6768895" y="2070110"/>
            <a:ext cx="9494935" cy="6562466"/>
          </a:xfrm>
          <a:prstGeom prst="rect">
            <a:avLst/>
          </a:prstGeom>
        </p:spPr>
      </p:pic>
      <p:sp>
        <p:nvSpPr>
          <p:cNvPr id="19" name="Ovaal 18">
            <a:extLst>
              <a:ext uri="{FF2B5EF4-FFF2-40B4-BE49-F238E27FC236}">
                <a16:creationId xmlns:a16="http://schemas.microsoft.com/office/drawing/2014/main" id="{B6F5E7AD-013D-FB63-B8BD-04FE7A438A22}"/>
              </a:ext>
            </a:extLst>
          </p:cNvPr>
          <p:cNvSpPr/>
          <p:nvPr/>
        </p:nvSpPr>
        <p:spPr>
          <a:xfrm rot="5400000">
            <a:off x="11969069" y="4382329"/>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Ovaal 19">
            <a:extLst>
              <a:ext uri="{FF2B5EF4-FFF2-40B4-BE49-F238E27FC236}">
                <a16:creationId xmlns:a16="http://schemas.microsoft.com/office/drawing/2014/main" id="{FD54A503-4925-838C-97B2-6D71F7A78E91}"/>
              </a:ext>
            </a:extLst>
          </p:cNvPr>
          <p:cNvSpPr/>
          <p:nvPr/>
        </p:nvSpPr>
        <p:spPr>
          <a:xfrm rot="5400000">
            <a:off x="9243631" y="4382328"/>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76673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Betrouwbaarheidsanalyse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Scale</a:t>
            </a:r>
            <a:r>
              <a:rPr lang="nl-BE" i="1" dirty="0">
                <a:sym typeface="Wingdings" pitchFamily="2" charset="2"/>
              </a:rPr>
              <a:t> ›› </a:t>
            </a:r>
            <a:r>
              <a:rPr lang="nl-BE" i="1" dirty="0" err="1">
                <a:sym typeface="Wingdings" pitchFamily="2" charset="2"/>
              </a:rPr>
              <a:t>Reliability</a:t>
            </a:r>
            <a:r>
              <a:rPr lang="nl-BE" i="1" dirty="0">
                <a:sym typeface="Wingdings" pitchFamily="2" charset="2"/>
              </a:rPr>
              <a:t> Analysis</a:t>
            </a:r>
            <a:endParaRPr lang="nl-BE" i="1" dirty="0"/>
          </a:p>
          <a:p>
            <a:pPr marL="650230" indent="-650230">
              <a:buFont typeface="Wingdings"/>
              <a:buChar char="à"/>
            </a:pPr>
            <a:endParaRPr lang="nl-BE" dirty="0">
              <a:sym typeface="Wingdings" pitchFamily="2" charset="2"/>
            </a:endParaRPr>
          </a:p>
          <a:p>
            <a:pPr>
              <a:lnSpc>
                <a:spcPct val="107000"/>
              </a:lnSpc>
              <a:spcAft>
                <a:spcPts val="800"/>
              </a:spcAft>
            </a:pPr>
            <a:r>
              <a:rPr lang="nl-BE" b="1" dirty="0">
                <a:solidFill>
                  <a:srgbClr val="C00000"/>
                </a:solidFill>
                <a:effectLst/>
                <a:cs typeface="Times New Roman" panose="02020603050405020304" pitchFamily="18" charset="0"/>
              </a:rPr>
              <a:t>OP BASIS RESULTATEN FA beslissen we om </a:t>
            </a:r>
            <a:r>
              <a:rPr lang="nl-BE" b="1" u="sng" dirty="0">
                <a:solidFill>
                  <a:srgbClr val="C00000"/>
                </a:solidFill>
                <a:effectLst/>
                <a:cs typeface="Times New Roman" panose="02020603050405020304" pitchFamily="18" charset="0"/>
              </a:rPr>
              <a:t>5 schalen</a:t>
            </a:r>
            <a:r>
              <a:rPr lang="nl-BE" b="1" dirty="0">
                <a:solidFill>
                  <a:srgbClr val="C00000"/>
                </a:solidFill>
                <a:effectLst/>
                <a:cs typeface="Times New Roman" panose="02020603050405020304" pitchFamily="18" charset="0"/>
              </a:rPr>
              <a:t> te vormen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14, 16, 22, 17, 13 en 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highlight>
                  <a:srgbClr val="FFFF00"/>
                </a:highlight>
                <a:cs typeface="Times New Roman" panose="02020603050405020304" pitchFamily="18" charset="0"/>
              </a:rPr>
              <a:t>1 schaal op basis van items 19, 25, 27, 20, 7 en 26 </a:t>
            </a:r>
            <a:endParaRPr lang="nl-NL" dirty="0">
              <a:effectLst/>
              <a:highlight>
                <a:srgbClr val="FFFF00"/>
              </a:highligh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24, 3, 4, 1, 15 en 21</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 6 en 18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23, 5 en 28</a:t>
            </a:r>
            <a:endParaRPr lang="nl-NL" dirty="0">
              <a:effectLst/>
              <a:cs typeface="Times New Roman" panose="02020603050405020304" pitchFamily="18" charset="0"/>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betrouwbaarheidsanalyse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38</a:t>
            </a:fld>
            <a:endParaRPr lang="en-US" dirty="0">
              <a:solidFill>
                <a:prstClr val="white"/>
              </a:solidFill>
            </a:endParaRPr>
          </a:p>
        </p:txBody>
      </p:sp>
      <p:sp>
        <p:nvSpPr>
          <p:cNvPr id="14" name="Tijdelijke aanduiding voor inhoud 13">
            <a:extLst>
              <a:ext uri="{FF2B5EF4-FFF2-40B4-BE49-F238E27FC236}">
                <a16:creationId xmlns:a16="http://schemas.microsoft.com/office/drawing/2014/main" id="{C86F63C6-FF34-B011-EC4E-FC513A51886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710626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39</a:t>
            </a:fld>
            <a:endParaRPr lang="en-GB" noProof="0" dirty="0"/>
          </a:p>
        </p:txBody>
      </p:sp>
      <p:pic>
        <p:nvPicPr>
          <p:cNvPr id="6" name="Tijdelijke aanduiding voor inhoud 5" descr="Afbeelding met schermopname, tekst, software, Multimediasoftware&#10;&#10;Automatisch gegenereerde beschrijving">
            <a:extLst>
              <a:ext uri="{FF2B5EF4-FFF2-40B4-BE49-F238E27FC236}">
                <a16:creationId xmlns:a16="http://schemas.microsoft.com/office/drawing/2014/main" id="{43CFA648-E227-91A7-CF52-9B9ED7FD82BA}"/>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98751" y="1698540"/>
            <a:ext cx="11719319" cy="5915918"/>
          </a:xfrm>
        </p:spPr>
      </p:pic>
      <p:pic>
        <p:nvPicPr>
          <p:cNvPr id="13" name="Tijdelijke aanduiding voor inhoud 9" descr="Afbeelding met tekst, schermopname, Lettertype, nummer&#10;&#10;Automatisch gegenereerde beschrijving">
            <a:extLst>
              <a:ext uri="{FF2B5EF4-FFF2-40B4-BE49-F238E27FC236}">
                <a16:creationId xmlns:a16="http://schemas.microsoft.com/office/drawing/2014/main" id="{9202DB3F-0C4A-71FD-385A-38657C9EA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917" y="1445391"/>
            <a:ext cx="5201006" cy="7606028"/>
          </a:xfrm>
          <a:prstGeom prst="rect">
            <a:avLst/>
          </a:prstGeom>
        </p:spPr>
      </p:pic>
    </p:spTree>
    <p:extLst>
      <p:ext uri="{BB962C8B-B14F-4D97-AF65-F5344CB8AC3E}">
        <p14:creationId xmlns:p14="http://schemas.microsoft.com/office/powerpoint/2010/main" val="1492996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40</a:t>
            </a:fld>
            <a:endParaRPr lang="en-GB" noProof="0" dirty="0"/>
          </a:p>
        </p:txBody>
      </p:sp>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6" name="Afbeelding 5">
            <a:extLst>
              <a:ext uri="{FF2B5EF4-FFF2-40B4-BE49-F238E27FC236}">
                <a16:creationId xmlns:a16="http://schemas.microsoft.com/office/drawing/2014/main" id="{09B20EFF-5527-4B49-6BCF-98331E39C75D}"/>
              </a:ext>
            </a:extLst>
          </p:cNvPr>
          <p:cNvPicPr>
            <a:picLocks noChangeAspect="1"/>
          </p:cNvPicPr>
          <p:nvPr/>
        </p:nvPicPr>
        <p:blipFill>
          <a:blip r:embed="rId3"/>
          <a:stretch>
            <a:fillRect/>
          </a:stretch>
        </p:blipFill>
        <p:spPr>
          <a:xfrm>
            <a:off x="371509" y="2500053"/>
            <a:ext cx="5683017" cy="2770216"/>
          </a:xfrm>
          <a:prstGeom prst="rect">
            <a:avLst/>
          </a:prstGeom>
        </p:spPr>
      </p:pic>
      <p:sp>
        <p:nvSpPr>
          <p:cNvPr id="7" name="Ovaal 6">
            <a:extLst>
              <a:ext uri="{FF2B5EF4-FFF2-40B4-BE49-F238E27FC236}">
                <a16:creationId xmlns:a16="http://schemas.microsoft.com/office/drawing/2014/main" id="{71A43A9C-8CC8-B8AC-7DE7-A5D849028B74}"/>
              </a:ext>
            </a:extLst>
          </p:cNvPr>
          <p:cNvSpPr/>
          <p:nvPr/>
        </p:nvSpPr>
        <p:spPr>
          <a:xfrm>
            <a:off x="265956" y="3885161"/>
            <a:ext cx="2481461" cy="1440191"/>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a:extLst>
              <a:ext uri="{FF2B5EF4-FFF2-40B4-BE49-F238E27FC236}">
                <a16:creationId xmlns:a16="http://schemas.microsoft.com/office/drawing/2014/main" id="{CF87DD4F-9984-FE94-0376-5CF6E7619CF1}"/>
              </a:ext>
            </a:extLst>
          </p:cNvPr>
          <p:cNvPicPr>
            <a:picLocks noChangeAspect="1"/>
          </p:cNvPicPr>
          <p:nvPr/>
        </p:nvPicPr>
        <p:blipFill>
          <a:blip r:embed="rId4"/>
          <a:stretch>
            <a:fillRect/>
          </a:stretch>
        </p:blipFill>
        <p:spPr>
          <a:xfrm>
            <a:off x="5949819" y="1726293"/>
            <a:ext cx="11341445" cy="6563415"/>
          </a:xfrm>
          <a:prstGeom prst="rect">
            <a:avLst/>
          </a:prstGeom>
        </p:spPr>
      </p:pic>
      <p:sp>
        <p:nvSpPr>
          <p:cNvPr id="11" name="Ovaal 10">
            <a:extLst>
              <a:ext uri="{FF2B5EF4-FFF2-40B4-BE49-F238E27FC236}">
                <a16:creationId xmlns:a16="http://schemas.microsoft.com/office/drawing/2014/main" id="{A56591FF-2B0B-768E-CB26-7E24E7B0A196}"/>
              </a:ext>
            </a:extLst>
          </p:cNvPr>
          <p:cNvSpPr/>
          <p:nvPr/>
        </p:nvSpPr>
        <p:spPr>
          <a:xfrm rot="5400000">
            <a:off x="13040467" y="4451567"/>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al 12">
            <a:extLst>
              <a:ext uri="{FF2B5EF4-FFF2-40B4-BE49-F238E27FC236}">
                <a16:creationId xmlns:a16="http://schemas.microsoft.com/office/drawing/2014/main" id="{6327F722-B503-FDEB-F790-4DF10EE23F38}"/>
              </a:ext>
            </a:extLst>
          </p:cNvPr>
          <p:cNvSpPr/>
          <p:nvPr/>
        </p:nvSpPr>
        <p:spPr>
          <a:xfrm rot="5400000">
            <a:off x="9733359" y="4382328"/>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72272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Betrouwbaarheidsanalyse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Scale</a:t>
            </a:r>
            <a:r>
              <a:rPr lang="nl-BE" i="1" dirty="0">
                <a:sym typeface="Wingdings" pitchFamily="2" charset="2"/>
              </a:rPr>
              <a:t> ›› </a:t>
            </a:r>
            <a:r>
              <a:rPr lang="nl-BE" i="1" dirty="0" err="1">
                <a:sym typeface="Wingdings" pitchFamily="2" charset="2"/>
              </a:rPr>
              <a:t>Reliability</a:t>
            </a:r>
            <a:r>
              <a:rPr lang="nl-BE" i="1" dirty="0">
                <a:sym typeface="Wingdings" pitchFamily="2" charset="2"/>
              </a:rPr>
              <a:t> Analysis</a:t>
            </a:r>
            <a:endParaRPr lang="nl-BE" i="1" dirty="0"/>
          </a:p>
          <a:p>
            <a:pPr marL="650230" indent="-650230">
              <a:buFont typeface="Wingdings"/>
              <a:buChar char="à"/>
            </a:pPr>
            <a:endParaRPr lang="nl-BE" dirty="0">
              <a:sym typeface="Wingdings" pitchFamily="2" charset="2"/>
            </a:endParaRPr>
          </a:p>
          <a:p>
            <a:pPr>
              <a:lnSpc>
                <a:spcPct val="107000"/>
              </a:lnSpc>
              <a:spcAft>
                <a:spcPts val="800"/>
              </a:spcAft>
            </a:pPr>
            <a:r>
              <a:rPr lang="nl-BE" b="1" dirty="0">
                <a:solidFill>
                  <a:srgbClr val="C00000"/>
                </a:solidFill>
                <a:effectLst/>
                <a:cs typeface="Times New Roman" panose="02020603050405020304" pitchFamily="18" charset="0"/>
              </a:rPr>
              <a:t>OP BASIS RESULTATEN FA beslissen we om </a:t>
            </a:r>
            <a:r>
              <a:rPr lang="nl-BE" b="1" u="sng" dirty="0">
                <a:solidFill>
                  <a:srgbClr val="C00000"/>
                </a:solidFill>
                <a:effectLst/>
                <a:cs typeface="Times New Roman" panose="02020603050405020304" pitchFamily="18" charset="0"/>
              </a:rPr>
              <a:t>5 schalen</a:t>
            </a:r>
            <a:r>
              <a:rPr lang="nl-BE" b="1" dirty="0">
                <a:solidFill>
                  <a:srgbClr val="C00000"/>
                </a:solidFill>
                <a:effectLst/>
                <a:cs typeface="Times New Roman" panose="02020603050405020304" pitchFamily="18" charset="0"/>
              </a:rPr>
              <a:t> te vormen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14, 16, 22, 17, 13 en 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19, 25, 27, 20, 7 en 26</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highlight>
                  <a:srgbClr val="FFFF00"/>
                </a:highlight>
                <a:cs typeface="Times New Roman" panose="02020603050405020304" pitchFamily="18" charset="0"/>
              </a:rPr>
              <a:t>1 schaal op basis van items 24, 3, 4, 1, 15 en 21</a:t>
            </a:r>
            <a:endParaRPr lang="nl-NL" dirty="0">
              <a:effectLst/>
              <a:highlight>
                <a:srgbClr val="FFFF00"/>
              </a:highligh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 6 en 18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23, 5 en 28</a:t>
            </a:r>
            <a:endParaRPr lang="nl-NL" dirty="0">
              <a:effectLst/>
              <a:cs typeface="Times New Roman" panose="02020603050405020304" pitchFamily="18" charset="0"/>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betrouwbaarheidsanalyse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41</a:t>
            </a:fld>
            <a:endParaRPr lang="en-US" dirty="0">
              <a:solidFill>
                <a:prstClr val="white"/>
              </a:solidFill>
            </a:endParaRPr>
          </a:p>
        </p:txBody>
      </p:sp>
      <p:sp>
        <p:nvSpPr>
          <p:cNvPr id="14" name="Tijdelijke aanduiding voor inhoud 13">
            <a:extLst>
              <a:ext uri="{FF2B5EF4-FFF2-40B4-BE49-F238E27FC236}">
                <a16:creationId xmlns:a16="http://schemas.microsoft.com/office/drawing/2014/main" id="{C86F63C6-FF34-B011-EC4E-FC513A51886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5140888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42</a:t>
            </a:fld>
            <a:endParaRPr lang="en-GB" noProof="0" dirty="0"/>
          </a:p>
        </p:txBody>
      </p:sp>
      <p:pic>
        <p:nvPicPr>
          <p:cNvPr id="6" name="Tijdelijke aanduiding voor inhoud 5" descr="Afbeelding met tekst, schermopname, scherm, software&#10;&#10;Automatisch gegenereerde beschrijving">
            <a:extLst>
              <a:ext uri="{FF2B5EF4-FFF2-40B4-BE49-F238E27FC236}">
                <a16:creationId xmlns:a16="http://schemas.microsoft.com/office/drawing/2014/main" id="{F6016084-75CF-0E3F-856C-1CABCBA59966}"/>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0" y="2149330"/>
            <a:ext cx="12288239" cy="6198149"/>
          </a:xfrm>
        </p:spPr>
      </p:pic>
      <p:pic>
        <p:nvPicPr>
          <p:cNvPr id="13" name="Tijdelijke aanduiding voor inhoud 9" descr="Afbeelding met tekst, schermopname, Lettertype, nummer&#10;&#10;Automatisch gegenereerde beschrijving">
            <a:extLst>
              <a:ext uri="{FF2B5EF4-FFF2-40B4-BE49-F238E27FC236}">
                <a16:creationId xmlns:a16="http://schemas.microsoft.com/office/drawing/2014/main" id="{9202DB3F-0C4A-71FD-385A-38657C9EA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917" y="1445391"/>
            <a:ext cx="5201006" cy="7606028"/>
          </a:xfrm>
          <a:prstGeom prst="rect">
            <a:avLst/>
          </a:prstGeom>
        </p:spPr>
      </p:pic>
    </p:spTree>
    <p:extLst>
      <p:ext uri="{BB962C8B-B14F-4D97-AF65-F5344CB8AC3E}">
        <p14:creationId xmlns:p14="http://schemas.microsoft.com/office/powerpoint/2010/main" val="15545273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43</a:t>
            </a:fld>
            <a:endParaRPr lang="en-GB" noProof="0" dirty="0"/>
          </a:p>
        </p:txBody>
      </p:sp>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8" name="Afbeelding 7">
            <a:extLst>
              <a:ext uri="{FF2B5EF4-FFF2-40B4-BE49-F238E27FC236}">
                <a16:creationId xmlns:a16="http://schemas.microsoft.com/office/drawing/2014/main" id="{99BF1AB7-5C21-9F31-E5AB-553346684F74}"/>
              </a:ext>
            </a:extLst>
          </p:cNvPr>
          <p:cNvPicPr>
            <a:picLocks noChangeAspect="1"/>
          </p:cNvPicPr>
          <p:nvPr/>
        </p:nvPicPr>
        <p:blipFill>
          <a:blip r:embed="rId3"/>
          <a:stretch>
            <a:fillRect/>
          </a:stretch>
        </p:blipFill>
        <p:spPr>
          <a:xfrm>
            <a:off x="152964" y="1816273"/>
            <a:ext cx="5796855" cy="2220450"/>
          </a:xfrm>
          <a:prstGeom prst="rect">
            <a:avLst/>
          </a:prstGeom>
        </p:spPr>
      </p:pic>
      <p:sp>
        <p:nvSpPr>
          <p:cNvPr id="9" name="Ovaal 8">
            <a:extLst>
              <a:ext uri="{FF2B5EF4-FFF2-40B4-BE49-F238E27FC236}">
                <a16:creationId xmlns:a16="http://schemas.microsoft.com/office/drawing/2014/main" id="{2EF1B381-E91B-74A1-18AE-3C6FCAC8655D}"/>
              </a:ext>
            </a:extLst>
          </p:cNvPr>
          <p:cNvSpPr/>
          <p:nvPr/>
        </p:nvSpPr>
        <p:spPr>
          <a:xfrm>
            <a:off x="60836" y="2827917"/>
            <a:ext cx="2481461" cy="1440191"/>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5" name="Afbeelding 14">
            <a:extLst>
              <a:ext uri="{FF2B5EF4-FFF2-40B4-BE49-F238E27FC236}">
                <a16:creationId xmlns:a16="http://schemas.microsoft.com/office/drawing/2014/main" id="{6996072C-C094-AB46-704A-1D0F70322E97}"/>
              </a:ext>
            </a:extLst>
          </p:cNvPr>
          <p:cNvPicPr>
            <a:picLocks noChangeAspect="1"/>
          </p:cNvPicPr>
          <p:nvPr/>
        </p:nvPicPr>
        <p:blipFill>
          <a:blip r:embed="rId4"/>
          <a:stretch>
            <a:fillRect/>
          </a:stretch>
        </p:blipFill>
        <p:spPr>
          <a:xfrm>
            <a:off x="6204365" y="2154079"/>
            <a:ext cx="10693862" cy="6188652"/>
          </a:xfrm>
          <a:prstGeom prst="rect">
            <a:avLst/>
          </a:prstGeom>
        </p:spPr>
      </p:pic>
      <p:sp>
        <p:nvSpPr>
          <p:cNvPr id="16" name="Ovaal 15">
            <a:extLst>
              <a:ext uri="{FF2B5EF4-FFF2-40B4-BE49-F238E27FC236}">
                <a16:creationId xmlns:a16="http://schemas.microsoft.com/office/drawing/2014/main" id="{DFC0A118-32E4-C976-C5BD-B15979FA9CAA}"/>
              </a:ext>
            </a:extLst>
          </p:cNvPr>
          <p:cNvSpPr/>
          <p:nvPr/>
        </p:nvSpPr>
        <p:spPr>
          <a:xfrm rot="5400000">
            <a:off x="12699730" y="4490281"/>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al 16">
            <a:extLst>
              <a:ext uri="{FF2B5EF4-FFF2-40B4-BE49-F238E27FC236}">
                <a16:creationId xmlns:a16="http://schemas.microsoft.com/office/drawing/2014/main" id="{812D5CAC-46FD-BA61-EA11-48FCEB513589}"/>
              </a:ext>
            </a:extLst>
          </p:cNvPr>
          <p:cNvSpPr/>
          <p:nvPr/>
        </p:nvSpPr>
        <p:spPr>
          <a:xfrm rot="5400000">
            <a:off x="9518846" y="4436305"/>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95476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Betrouwbaarheidsanalyse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Scale</a:t>
            </a:r>
            <a:r>
              <a:rPr lang="nl-BE" i="1" dirty="0">
                <a:sym typeface="Wingdings" pitchFamily="2" charset="2"/>
              </a:rPr>
              <a:t> ›› </a:t>
            </a:r>
            <a:r>
              <a:rPr lang="nl-BE" i="1" dirty="0" err="1">
                <a:sym typeface="Wingdings" pitchFamily="2" charset="2"/>
              </a:rPr>
              <a:t>Reliability</a:t>
            </a:r>
            <a:r>
              <a:rPr lang="nl-BE" i="1" dirty="0">
                <a:sym typeface="Wingdings" pitchFamily="2" charset="2"/>
              </a:rPr>
              <a:t> Analysis</a:t>
            </a:r>
            <a:endParaRPr lang="nl-BE" i="1" dirty="0"/>
          </a:p>
          <a:p>
            <a:pPr marL="650230" indent="-650230">
              <a:buFont typeface="Wingdings"/>
              <a:buChar char="à"/>
            </a:pPr>
            <a:endParaRPr lang="nl-BE" dirty="0">
              <a:sym typeface="Wingdings" pitchFamily="2" charset="2"/>
            </a:endParaRPr>
          </a:p>
          <a:p>
            <a:pPr>
              <a:lnSpc>
                <a:spcPct val="107000"/>
              </a:lnSpc>
              <a:spcAft>
                <a:spcPts val="800"/>
              </a:spcAft>
            </a:pPr>
            <a:r>
              <a:rPr lang="nl-BE" b="1" dirty="0">
                <a:solidFill>
                  <a:srgbClr val="C00000"/>
                </a:solidFill>
                <a:effectLst/>
                <a:cs typeface="Times New Roman" panose="02020603050405020304" pitchFamily="18" charset="0"/>
              </a:rPr>
              <a:t>OP BASIS RESULTATEN FA beslissen we om </a:t>
            </a:r>
            <a:r>
              <a:rPr lang="nl-BE" b="1" u="sng" dirty="0">
                <a:solidFill>
                  <a:srgbClr val="C00000"/>
                </a:solidFill>
                <a:effectLst/>
                <a:cs typeface="Times New Roman" panose="02020603050405020304" pitchFamily="18" charset="0"/>
              </a:rPr>
              <a:t>5 schalen</a:t>
            </a:r>
            <a:r>
              <a:rPr lang="nl-BE" b="1" dirty="0">
                <a:solidFill>
                  <a:srgbClr val="C00000"/>
                </a:solidFill>
                <a:effectLst/>
                <a:cs typeface="Times New Roman" panose="02020603050405020304" pitchFamily="18" charset="0"/>
              </a:rPr>
              <a:t> te vormen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14, 16, 22, 17, 13 en 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19, 25, 27, 20, 7 en 26</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24, 3, 4, 1, 15 en 21</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highlight>
                  <a:srgbClr val="FFFF00"/>
                </a:highlight>
                <a:cs typeface="Times New Roman" panose="02020603050405020304" pitchFamily="18" charset="0"/>
              </a:rPr>
              <a:t>1 schaal op basis van items 2, 6 en 18</a:t>
            </a:r>
            <a:endParaRPr lang="nl-NL" dirty="0">
              <a:effectLst/>
              <a:highlight>
                <a:srgbClr val="FFFF00"/>
              </a:highligh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23, 5 en 28</a:t>
            </a:r>
            <a:endParaRPr lang="nl-NL" dirty="0">
              <a:effectLst/>
              <a:cs typeface="Times New Roman" panose="02020603050405020304" pitchFamily="18" charset="0"/>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betrouwbaarheidsanalyse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44</a:t>
            </a:fld>
            <a:endParaRPr lang="en-US" dirty="0">
              <a:solidFill>
                <a:prstClr val="white"/>
              </a:solidFill>
            </a:endParaRPr>
          </a:p>
        </p:txBody>
      </p:sp>
      <p:sp>
        <p:nvSpPr>
          <p:cNvPr id="14" name="Tijdelijke aanduiding voor inhoud 13">
            <a:extLst>
              <a:ext uri="{FF2B5EF4-FFF2-40B4-BE49-F238E27FC236}">
                <a16:creationId xmlns:a16="http://schemas.microsoft.com/office/drawing/2014/main" id="{C86F63C6-FF34-B011-EC4E-FC513A51886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776762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45</a:t>
            </a:fld>
            <a:endParaRPr lang="en-GB" noProof="0" dirty="0"/>
          </a:p>
        </p:txBody>
      </p:sp>
      <p:pic>
        <p:nvPicPr>
          <p:cNvPr id="6" name="Tijdelijke aanduiding voor inhoud 5" descr="Afbeelding met tekst, schermopname, scherm, software&#10;&#10;Automatisch gegenereerde beschrijving">
            <a:extLst>
              <a:ext uri="{FF2B5EF4-FFF2-40B4-BE49-F238E27FC236}">
                <a16:creationId xmlns:a16="http://schemas.microsoft.com/office/drawing/2014/main" id="{B3B0A5B6-0BC8-2D3F-FFEA-9A36FAE68EFE}"/>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347752" y="1845260"/>
            <a:ext cx="11705703" cy="6462949"/>
          </a:xfrm>
        </p:spPr>
      </p:pic>
      <p:pic>
        <p:nvPicPr>
          <p:cNvPr id="13" name="Tijdelijke aanduiding voor inhoud 9" descr="Afbeelding met tekst, schermopname, Lettertype, nummer&#10;&#10;Automatisch gegenereerde beschrijving">
            <a:extLst>
              <a:ext uri="{FF2B5EF4-FFF2-40B4-BE49-F238E27FC236}">
                <a16:creationId xmlns:a16="http://schemas.microsoft.com/office/drawing/2014/main" id="{9202DB3F-0C4A-71FD-385A-38657C9EA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917" y="1445391"/>
            <a:ext cx="5201006" cy="7606028"/>
          </a:xfrm>
          <a:prstGeom prst="rect">
            <a:avLst/>
          </a:prstGeom>
        </p:spPr>
      </p:pic>
    </p:spTree>
    <p:extLst>
      <p:ext uri="{BB962C8B-B14F-4D97-AF65-F5344CB8AC3E}">
        <p14:creationId xmlns:p14="http://schemas.microsoft.com/office/powerpoint/2010/main" val="709818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46</a:t>
            </a:fld>
            <a:endParaRPr lang="en-GB" noProof="0" dirty="0"/>
          </a:p>
        </p:txBody>
      </p:sp>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8" name="Afbeelding 7">
            <a:extLst>
              <a:ext uri="{FF2B5EF4-FFF2-40B4-BE49-F238E27FC236}">
                <a16:creationId xmlns:a16="http://schemas.microsoft.com/office/drawing/2014/main" id="{5218D177-C9A9-6531-580A-6BE2B22BF170}"/>
              </a:ext>
            </a:extLst>
          </p:cNvPr>
          <p:cNvPicPr>
            <a:picLocks noChangeAspect="1"/>
          </p:cNvPicPr>
          <p:nvPr/>
        </p:nvPicPr>
        <p:blipFill>
          <a:blip r:embed="rId3"/>
          <a:stretch>
            <a:fillRect/>
          </a:stretch>
        </p:blipFill>
        <p:spPr>
          <a:xfrm>
            <a:off x="6170601" y="1782871"/>
            <a:ext cx="10744682" cy="3756920"/>
          </a:xfrm>
          <a:prstGeom prst="rect">
            <a:avLst/>
          </a:prstGeom>
        </p:spPr>
      </p:pic>
      <p:sp>
        <p:nvSpPr>
          <p:cNvPr id="9" name="Ovaal 8">
            <a:extLst>
              <a:ext uri="{FF2B5EF4-FFF2-40B4-BE49-F238E27FC236}">
                <a16:creationId xmlns:a16="http://schemas.microsoft.com/office/drawing/2014/main" id="{CF6F85E5-D00F-2314-DEDC-8B3981719DE9}"/>
              </a:ext>
            </a:extLst>
          </p:cNvPr>
          <p:cNvSpPr/>
          <p:nvPr/>
        </p:nvSpPr>
        <p:spPr>
          <a:xfrm rot="5400000">
            <a:off x="12649456" y="3259085"/>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Ovaal 13">
            <a:extLst>
              <a:ext uri="{FF2B5EF4-FFF2-40B4-BE49-F238E27FC236}">
                <a16:creationId xmlns:a16="http://schemas.microsoft.com/office/drawing/2014/main" id="{B2809656-B275-32D9-96FC-D6A47C748A9F}"/>
              </a:ext>
            </a:extLst>
          </p:cNvPr>
          <p:cNvSpPr/>
          <p:nvPr/>
        </p:nvSpPr>
        <p:spPr>
          <a:xfrm rot="5400000">
            <a:off x="9486001" y="3259085"/>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8" name="Afbeelding 17">
            <a:extLst>
              <a:ext uri="{FF2B5EF4-FFF2-40B4-BE49-F238E27FC236}">
                <a16:creationId xmlns:a16="http://schemas.microsoft.com/office/drawing/2014/main" id="{25C42DEE-FBD3-5A68-5B31-67A59015A7CB}"/>
              </a:ext>
            </a:extLst>
          </p:cNvPr>
          <p:cNvPicPr>
            <a:picLocks noChangeAspect="1"/>
          </p:cNvPicPr>
          <p:nvPr/>
        </p:nvPicPr>
        <p:blipFill>
          <a:blip r:embed="rId4"/>
          <a:stretch>
            <a:fillRect/>
          </a:stretch>
        </p:blipFill>
        <p:spPr>
          <a:xfrm>
            <a:off x="205797" y="3484873"/>
            <a:ext cx="5759007" cy="2807258"/>
          </a:xfrm>
          <a:prstGeom prst="rect">
            <a:avLst/>
          </a:prstGeom>
        </p:spPr>
      </p:pic>
      <p:sp>
        <p:nvSpPr>
          <p:cNvPr id="19" name="Ovaal 18">
            <a:extLst>
              <a:ext uri="{FF2B5EF4-FFF2-40B4-BE49-F238E27FC236}">
                <a16:creationId xmlns:a16="http://schemas.microsoft.com/office/drawing/2014/main" id="{C7A01ECB-DC54-2113-B186-F4DD4DF03028}"/>
              </a:ext>
            </a:extLst>
          </p:cNvPr>
          <p:cNvSpPr/>
          <p:nvPr/>
        </p:nvSpPr>
        <p:spPr>
          <a:xfrm>
            <a:off x="141855" y="4991426"/>
            <a:ext cx="2481461" cy="1440191"/>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77045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jdelijke aanduiding voor inhoud 1">
            <a:extLst>
              <a:ext uri="{FF2B5EF4-FFF2-40B4-BE49-F238E27FC236}">
                <a16:creationId xmlns:a16="http://schemas.microsoft.com/office/drawing/2014/main" id="{1E297D10-F936-46E9-AAB7-F79A31637329}"/>
              </a:ext>
            </a:extLst>
          </p:cNvPr>
          <p:cNvSpPr txBox="1">
            <a:spLocks/>
          </p:cNvSpPr>
          <p:nvPr/>
        </p:nvSpPr>
        <p:spPr>
          <a:xfrm>
            <a:off x="327069" y="1816273"/>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defTabSz="650230"/>
            <a:r>
              <a:rPr lang="nl-BE" b="1" dirty="0"/>
              <a:t>Betrouwbaarheidsanalyse in SPSS: </a:t>
            </a:r>
            <a:r>
              <a:rPr lang="nl-BE" i="1" dirty="0" err="1">
                <a:sym typeface="Wingdings" pitchFamily="2" charset="2"/>
              </a:rPr>
              <a:t>Analyze</a:t>
            </a:r>
            <a:r>
              <a:rPr lang="nl-BE" i="1" dirty="0">
                <a:sym typeface="Wingdings" pitchFamily="2" charset="2"/>
              </a:rPr>
              <a:t> ››</a:t>
            </a:r>
            <a:r>
              <a:rPr lang="nl-BE" i="1" dirty="0" err="1">
                <a:sym typeface="Wingdings" pitchFamily="2" charset="2"/>
              </a:rPr>
              <a:t>Scale</a:t>
            </a:r>
            <a:r>
              <a:rPr lang="nl-BE" i="1" dirty="0">
                <a:sym typeface="Wingdings" pitchFamily="2" charset="2"/>
              </a:rPr>
              <a:t> ›› </a:t>
            </a:r>
            <a:r>
              <a:rPr lang="nl-BE" i="1" dirty="0" err="1">
                <a:sym typeface="Wingdings" pitchFamily="2" charset="2"/>
              </a:rPr>
              <a:t>Reliability</a:t>
            </a:r>
            <a:r>
              <a:rPr lang="nl-BE" i="1" dirty="0">
                <a:sym typeface="Wingdings" pitchFamily="2" charset="2"/>
              </a:rPr>
              <a:t> Analysis</a:t>
            </a:r>
            <a:endParaRPr lang="nl-BE" i="1" dirty="0"/>
          </a:p>
          <a:p>
            <a:pPr marL="650230" indent="-650230">
              <a:buFont typeface="Wingdings"/>
              <a:buChar char="à"/>
            </a:pPr>
            <a:endParaRPr lang="nl-BE" dirty="0">
              <a:sym typeface="Wingdings" pitchFamily="2" charset="2"/>
            </a:endParaRPr>
          </a:p>
          <a:p>
            <a:pPr>
              <a:lnSpc>
                <a:spcPct val="107000"/>
              </a:lnSpc>
              <a:spcAft>
                <a:spcPts val="800"/>
              </a:spcAft>
            </a:pPr>
            <a:r>
              <a:rPr lang="nl-BE" b="1" dirty="0">
                <a:solidFill>
                  <a:srgbClr val="C00000"/>
                </a:solidFill>
                <a:effectLst/>
                <a:cs typeface="Times New Roman" panose="02020603050405020304" pitchFamily="18" charset="0"/>
              </a:rPr>
              <a:t>OP BASIS RESULTATEN FA beslissen we om </a:t>
            </a:r>
            <a:r>
              <a:rPr lang="nl-BE" b="1" u="sng" dirty="0">
                <a:solidFill>
                  <a:srgbClr val="C00000"/>
                </a:solidFill>
                <a:effectLst/>
                <a:cs typeface="Times New Roman" panose="02020603050405020304" pitchFamily="18" charset="0"/>
              </a:rPr>
              <a:t>5 schalen</a:t>
            </a:r>
            <a:r>
              <a:rPr lang="nl-BE" b="1" dirty="0">
                <a:solidFill>
                  <a:srgbClr val="C00000"/>
                </a:solidFill>
                <a:effectLst/>
                <a:cs typeface="Times New Roman" panose="02020603050405020304" pitchFamily="18" charset="0"/>
              </a:rPr>
              <a:t> te vormen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 </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14, 16, 22, 17, 13 en 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19, 25, 27, 20, 7 en 26</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24, 3, 4, 1, 15 en 21</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cs typeface="Times New Roman" panose="02020603050405020304" pitchFamily="18" charset="0"/>
              </a:rPr>
              <a:t>1 schaal op basis van items 2, 6 en 18</a:t>
            </a:r>
            <a:endParaRPr lang="nl-NL" dirty="0">
              <a:effectLst/>
              <a:cs typeface="Times New Roman" panose="02020603050405020304" pitchFamily="18" charset="0"/>
            </a:endParaRPr>
          </a:p>
          <a:p>
            <a:pPr>
              <a:lnSpc>
                <a:spcPct val="107000"/>
              </a:lnSpc>
              <a:spcAft>
                <a:spcPts val="800"/>
              </a:spcAft>
            </a:pPr>
            <a:r>
              <a:rPr lang="nl-BE" b="1" dirty="0">
                <a:solidFill>
                  <a:srgbClr val="C00000"/>
                </a:solidFill>
                <a:effectLst/>
                <a:highlight>
                  <a:srgbClr val="FFFF00"/>
                </a:highlight>
                <a:cs typeface="Times New Roman" panose="02020603050405020304" pitchFamily="18" charset="0"/>
              </a:rPr>
              <a:t>1 schaal op basis van items 23, 5 en 28</a:t>
            </a:r>
            <a:endParaRPr lang="nl-NL" dirty="0">
              <a:effectLst/>
              <a:highlight>
                <a:srgbClr val="FFFF00"/>
              </a:highlight>
              <a:cs typeface="Times New Roman" panose="02020603050405020304" pitchFamily="18" charset="0"/>
            </a:endParaRPr>
          </a:p>
          <a:p>
            <a:pPr marL="650230" indent="-650230">
              <a:buFont typeface="Wingdings"/>
              <a:buChar char="à"/>
            </a:pPr>
            <a:endParaRPr lang="nl-NL" sz="3982" dirty="0">
              <a:sym typeface="Wingdings" pitchFamily="2" charset="2"/>
            </a:endParaRPr>
          </a:p>
          <a:p>
            <a:endParaRPr lang="nl-BE" dirty="0"/>
          </a:p>
        </p:txBody>
      </p:sp>
      <p:sp>
        <p:nvSpPr>
          <p:cNvPr id="3" name="Titel 2"/>
          <p:cNvSpPr>
            <a:spLocks noGrp="1"/>
          </p:cNvSpPr>
          <p:nvPr>
            <p:ph type="title"/>
          </p:nvPr>
        </p:nvSpPr>
        <p:spPr/>
        <p:txBody>
          <a:bodyPr/>
          <a:lstStyle/>
          <a:p>
            <a:r>
              <a:rPr lang="nl-BE" dirty="0"/>
              <a:t>betrouwbaarheidsanalyse in </a:t>
            </a:r>
            <a:r>
              <a:rPr lang="nl-BE" dirty="0" err="1"/>
              <a:t>spss</a:t>
            </a:r>
            <a:endParaRPr lang="nl-BE" dirty="0"/>
          </a:p>
        </p:txBody>
      </p:sp>
      <p:sp>
        <p:nvSpPr>
          <p:cNvPr id="4" name="Tijdelijke aanduiding voor dianummer 3"/>
          <p:cNvSpPr>
            <a:spLocks noGrp="1"/>
          </p:cNvSpPr>
          <p:nvPr>
            <p:ph type="sldNum" sz="quarter" idx="12"/>
          </p:nvPr>
        </p:nvSpPr>
        <p:spPr/>
        <p:txBody>
          <a:bodyPr/>
          <a:lstStyle/>
          <a:p>
            <a:pPr defTabSz="650230"/>
            <a:fld id="{56CE82DE-68A7-A74A-B0B0-6B170D634B0A}" type="slidenum">
              <a:rPr lang="en-US">
                <a:solidFill>
                  <a:prstClr val="white"/>
                </a:solidFill>
              </a:rPr>
              <a:pPr defTabSz="650230"/>
              <a:t>47</a:t>
            </a:fld>
            <a:endParaRPr lang="en-US" dirty="0">
              <a:solidFill>
                <a:prstClr val="white"/>
              </a:solidFill>
            </a:endParaRPr>
          </a:p>
        </p:txBody>
      </p:sp>
      <p:sp>
        <p:nvSpPr>
          <p:cNvPr id="14" name="Tijdelijke aanduiding voor inhoud 13">
            <a:extLst>
              <a:ext uri="{FF2B5EF4-FFF2-40B4-BE49-F238E27FC236}">
                <a16:creationId xmlns:a16="http://schemas.microsoft.com/office/drawing/2014/main" id="{C86F63C6-FF34-B011-EC4E-FC513A51886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35762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0"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48</a:t>
            </a:fld>
            <a:endParaRPr lang="en-GB" noProof="0" dirty="0"/>
          </a:p>
        </p:txBody>
      </p:sp>
      <p:pic>
        <p:nvPicPr>
          <p:cNvPr id="6" name="Tijdelijke aanduiding voor inhoud 5" descr="Afbeelding met schermopname, tekst, software, scherm&#10;&#10;Automatisch gegenereerde beschrijving">
            <a:extLst>
              <a:ext uri="{FF2B5EF4-FFF2-40B4-BE49-F238E27FC236}">
                <a16:creationId xmlns:a16="http://schemas.microsoft.com/office/drawing/2014/main" id="{8AA40C89-7DA6-72F0-83CC-167614951BFC}"/>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152964" y="1816273"/>
            <a:ext cx="11591655" cy="5846794"/>
          </a:xfrm>
        </p:spPr>
      </p:pic>
      <p:pic>
        <p:nvPicPr>
          <p:cNvPr id="13" name="Tijdelijke aanduiding voor inhoud 9" descr="Afbeelding met tekst, schermopname, Lettertype, nummer&#10;&#10;Automatisch gegenereerde beschrijving">
            <a:extLst>
              <a:ext uri="{FF2B5EF4-FFF2-40B4-BE49-F238E27FC236}">
                <a16:creationId xmlns:a16="http://schemas.microsoft.com/office/drawing/2014/main" id="{9202DB3F-0C4A-71FD-385A-38657C9EA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9917" y="1445391"/>
            <a:ext cx="5201006" cy="7606028"/>
          </a:xfrm>
          <a:prstGeom prst="rect">
            <a:avLst/>
          </a:prstGeom>
        </p:spPr>
      </p:pic>
    </p:spTree>
    <p:extLst>
      <p:ext uri="{BB962C8B-B14F-4D97-AF65-F5344CB8AC3E}">
        <p14:creationId xmlns:p14="http://schemas.microsoft.com/office/powerpoint/2010/main" val="7314981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D4EB2-D7E0-2720-9BB8-FC9701D8F2B7}"/>
              </a:ext>
            </a:extLst>
          </p:cNvPr>
          <p:cNvSpPr>
            <a:spLocks noGrp="1"/>
          </p:cNvSpPr>
          <p:nvPr>
            <p:ph type="title"/>
          </p:nvPr>
        </p:nvSpPr>
        <p:spPr/>
        <p:txBody>
          <a:bodyPr/>
          <a:lstStyle/>
          <a:p>
            <a:r>
              <a:rPr lang="nl-NL" dirty="0"/>
              <a:t>Betrouwbaarheidsanalyse in </a:t>
            </a:r>
            <a:r>
              <a:rPr lang="nl-NL" dirty="0" err="1"/>
              <a:t>spss</a:t>
            </a:r>
            <a:endParaRPr lang="nl-NL" dirty="0"/>
          </a:p>
        </p:txBody>
      </p:sp>
      <p:sp>
        <p:nvSpPr>
          <p:cNvPr id="3" name="Tijdelijke aanduiding voor inhoud 2">
            <a:extLst>
              <a:ext uri="{FF2B5EF4-FFF2-40B4-BE49-F238E27FC236}">
                <a16:creationId xmlns:a16="http://schemas.microsoft.com/office/drawing/2014/main" id="{69D7AC7C-02A7-C1E4-5805-DA2C4231A467}"/>
              </a:ext>
            </a:extLst>
          </p:cNvPr>
          <p:cNvSpPr>
            <a:spLocks noGrp="1"/>
          </p:cNvSpPr>
          <p:nvPr>
            <p:ph idx="1"/>
          </p:nvPr>
        </p:nvSpPr>
        <p:spPr>
          <a:xfrm>
            <a:off x="-1" y="1816273"/>
            <a:ext cx="17185711" cy="6864264"/>
          </a:xfrm>
        </p:spPr>
        <p:txBody>
          <a:bodyPr/>
          <a:lstStyle/>
          <a:p>
            <a:pPr algn="just">
              <a:lnSpc>
                <a:spcPct val="150000"/>
              </a:lnSpc>
              <a:spcAft>
                <a:spcPts val="800"/>
              </a:spcAft>
            </a:pPr>
            <a:endParaRPr lang="nl-NL" b="1" u="sng" dirty="0">
              <a:effectLst/>
              <a:cs typeface="Calibri" panose="020F0502020204030204" pitchFamily="34" charset="0"/>
            </a:endParaRPr>
          </a:p>
          <a:p>
            <a:endParaRPr lang="nl-NL" dirty="0"/>
          </a:p>
        </p:txBody>
      </p:sp>
      <p:sp>
        <p:nvSpPr>
          <p:cNvPr id="4" name="Tijdelijke aanduiding voor dianummer 3">
            <a:extLst>
              <a:ext uri="{FF2B5EF4-FFF2-40B4-BE49-F238E27FC236}">
                <a16:creationId xmlns:a16="http://schemas.microsoft.com/office/drawing/2014/main" id="{EE71527B-B840-B57B-00F0-620BCE42438A}"/>
              </a:ext>
            </a:extLst>
          </p:cNvPr>
          <p:cNvSpPr>
            <a:spLocks noGrp="1"/>
          </p:cNvSpPr>
          <p:nvPr>
            <p:ph type="sldNum" sz="quarter" idx="12"/>
          </p:nvPr>
        </p:nvSpPr>
        <p:spPr/>
        <p:txBody>
          <a:bodyPr/>
          <a:lstStyle/>
          <a:p>
            <a:fld id="{7AE184E0-0BD4-4705-A12B-9B71DDE63301}" type="slidenum">
              <a:rPr lang="en-GB" noProof="0" smtClean="0"/>
              <a:t>49</a:t>
            </a:fld>
            <a:endParaRPr lang="en-GB" noProof="0" dirty="0"/>
          </a:p>
        </p:txBody>
      </p:sp>
      <p:sp>
        <p:nvSpPr>
          <p:cNvPr id="12" name="Tijdelijke aanduiding voor inhoud 11">
            <a:extLst>
              <a:ext uri="{FF2B5EF4-FFF2-40B4-BE49-F238E27FC236}">
                <a16:creationId xmlns:a16="http://schemas.microsoft.com/office/drawing/2014/main" id="{7A79B87E-1E8A-2A8F-E61B-27BEDA4BC44D}"/>
              </a:ext>
            </a:extLst>
          </p:cNvPr>
          <p:cNvSpPr>
            <a:spLocks noGrp="1"/>
          </p:cNvSpPr>
          <p:nvPr>
            <p:ph idx="13"/>
          </p:nvPr>
        </p:nvSpPr>
        <p:spPr/>
        <p:txBody>
          <a:bodyPr/>
          <a:lstStyle/>
          <a:p>
            <a:endParaRPr lang="nl-NL"/>
          </a:p>
        </p:txBody>
      </p:sp>
      <p:pic>
        <p:nvPicPr>
          <p:cNvPr id="8" name="Afbeelding 7">
            <a:extLst>
              <a:ext uri="{FF2B5EF4-FFF2-40B4-BE49-F238E27FC236}">
                <a16:creationId xmlns:a16="http://schemas.microsoft.com/office/drawing/2014/main" id="{8B31A7D9-D936-210D-DB78-D8879C7A4E6A}"/>
              </a:ext>
            </a:extLst>
          </p:cNvPr>
          <p:cNvPicPr>
            <a:picLocks noChangeAspect="1"/>
          </p:cNvPicPr>
          <p:nvPr/>
        </p:nvPicPr>
        <p:blipFill>
          <a:blip r:embed="rId3"/>
          <a:stretch>
            <a:fillRect/>
          </a:stretch>
        </p:blipFill>
        <p:spPr>
          <a:xfrm>
            <a:off x="0" y="2389795"/>
            <a:ext cx="5102018" cy="2487005"/>
          </a:xfrm>
          <a:prstGeom prst="rect">
            <a:avLst/>
          </a:prstGeom>
        </p:spPr>
      </p:pic>
      <p:pic>
        <p:nvPicPr>
          <p:cNvPr id="14" name="Afbeelding 13">
            <a:extLst>
              <a:ext uri="{FF2B5EF4-FFF2-40B4-BE49-F238E27FC236}">
                <a16:creationId xmlns:a16="http://schemas.microsoft.com/office/drawing/2014/main" id="{9EE2272D-C44E-8A97-A3EE-E927FACFFD5B}"/>
              </a:ext>
            </a:extLst>
          </p:cNvPr>
          <p:cNvPicPr>
            <a:picLocks noChangeAspect="1"/>
          </p:cNvPicPr>
          <p:nvPr/>
        </p:nvPicPr>
        <p:blipFill>
          <a:blip r:embed="rId4"/>
          <a:stretch>
            <a:fillRect/>
          </a:stretch>
        </p:blipFill>
        <p:spPr>
          <a:xfrm>
            <a:off x="5873216" y="2864947"/>
            <a:ext cx="11394782" cy="3519228"/>
          </a:xfrm>
          <a:prstGeom prst="rect">
            <a:avLst/>
          </a:prstGeom>
        </p:spPr>
      </p:pic>
      <p:sp>
        <p:nvSpPr>
          <p:cNvPr id="16" name="Ovaal 15">
            <a:extLst>
              <a:ext uri="{FF2B5EF4-FFF2-40B4-BE49-F238E27FC236}">
                <a16:creationId xmlns:a16="http://schemas.microsoft.com/office/drawing/2014/main" id="{8399CE26-4F11-3782-D682-79FDD8304B73}"/>
              </a:ext>
            </a:extLst>
          </p:cNvPr>
          <p:cNvSpPr/>
          <p:nvPr/>
        </p:nvSpPr>
        <p:spPr>
          <a:xfrm rot="5400000">
            <a:off x="9575855" y="4058098"/>
            <a:ext cx="6959013" cy="163740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al 16">
            <a:extLst>
              <a:ext uri="{FF2B5EF4-FFF2-40B4-BE49-F238E27FC236}">
                <a16:creationId xmlns:a16="http://schemas.microsoft.com/office/drawing/2014/main" id="{BF9E5595-20BF-C33B-F2E5-25B091A5D058}"/>
              </a:ext>
            </a:extLst>
          </p:cNvPr>
          <p:cNvSpPr/>
          <p:nvPr/>
        </p:nvSpPr>
        <p:spPr>
          <a:xfrm>
            <a:off x="0" y="3633297"/>
            <a:ext cx="2481461" cy="1440191"/>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8" name="Afbeelding 17">
            <a:extLst>
              <a:ext uri="{FF2B5EF4-FFF2-40B4-BE49-F238E27FC236}">
                <a16:creationId xmlns:a16="http://schemas.microsoft.com/office/drawing/2014/main" id="{30137529-845C-8DCC-BBE5-CC1ABF3C7995}"/>
              </a:ext>
            </a:extLst>
          </p:cNvPr>
          <p:cNvPicPr>
            <a:picLocks noChangeAspect="1"/>
          </p:cNvPicPr>
          <p:nvPr/>
        </p:nvPicPr>
        <p:blipFill>
          <a:blip r:embed="rId5"/>
          <a:stretch>
            <a:fillRect/>
          </a:stretch>
        </p:blipFill>
        <p:spPr>
          <a:xfrm>
            <a:off x="15653441" y="1326312"/>
            <a:ext cx="1694835" cy="7011008"/>
          </a:xfrm>
          <a:prstGeom prst="rect">
            <a:avLst/>
          </a:prstGeom>
        </p:spPr>
      </p:pic>
    </p:spTree>
    <p:extLst>
      <p:ext uri="{BB962C8B-B14F-4D97-AF65-F5344CB8AC3E}">
        <p14:creationId xmlns:p14="http://schemas.microsoft.com/office/powerpoint/2010/main" val="331867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1A6711-E71C-40B4-AA24-581059D1A4E7}"/>
              </a:ext>
            </a:extLst>
          </p:cNvPr>
          <p:cNvSpPr>
            <a:spLocks noGrp="1"/>
          </p:cNvSpPr>
          <p:nvPr>
            <p:ph type="title"/>
          </p:nvPr>
        </p:nvSpPr>
        <p:spPr/>
        <p:txBody>
          <a:bodyPr/>
          <a:lstStyle/>
          <a:p>
            <a:r>
              <a:rPr lang="nl-BE" dirty="0"/>
              <a:t>Betrouwbaarheidsanalyse: </a:t>
            </a:r>
            <a:r>
              <a:rPr lang="nl-BE" dirty="0" err="1"/>
              <a:t>Cronbach’s</a:t>
            </a:r>
            <a:r>
              <a:rPr lang="nl-BE" dirty="0"/>
              <a:t> </a:t>
            </a:r>
            <a:r>
              <a:rPr lang="nl-BE" dirty="0" err="1"/>
              <a:t>Alpha</a:t>
            </a:r>
            <a:endParaRPr lang="nl-BE" dirty="0"/>
          </a:p>
        </p:txBody>
      </p:sp>
      <mc:AlternateContent xmlns:mc="http://schemas.openxmlformats.org/markup-compatibility/2006" xmlns:a14="http://schemas.microsoft.com/office/drawing/2010/main">
        <mc:Choice Requires="a14">
          <p:sp>
            <p:nvSpPr>
              <p:cNvPr id="9" name="Tijdelijke aanduiding voor inhoud 8">
                <a:extLst>
                  <a:ext uri="{FF2B5EF4-FFF2-40B4-BE49-F238E27FC236}">
                    <a16:creationId xmlns:a16="http://schemas.microsoft.com/office/drawing/2014/main" id="{EDFE0831-50D2-457B-8DD7-20531F10666B}"/>
                  </a:ext>
                </a:extLst>
              </p:cNvPr>
              <p:cNvSpPr>
                <a:spLocks noGrp="1"/>
              </p:cNvSpPr>
              <p:nvPr>
                <p:ph idx="1"/>
              </p:nvPr>
            </p:nvSpPr>
            <p:spPr>
              <a:xfrm>
                <a:off x="327069" y="1816272"/>
                <a:ext cx="16858641" cy="7508201"/>
              </a:xfrm>
            </p:spPr>
            <p:txBody>
              <a:bodyPr>
                <a:normAutofit/>
              </a:bodyPr>
              <a:lstStyle/>
              <a:p>
                <a:pPr marL="86400" indent="0">
                  <a:buNone/>
                </a:pPr>
                <a:r>
                  <a:rPr lang="nl-BE" b="1" dirty="0" err="1">
                    <a:sym typeface="Wingdings" panose="05000000000000000000" pitchFamily="2" charset="2"/>
                  </a:rPr>
                  <a:t>Cronbach’s</a:t>
                </a:r>
                <a:r>
                  <a:rPr lang="nl-BE" b="1" dirty="0">
                    <a:sym typeface="Wingdings" panose="05000000000000000000" pitchFamily="2" charset="2"/>
                  </a:rPr>
                  <a:t> </a:t>
                </a:r>
                <a:r>
                  <a:rPr lang="nl-BE" b="1" dirty="0" err="1">
                    <a:sym typeface="Wingdings" panose="05000000000000000000" pitchFamily="2" charset="2"/>
                  </a:rPr>
                  <a:t>Alpha</a:t>
                </a:r>
                <a:r>
                  <a:rPr lang="nl-BE" b="1" dirty="0">
                    <a:sym typeface="Wingdings" panose="05000000000000000000" pitchFamily="2" charset="2"/>
                  </a:rPr>
                  <a:t> (</a:t>
                </a:r>
                <a14:m>
                  <m:oMath xmlns:m="http://schemas.openxmlformats.org/officeDocument/2006/math">
                    <m:r>
                      <a:rPr lang="nl-BE" b="1" i="1" smtClean="0">
                        <a:latin typeface="Cambria Math" panose="02040503050406030204" pitchFamily="18" charset="0"/>
                        <a:ea typeface="Cambria Math" panose="02040503050406030204" pitchFamily="18" charset="0"/>
                        <a:sym typeface="Wingdings" panose="05000000000000000000" pitchFamily="2" charset="2"/>
                      </a:rPr>
                      <m:t>𝜶</m:t>
                    </m:r>
                  </m:oMath>
                </a14:m>
                <a:r>
                  <a:rPr lang="nl-BE" b="1" dirty="0">
                    <a:sym typeface="Wingdings" panose="05000000000000000000" pitchFamily="2" charset="2"/>
                  </a:rPr>
                  <a:t>): is een schaal betrouwbaar?</a:t>
                </a:r>
              </a:p>
              <a:p>
                <a:r>
                  <a:rPr lang="nl-BE" dirty="0">
                    <a:highlight>
                      <a:srgbClr val="FFFF00"/>
                    </a:highlight>
                    <a:sym typeface="Wingdings" panose="05000000000000000000" pitchFamily="2" charset="2"/>
                  </a:rPr>
                  <a:t>Mate van interne consistentie</a:t>
                </a:r>
              </a:p>
              <a:p>
                <a:pPr lvl="1"/>
                <a:r>
                  <a:rPr lang="nl-BE" dirty="0">
                    <a:sym typeface="Wingdings" panose="05000000000000000000" pitchFamily="2" charset="2"/>
                  </a:rPr>
                  <a:t>Meten alle items die tot 1 factor behoren hetzelfde concept?</a:t>
                </a:r>
              </a:p>
              <a:p>
                <a14:m>
                  <m:oMath xmlns:m="http://schemas.openxmlformats.org/officeDocument/2006/math">
                    <m:r>
                      <a:rPr lang="nl-BE" b="1" i="1">
                        <a:latin typeface="Cambria Math" panose="02040503050406030204" pitchFamily="18" charset="0"/>
                        <a:ea typeface="Cambria Math" panose="02040503050406030204" pitchFamily="18" charset="0"/>
                        <a:sym typeface="Wingdings" panose="05000000000000000000" pitchFamily="2" charset="2"/>
                      </a:rPr>
                      <m:t>𝜶</m:t>
                    </m:r>
                  </m:oMath>
                </a14:m>
                <a:r>
                  <a:rPr lang="nl-BE" dirty="0">
                    <a:sym typeface="Wingdings" panose="05000000000000000000" pitchFamily="2" charset="2"/>
                  </a:rPr>
                  <a:t> = gemiddelde van de correlaties van alle mogelijke splitsingen in 2 delen items</a:t>
                </a:r>
              </a:p>
              <a:p>
                <a:r>
                  <a:rPr lang="nl-BE" dirty="0">
                    <a:sym typeface="Wingdings" panose="05000000000000000000" pitchFamily="2" charset="2"/>
                  </a:rPr>
                  <a:t>Hoe hoger </a:t>
                </a:r>
                <a14:m>
                  <m:oMath xmlns:m="http://schemas.openxmlformats.org/officeDocument/2006/math">
                    <m:r>
                      <a:rPr lang="nl-BE" b="1" i="1">
                        <a:latin typeface="Cambria Math" panose="02040503050406030204" pitchFamily="18" charset="0"/>
                        <a:ea typeface="Cambria Math" panose="02040503050406030204" pitchFamily="18" charset="0"/>
                        <a:sym typeface="Wingdings" panose="05000000000000000000" pitchFamily="2" charset="2"/>
                      </a:rPr>
                      <m:t>𝜶</m:t>
                    </m:r>
                  </m:oMath>
                </a14:m>
                <a:r>
                  <a:rPr lang="nl-BE" dirty="0">
                    <a:sym typeface="Wingdings" panose="05000000000000000000" pitchFamily="2" charset="2"/>
                  </a:rPr>
                  <a:t>, hoe hoger de betrouwbaarheid</a:t>
                </a:r>
              </a:p>
              <a:p>
                <a:pPr lvl="1"/>
                <a:endParaRPr lang="nl-BE" dirty="0">
                  <a:sym typeface="Wingdings" panose="05000000000000000000" pitchFamily="2" charset="2"/>
                </a:endParaRPr>
              </a:p>
              <a:p>
                <a:r>
                  <a:rPr lang="nl-BE" b="1" dirty="0">
                    <a:sym typeface="Wingdings" panose="05000000000000000000" pitchFamily="2" charset="2"/>
                  </a:rPr>
                  <a:t>Nadelen:</a:t>
                </a:r>
                <a:r>
                  <a:rPr lang="nl-BE" dirty="0">
                    <a:sym typeface="Wingdings" panose="05000000000000000000" pitchFamily="2" charset="2"/>
                  </a:rPr>
                  <a:t> </a:t>
                </a:r>
              </a:p>
              <a:p>
                <a:pPr lvl="1"/>
                <a:r>
                  <a:rPr lang="nl-BE" dirty="0">
                    <a:sym typeface="Wingdings" panose="05000000000000000000" pitchFamily="2" charset="2"/>
                  </a:rPr>
                  <a:t>Enkel mogelijk bij </a:t>
                </a:r>
                <a:r>
                  <a:rPr lang="nl-BE" dirty="0" err="1">
                    <a:sym typeface="Wingdings" panose="05000000000000000000" pitchFamily="2" charset="2"/>
                  </a:rPr>
                  <a:t>unidimensionele</a:t>
                </a:r>
                <a:r>
                  <a:rPr lang="nl-BE" dirty="0">
                    <a:sym typeface="Wingdings" panose="05000000000000000000" pitchFamily="2" charset="2"/>
                  </a:rPr>
                  <a:t> schalen</a:t>
                </a:r>
              </a:p>
              <a:p>
                <a:pPr lvl="1"/>
                <a:r>
                  <a:rPr lang="nl-BE" dirty="0">
                    <a:sym typeface="Wingdings" panose="05000000000000000000" pitchFamily="2" charset="2"/>
                  </a:rPr>
                  <a:t>Gevoelig voor aantal items</a:t>
                </a:r>
              </a:p>
              <a:p>
                <a:pPr lvl="2"/>
                <a:r>
                  <a:rPr lang="nl-BE" dirty="0">
                    <a:sym typeface="Wingdings" panose="05000000000000000000" pitchFamily="2" charset="2"/>
                  </a:rPr>
                  <a:t>Hoe meer items, hoe hoger </a:t>
                </a:r>
                <a:r>
                  <a:rPr lang="nl-BE" dirty="0" err="1">
                    <a:sym typeface="Wingdings" panose="05000000000000000000" pitchFamily="2" charset="2"/>
                  </a:rPr>
                  <a:t>alpha</a:t>
                </a:r>
                <a:endParaRPr lang="nl-BE" dirty="0">
                  <a:sym typeface="Wingdings" panose="05000000000000000000" pitchFamily="2" charset="2"/>
                </a:endParaRPr>
              </a:p>
              <a:p>
                <a:r>
                  <a:rPr lang="nl-BE" b="1" dirty="0">
                    <a:sym typeface="Wingdings" panose="05000000000000000000" pitchFamily="2" charset="2"/>
                  </a:rPr>
                  <a:t>In SPSS:</a:t>
                </a:r>
              </a:p>
              <a:p>
                <a:pPr lvl="1"/>
                <a:r>
                  <a:rPr lang="nl-BE" i="1" dirty="0" err="1">
                    <a:sym typeface="Wingdings" panose="05000000000000000000" pitchFamily="2" charset="2"/>
                  </a:rPr>
                  <a:t>Analyze</a:t>
                </a:r>
                <a:r>
                  <a:rPr lang="nl-BE" i="1" dirty="0"/>
                  <a:t> ›› </a:t>
                </a:r>
                <a:r>
                  <a:rPr lang="nl-BE" i="1" dirty="0" err="1"/>
                  <a:t>Scale</a:t>
                </a:r>
                <a:r>
                  <a:rPr lang="nl-BE" i="1" dirty="0"/>
                  <a:t> ›› </a:t>
                </a:r>
                <a:r>
                  <a:rPr lang="nl-BE" i="1" dirty="0" err="1"/>
                  <a:t>Reliability</a:t>
                </a:r>
                <a:r>
                  <a:rPr lang="nl-BE" i="1" dirty="0"/>
                  <a:t> Analysis</a:t>
                </a:r>
              </a:p>
              <a:p>
                <a:pPr lvl="1"/>
                <a:r>
                  <a:rPr lang="nl-BE" u="sng" dirty="0">
                    <a:sym typeface="Wingdings" panose="05000000000000000000" pitchFamily="2" charset="2"/>
                  </a:rPr>
                  <a:t>Zie hoofdstuk 5</a:t>
                </a:r>
              </a:p>
              <a:p>
                <a:endParaRPr lang="nl-BE" dirty="0">
                  <a:sym typeface="Wingdings" panose="05000000000000000000" pitchFamily="2" charset="2"/>
                </a:endParaRPr>
              </a:p>
            </p:txBody>
          </p:sp>
        </mc:Choice>
        <mc:Fallback xmlns="">
          <p:sp>
            <p:nvSpPr>
              <p:cNvPr id="9" name="Tijdelijke aanduiding voor inhoud 8">
                <a:extLst>
                  <a:ext uri="{FF2B5EF4-FFF2-40B4-BE49-F238E27FC236}">
                    <a16:creationId xmlns:a16="http://schemas.microsoft.com/office/drawing/2014/main" id="{EDFE0831-50D2-457B-8DD7-20531F10666B}"/>
                  </a:ext>
                </a:extLst>
              </p:cNvPr>
              <p:cNvSpPr>
                <a:spLocks noGrp="1" noRot="1" noChangeAspect="1" noMove="1" noResize="1" noEditPoints="1" noAdjustHandles="1" noChangeArrowheads="1" noChangeShapeType="1" noTextEdit="1"/>
              </p:cNvSpPr>
              <p:nvPr>
                <p:ph idx="1"/>
              </p:nvPr>
            </p:nvSpPr>
            <p:spPr>
              <a:xfrm>
                <a:off x="327069" y="1816272"/>
                <a:ext cx="16858641" cy="7508201"/>
              </a:xfrm>
              <a:blipFill>
                <a:blip r:embed="rId2"/>
                <a:stretch>
                  <a:fillRect l="-253" t="-487"/>
                </a:stretch>
              </a:blipFill>
            </p:spPr>
            <p:txBody>
              <a:bodyPr/>
              <a:lstStyle/>
              <a:p>
                <a:r>
                  <a:rPr lang="nl-NL">
                    <a:noFill/>
                  </a:rPr>
                  <a:t> </a:t>
                </a:r>
              </a:p>
            </p:txBody>
          </p:sp>
        </mc:Fallback>
      </mc:AlternateContent>
      <p:sp>
        <p:nvSpPr>
          <p:cNvPr id="4" name="Tijdelijke aanduiding voor dianummer 3">
            <a:extLst>
              <a:ext uri="{FF2B5EF4-FFF2-40B4-BE49-F238E27FC236}">
                <a16:creationId xmlns:a16="http://schemas.microsoft.com/office/drawing/2014/main" id="{8B7B59DF-CC63-40D6-9CA6-2A0EDC55448B}"/>
              </a:ext>
            </a:extLst>
          </p:cNvPr>
          <p:cNvSpPr>
            <a:spLocks noGrp="1"/>
          </p:cNvSpPr>
          <p:nvPr>
            <p:ph type="sldNum" sz="quarter" idx="12"/>
          </p:nvPr>
        </p:nvSpPr>
        <p:spPr/>
        <p:txBody>
          <a:bodyPr/>
          <a:lstStyle/>
          <a:p>
            <a:fld id="{7AE184E0-0BD4-4705-A12B-9B71DDE63301}" type="slidenum">
              <a:rPr lang="en-GB" noProof="0" smtClean="0"/>
              <a:t>50</a:t>
            </a:fld>
            <a:endParaRPr lang="en-GB" noProof="0" dirty="0"/>
          </a:p>
        </p:txBody>
      </p:sp>
      <p:sp>
        <p:nvSpPr>
          <p:cNvPr id="10" name="Tijdelijke aanduiding voor inhoud 9">
            <a:extLst>
              <a:ext uri="{FF2B5EF4-FFF2-40B4-BE49-F238E27FC236}">
                <a16:creationId xmlns:a16="http://schemas.microsoft.com/office/drawing/2014/main" id="{5E957ED5-9970-4AF3-863B-536D957F9851}"/>
              </a:ext>
            </a:extLst>
          </p:cNvPr>
          <p:cNvSpPr>
            <a:spLocks noGrp="1"/>
          </p:cNvSpPr>
          <p:nvPr>
            <p:ph idx="13"/>
          </p:nvPr>
        </p:nvSpPr>
        <p:spPr/>
        <p:txBody>
          <a:bodyPr/>
          <a:lstStyle/>
          <a:p>
            <a:endParaRPr lang="nl-BE"/>
          </a:p>
        </p:txBody>
      </p:sp>
      <p:pic>
        <p:nvPicPr>
          <p:cNvPr id="3" name="Afbeelding 2">
            <a:extLst>
              <a:ext uri="{FF2B5EF4-FFF2-40B4-BE49-F238E27FC236}">
                <a16:creationId xmlns:a16="http://schemas.microsoft.com/office/drawing/2014/main" id="{5663B02A-CA3A-466E-A65A-7250772E15D2}"/>
              </a:ext>
            </a:extLst>
          </p:cNvPr>
          <p:cNvPicPr>
            <a:picLocks noChangeAspect="1"/>
          </p:cNvPicPr>
          <p:nvPr/>
        </p:nvPicPr>
        <p:blipFill>
          <a:blip r:embed="rId3"/>
          <a:stretch>
            <a:fillRect/>
          </a:stretch>
        </p:blipFill>
        <p:spPr>
          <a:xfrm>
            <a:off x="9806514" y="4876800"/>
            <a:ext cx="7070926" cy="3294508"/>
          </a:xfrm>
          <a:prstGeom prst="rect">
            <a:avLst/>
          </a:prstGeom>
        </p:spPr>
      </p:pic>
    </p:spTree>
    <p:extLst>
      <p:ext uri="{BB962C8B-B14F-4D97-AF65-F5344CB8AC3E}">
        <p14:creationId xmlns:p14="http://schemas.microsoft.com/office/powerpoint/2010/main" val="3049368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Zeker onthouden</a:t>
            </a:r>
          </a:p>
        </p:txBody>
      </p:sp>
      <p:sp>
        <p:nvSpPr>
          <p:cNvPr id="3" name="Content Placeholder 2"/>
          <p:cNvSpPr>
            <a:spLocks noGrp="1"/>
          </p:cNvSpPr>
          <p:nvPr>
            <p:ph idx="1"/>
          </p:nvPr>
        </p:nvSpPr>
        <p:spPr/>
        <p:txBody>
          <a:bodyPr/>
          <a:lstStyle/>
          <a:p>
            <a:r>
              <a:rPr lang="nl-BE" dirty="0"/>
              <a:t>Welke items horen bij elkaar?</a:t>
            </a:r>
          </a:p>
          <a:p>
            <a:pPr lvl="1"/>
            <a:r>
              <a:rPr lang="nl-BE" b="1" dirty="0">
                <a:solidFill>
                  <a:srgbClr val="C00000"/>
                </a:solidFill>
                <a:sym typeface="Wingdings" pitchFamily="2" charset="2"/>
              </a:rPr>
              <a:t>Factoranalyse</a:t>
            </a:r>
          </a:p>
          <a:p>
            <a:pPr>
              <a:buNone/>
            </a:pPr>
            <a:endParaRPr lang="nl-BE" dirty="0"/>
          </a:p>
          <a:p>
            <a:r>
              <a:rPr lang="nl-BE" dirty="0"/>
              <a:t>Alvorens items op te tellen tot een schaal:</a:t>
            </a:r>
          </a:p>
          <a:p>
            <a:pPr marL="1365109" lvl="1" indent="-731509">
              <a:buAutoNum type="arabicParenR"/>
            </a:pPr>
            <a:r>
              <a:rPr lang="nl-BE" dirty="0"/>
              <a:t>Kijken of de items in dezelfde richting staan</a:t>
            </a:r>
          </a:p>
          <a:p>
            <a:pPr marL="1365109" lvl="1" indent="-731509">
              <a:buAutoNum type="arabicParenR"/>
            </a:pPr>
            <a:r>
              <a:rPr lang="nl-BE" b="1" dirty="0">
                <a:solidFill>
                  <a:srgbClr val="C00000"/>
                </a:solidFill>
              </a:rPr>
              <a:t>Betrouwbaarheidsanalyse</a:t>
            </a:r>
          </a:p>
          <a:p>
            <a:pPr marL="633600" lvl="1" indent="0">
              <a:buNone/>
            </a:pPr>
            <a:endParaRPr lang="nl-BE" b="1" dirty="0">
              <a:solidFill>
                <a:srgbClr val="C00000"/>
              </a:solidFill>
            </a:endParaRPr>
          </a:p>
          <a:p>
            <a:pPr marL="731509" indent="-731509">
              <a:buAutoNum type="arabicParenR"/>
            </a:pPr>
            <a:endParaRPr lang="nl-BE" dirty="0"/>
          </a:p>
          <a:p>
            <a:pPr marL="731509" indent="-731509">
              <a:buAutoNum type="arabicParenR"/>
            </a:pPr>
            <a:endParaRPr lang="nl-BE" dirty="0"/>
          </a:p>
        </p:txBody>
      </p:sp>
      <p:sp>
        <p:nvSpPr>
          <p:cNvPr id="4" name="Tijdelijke aanduiding voor inhoud 3">
            <a:extLst>
              <a:ext uri="{FF2B5EF4-FFF2-40B4-BE49-F238E27FC236}">
                <a16:creationId xmlns:a16="http://schemas.microsoft.com/office/drawing/2014/main" id="{0190A15C-0263-4BBC-9889-F15A97AA3270}"/>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1464768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439-7D92-49BC-B20E-CD95361CE51A}"/>
              </a:ext>
            </a:extLst>
          </p:cNvPr>
          <p:cNvSpPr>
            <a:spLocks noGrp="1"/>
          </p:cNvSpPr>
          <p:nvPr>
            <p:ph type="title"/>
          </p:nvPr>
        </p:nvSpPr>
        <p:spPr/>
        <p:txBody>
          <a:bodyPr/>
          <a:lstStyle/>
          <a:p>
            <a:r>
              <a:rPr lang="nl-BE" dirty="0"/>
              <a:t>Inhoudstafel </a:t>
            </a:r>
          </a:p>
        </p:txBody>
      </p:sp>
      <p:sp>
        <p:nvSpPr>
          <p:cNvPr id="3" name="Content Placeholder 2">
            <a:extLst>
              <a:ext uri="{FF2B5EF4-FFF2-40B4-BE49-F238E27FC236}">
                <a16:creationId xmlns:a16="http://schemas.microsoft.com/office/drawing/2014/main" id="{39011522-9118-40C3-A09B-F25B95FAB7B4}"/>
              </a:ext>
            </a:extLst>
          </p:cNvPr>
          <p:cNvSpPr>
            <a:spLocks noGrp="1"/>
          </p:cNvSpPr>
          <p:nvPr>
            <p:ph idx="1"/>
          </p:nvPr>
        </p:nvSpPr>
        <p:spPr/>
        <p:txBody>
          <a:bodyPr/>
          <a:lstStyle/>
          <a:p>
            <a:pPr marL="86400" indent="0">
              <a:buNone/>
            </a:pPr>
            <a:r>
              <a:rPr lang="nl-BE" dirty="0">
                <a:solidFill>
                  <a:srgbClr val="002060"/>
                </a:solidFill>
              </a:rPr>
              <a:t>1 Introductie factoranalyse – centrale concepten</a:t>
            </a:r>
          </a:p>
          <a:p>
            <a:pPr marL="86400" indent="0">
              <a:buNone/>
            </a:pPr>
            <a:r>
              <a:rPr lang="nl-BE" dirty="0">
                <a:solidFill>
                  <a:srgbClr val="002060"/>
                </a:solidFill>
              </a:rPr>
              <a:t>2 Factoranalyse in SPSS: plenaire oefening</a:t>
            </a:r>
          </a:p>
          <a:p>
            <a:pPr marL="86400" indent="0">
              <a:buNone/>
            </a:pPr>
            <a:r>
              <a:rPr lang="nl-BE" b="1" dirty="0">
                <a:solidFill>
                  <a:srgbClr val="C00000"/>
                </a:solidFill>
              </a:rPr>
              <a:t>3 Factoranalyse in SPSS: individuele oefeningen</a:t>
            </a:r>
          </a:p>
        </p:txBody>
      </p:sp>
      <p:sp>
        <p:nvSpPr>
          <p:cNvPr id="4" name="Slide Number Placeholder 3">
            <a:extLst>
              <a:ext uri="{FF2B5EF4-FFF2-40B4-BE49-F238E27FC236}">
                <a16:creationId xmlns:a16="http://schemas.microsoft.com/office/drawing/2014/main" id="{F93E06FF-5536-4AE6-A548-5BFECE8621EB}"/>
              </a:ext>
            </a:extLst>
          </p:cNvPr>
          <p:cNvSpPr>
            <a:spLocks noGrp="1"/>
          </p:cNvSpPr>
          <p:nvPr>
            <p:ph type="sldNum" sz="quarter" idx="12"/>
          </p:nvPr>
        </p:nvSpPr>
        <p:spPr/>
        <p:txBody>
          <a:bodyPr/>
          <a:lstStyle/>
          <a:p>
            <a:fld id="{7AE184E0-0BD4-4705-A12B-9B71DDE63301}" type="slidenum">
              <a:rPr lang="en-GB" noProof="0" smtClean="0"/>
              <a:t>52</a:t>
            </a:fld>
            <a:endParaRPr lang="en-GB" noProof="0" dirty="0"/>
          </a:p>
        </p:txBody>
      </p:sp>
      <p:sp>
        <p:nvSpPr>
          <p:cNvPr id="5" name="Content Placeholder 4">
            <a:extLst>
              <a:ext uri="{FF2B5EF4-FFF2-40B4-BE49-F238E27FC236}">
                <a16:creationId xmlns:a16="http://schemas.microsoft.com/office/drawing/2014/main" id="{0E5FB4D5-B452-4AA4-B83E-8DA93E143B9E}"/>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3798121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50A1A0-DFB3-6CD9-B4C0-27F96E67EF4C}"/>
              </a:ext>
            </a:extLst>
          </p:cNvPr>
          <p:cNvSpPr>
            <a:spLocks noGrp="1"/>
          </p:cNvSpPr>
          <p:nvPr>
            <p:ph type="title"/>
          </p:nvPr>
        </p:nvSpPr>
        <p:spPr/>
        <p:txBody>
          <a:bodyPr/>
          <a:lstStyle/>
          <a:p>
            <a:r>
              <a:rPr lang="nl-NL" dirty="0"/>
              <a:t>Individuele oefening: FA en </a:t>
            </a:r>
            <a:r>
              <a:rPr lang="nl-NL" dirty="0" err="1"/>
              <a:t>multidimensionaliteit</a:t>
            </a:r>
            <a:endParaRPr lang="nl-NL" dirty="0"/>
          </a:p>
        </p:txBody>
      </p:sp>
      <p:sp>
        <p:nvSpPr>
          <p:cNvPr id="3" name="Tijdelijke aanduiding voor inhoud 2">
            <a:extLst>
              <a:ext uri="{FF2B5EF4-FFF2-40B4-BE49-F238E27FC236}">
                <a16:creationId xmlns:a16="http://schemas.microsoft.com/office/drawing/2014/main" id="{CA6678DE-CFD5-455E-1418-A5A899DA80DA}"/>
              </a:ext>
            </a:extLst>
          </p:cNvPr>
          <p:cNvSpPr>
            <a:spLocks noGrp="1"/>
          </p:cNvSpPr>
          <p:nvPr>
            <p:ph idx="1"/>
          </p:nvPr>
        </p:nvSpPr>
        <p:spPr/>
        <p:txBody>
          <a:bodyPr/>
          <a:lstStyle/>
          <a:p>
            <a:r>
              <a:rPr lang="nl-NL" dirty="0"/>
              <a:t>Databestand: </a:t>
            </a:r>
            <a:r>
              <a:rPr lang="nl-NL" b="1" dirty="0"/>
              <a:t>FA_OEF 2_Criminal </a:t>
            </a:r>
            <a:r>
              <a:rPr lang="nl-NL" b="1" dirty="0" err="1"/>
              <a:t>propensity.sav</a:t>
            </a:r>
            <a:endParaRPr lang="nl-NL" b="1" dirty="0"/>
          </a:p>
          <a:p>
            <a:endParaRPr lang="nl-NL" b="1" dirty="0"/>
          </a:p>
          <a:p>
            <a:r>
              <a:rPr lang="nl-NL" b="1" dirty="0">
                <a:highlight>
                  <a:srgbClr val="FFFF00"/>
                </a:highlight>
              </a:rPr>
              <a:t>Zie apart </a:t>
            </a:r>
            <a:r>
              <a:rPr lang="nl-NL" b="1" dirty="0" err="1">
                <a:highlight>
                  <a:srgbClr val="FFFF00"/>
                </a:highlight>
              </a:rPr>
              <a:t>worddocument</a:t>
            </a:r>
            <a:r>
              <a:rPr lang="nl-NL" b="1" dirty="0">
                <a:highlight>
                  <a:srgbClr val="FFFF00"/>
                </a:highlight>
              </a:rPr>
              <a:t> met de opgave</a:t>
            </a:r>
          </a:p>
          <a:p>
            <a:endParaRPr lang="nl-NL" dirty="0"/>
          </a:p>
        </p:txBody>
      </p:sp>
      <p:sp>
        <p:nvSpPr>
          <p:cNvPr id="4" name="Tijdelijke aanduiding voor dianummer 3">
            <a:extLst>
              <a:ext uri="{FF2B5EF4-FFF2-40B4-BE49-F238E27FC236}">
                <a16:creationId xmlns:a16="http://schemas.microsoft.com/office/drawing/2014/main" id="{E4036C01-3E61-72FD-028A-476AF0A6B300}"/>
              </a:ext>
            </a:extLst>
          </p:cNvPr>
          <p:cNvSpPr>
            <a:spLocks noGrp="1"/>
          </p:cNvSpPr>
          <p:nvPr>
            <p:ph type="sldNum" sz="quarter" idx="12"/>
          </p:nvPr>
        </p:nvSpPr>
        <p:spPr/>
        <p:txBody>
          <a:bodyPr/>
          <a:lstStyle/>
          <a:p>
            <a:fld id="{7AE184E0-0BD4-4705-A12B-9B71DDE63301}" type="slidenum">
              <a:rPr lang="en-GB" noProof="0" smtClean="0"/>
              <a:t>53</a:t>
            </a:fld>
            <a:endParaRPr lang="en-GB" noProof="0" dirty="0"/>
          </a:p>
        </p:txBody>
      </p:sp>
      <p:sp>
        <p:nvSpPr>
          <p:cNvPr id="5" name="Tijdelijke aanduiding voor inhoud 4">
            <a:extLst>
              <a:ext uri="{FF2B5EF4-FFF2-40B4-BE49-F238E27FC236}">
                <a16:creationId xmlns:a16="http://schemas.microsoft.com/office/drawing/2014/main" id="{83C37C5D-0DB4-F5B7-A89B-98BB448EDEEF}"/>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9933168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50A1A0-DFB3-6CD9-B4C0-27F96E67EF4C}"/>
              </a:ext>
            </a:extLst>
          </p:cNvPr>
          <p:cNvSpPr>
            <a:spLocks noGrp="1"/>
          </p:cNvSpPr>
          <p:nvPr>
            <p:ph type="title"/>
          </p:nvPr>
        </p:nvSpPr>
        <p:spPr/>
        <p:txBody>
          <a:bodyPr/>
          <a:lstStyle/>
          <a:p>
            <a:r>
              <a:rPr lang="nl-NL" dirty="0"/>
              <a:t>Individuele oefening</a:t>
            </a:r>
          </a:p>
        </p:txBody>
      </p:sp>
      <p:sp>
        <p:nvSpPr>
          <p:cNvPr id="3" name="Tijdelijke aanduiding voor inhoud 2">
            <a:extLst>
              <a:ext uri="{FF2B5EF4-FFF2-40B4-BE49-F238E27FC236}">
                <a16:creationId xmlns:a16="http://schemas.microsoft.com/office/drawing/2014/main" id="{CA6678DE-CFD5-455E-1418-A5A899DA80DA}"/>
              </a:ext>
            </a:extLst>
          </p:cNvPr>
          <p:cNvSpPr>
            <a:spLocks noGrp="1"/>
          </p:cNvSpPr>
          <p:nvPr>
            <p:ph idx="1"/>
          </p:nvPr>
        </p:nvSpPr>
        <p:spPr/>
        <p:txBody>
          <a:bodyPr/>
          <a:lstStyle/>
          <a:p>
            <a:r>
              <a:rPr lang="nl-NL" dirty="0"/>
              <a:t>Databestand: </a:t>
            </a:r>
            <a:r>
              <a:rPr lang="nl-NL" b="1" dirty="0"/>
              <a:t>FA_OEF 3_ESS.sav</a:t>
            </a:r>
          </a:p>
          <a:p>
            <a:endParaRPr lang="nl-NL" b="1" dirty="0"/>
          </a:p>
          <a:p>
            <a:r>
              <a:rPr lang="nl-NL" b="1" dirty="0">
                <a:highlight>
                  <a:srgbClr val="FFFF00"/>
                </a:highlight>
              </a:rPr>
              <a:t>Zie apart </a:t>
            </a:r>
            <a:r>
              <a:rPr lang="nl-NL" b="1" dirty="0" err="1">
                <a:highlight>
                  <a:srgbClr val="FFFF00"/>
                </a:highlight>
              </a:rPr>
              <a:t>worddocument</a:t>
            </a:r>
            <a:r>
              <a:rPr lang="nl-NL" b="1" dirty="0">
                <a:highlight>
                  <a:srgbClr val="FFFF00"/>
                </a:highlight>
              </a:rPr>
              <a:t> met de opgave</a:t>
            </a:r>
          </a:p>
          <a:p>
            <a:endParaRPr lang="nl-NL" dirty="0"/>
          </a:p>
        </p:txBody>
      </p:sp>
      <p:sp>
        <p:nvSpPr>
          <p:cNvPr id="4" name="Tijdelijke aanduiding voor dianummer 3">
            <a:extLst>
              <a:ext uri="{FF2B5EF4-FFF2-40B4-BE49-F238E27FC236}">
                <a16:creationId xmlns:a16="http://schemas.microsoft.com/office/drawing/2014/main" id="{E4036C01-3E61-72FD-028A-476AF0A6B300}"/>
              </a:ext>
            </a:extLst>
          </p:cNvPr>
          <p:cNvSpPr>
            <a:spLocks noGrp="1"/>
          </p:cNvSpPr>
          <p:nvPr>
            <p:ph type="sldNum" sz="quarter" idx="12"/>
          </p:nvPr>
        </p:nvSpPr>
        <p:spPr/>
        <p:txBody>
          <a:bodyPr/>
          <a:lstStyle/>
          <a:p>
            <a:fld id="{7AE184E0-0BD4-4705-A12B-9B71DDE63301}" type="slidenum">
              <a:rPr lang="en-GB" noProof="0" smtClean="0"/>
              <a:t>54</a:t>
            </a:fld>
            <a:endParaRPr lang="en-GB" noProof="0" dirty="0"/>
          </a:p>
        </p:txBody>
      </p:sp>
      <p:sp>
        <p:nvSpPr>
          <p:cNvPr id="5" name="Tijdelijke aanduiding voor inhoud 4">
            <a:extLst>
              <a:ext uri="{FF2B5EF4-FFF2-40B4-BE49-F238E27FC236}">
                <a16:creationId xmlns:a16="http://schemas.microsoft.com/office/drawing/2014/main" id="{83C37C5D-0DB4-F5B7-A89B-98BB448EDEEF}"/>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41377112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50A1A0-DFB3-6CD9-B4C0-27F96E67EF4C}"/>
              </a:ext>
            </a:extLst>
          </p:cNvPr>
          <p:cNvSpPr>
            <a:spLocks noGrp="1"/>
          </p:cNvSpPr>
          <p:nvPr>
            <p:ph type="title"/>
          </p:nvPr>
        </p:nvSpPr>
        <p:spPr/>
        <p:txBody>
          <a:bodyPr/>
          <a:lstStyle/>
          <a:p>
            <a:r>
              <a:rPr lang="nl-NL" dirty="0"/>
              <a:t>Individuele oefening (extra oefening)</a:t>
            </a:r>
          </a:p>
        </p:txBody>
      </p:sp>
      <p:sp>
        <p:nvSpPr>
          <p:cNvPr id="3" name="Tijdelijke aanduiding voor inhoud 2">
            <a:extLst>
              <a:ext uri="{FF2B5EF4-FFF2-40B4-BE49-F238E27FC236}">
                <a16:creationId xmlns:a16="http://schemas.microsoft.com/office/drawing/2014/main" id="{CA6678DE-CFD5-455E-1418-A5A899DA80DA}"/>
              </a:ext>
            </a:extLst>
          </p:cNvPr>
          <p:cNvSpPr>
            <a:spLocks noGrp="1"/>
          </p:cNvSpPr>
          <p:nvPr>
            <p:ph idx="1"/>
          </p:nvPr>
        </p:nvSpPr>
        <p:spPr/>
        <p:txBody>
          <a:bodyPr/>
          <a:lstStyle/>
          <a:p>
            <a:r>
              <a:rPr lang="nl-NL" dirty="0"/>
              <a:t>Databestand: </a:t>
            </a:r>
            <a:r>
              <a:rPr lang="nl-NL" b="1" dirty="0"/>
              <a:t>FA_OEF 4_EXTRA.sav</a:t>
            </a:r>
          </a:p>
          <a:p>
            <a:endParaRPr lang="nl-NL" b="1" dirty="0"/>
          </a:p>
          <a:p>
            <a:r>
              <a:rPr lang="nl-NL" b="1" dirty="0">
                <a:highlight>
                  <a:srgbClr val="FFFF00"/>
                </a:highlight>
              </a:rPr>
              <a:t>Zie apart </a:t>
            </a:r>
            <a:r>
              <a:rPr lang="nl-NL" b="1" dirty="0" err="1">
                <a:highlight>
                  <a:srgbClr val="FFFF00"/>
                </a:highlight>
              </a:rPr>
              <a:t>worddocument</a:t>
            </a:r>
            <a:r>
              <a:rPr lang="nl-NL" b="1" dirty="0">
                <a:highlight>
                  <a:srgbClr val="FFFF00"/>
                </a:highlight>
              </a:rPr>
              <a:t> met de opgave</a:t>
            </a:r>
          </a:p>
          <a:p>
            <a:endParaRPr lang="nl-NL" dirty="0"/>
          </a:p>
        </p:txBody>
      </p:sp>
      <p:sp>
        <p:nvSpPr>
          <p:cNvPr id="4" name="Tijdelijke aanduiding voor dianummer 3">
            <a:extLst>
              <a:ext uri="{FF2B5EF4-FFF2-40B4-BE49-F238E27FC236}">
                <a16:creationId xmlns:a16="http://schemas.microsoft.com/office/drawing/2014/main" id="{E4036C01-3E61-72FD-028A-476AF0A6B300}"/>
              </a:ext>
            </a:extLst>
          </p:cNvPr>
          <p:cNvSpPr>
            <a:spLocks noGrp="1"/>
          </p:cNvSpPr>
          <p:nvPr>
            <p:ph type="sldNum" sz="quarter" idx="12"/>
          </p:nvPr>
        </p:nvSpPr>
        <p:spPr/>
        <p:txBody>
          <a:bodyPr/>
          <a:lstStyle/>
          <a:p>
            <a:fld id="{7AE184E0-0BD4-4705-A12B-9B71DDE63301}" type="slidenum">
              <a:rPr lang="en-GB" noProof="0" smtClean="0"/>
              <a:t>55</a:t>
            </a:fld>
            <a:endParaRPr lang="en-GB" noProof="0" dirty="0"/>
          </a:p>
        </p:txBody>
      </p:sp>
      <p:sp>
        <p:nvSpPr>
          <p:cNvPr id="5" name="Tijdelijke aanduiding voor inhoud 4">
            <a:extLst>
              <a:ext uri="{FF2B5EF4-FFF2-40B4-BE49-F238E27FC236}">
                <a16:creationId xmlns:a16="http://schemas.microsoft.com/office/drawing/2014/main" id="{83C37C5D-0DB4-F5B7-A89B-98BB448EDEEF}"/>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8138941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D8ED7F-51B5-329A-D266-5248FDB99BF1}"/>
              </a:ext>
            </a:extLst>
          </p:cNvPr>
          <p:cNvSpPr>
            <a:spLocks noGrp="1"/>
          </p:cNvSpPr>
          <p:nvPr>
            <p:ph type="title"/>
          </p:nvPr>
        </p:nvSpPr>
        <p:spPr/>
        <p:txBody>
          <a:bodyPr/>
          <a:lstStyle/>
          <a:p>
            <a:r>
              <a:rPr lang="nl-NL" dirty="0"/>
              <a:t>PC-EXAMEN: 29 januari 2025 – 13u00 – 16u30</a:t>
            </a:r>
          </a:p>
        </p:txBody>
      </p:sp>
      <p:pic>
        <p:nvPicPr>
          <p:cNvPr id="6" name="Tijdelijke aanduiding voor inhoud 5">
            <a:extLst>
              <a:ext uri="{FF2B5EF4-FFF2-40B4-BE49-F238E27FC236}">
                <a16:creationId xmlns:a16="http://schemas.microsoft.com/office/drawing/2014/main" id="{2DC7F112-C136-E016-14B9-394DE3FEAC63}"/>
              </a:ext>
            </a:extLst>
          </p:cNvPr>
          <p:cNvPicPr>
            <a:picLocks noGrp="1" noChangeAspect="1"/>
          </p:cNvPicPr>
          <p:nvPr>
            <p:ph idx="1"/>
          </p:nvPr>
        </p:nvPicPr>
        <p:blipFill>
          <a:blip r:embed="rId2"/>
          <a:stretch>
            <a:fillRect/>
          </a:stretch>
        </p:blipFill>
        <p:spPr>
          <a:xfrm>
            <a:off x="3541222" y="2319484"/>
            <a:ext cx="9480182" cy="6312414"/>
          </a:xfrm>
          <a:prstGeom prst="rect">
            <a:avLst/>
          </a:prstGeom>
        </p:spPr>
      </p:pic>
      <p:sp>
        <p:nvSpPr>
          <p:cNvPr id="4" name="Tijdelijke aanduiding voor dianummer 3">
            <a:extLst>
              <a:ext uri="{FF2B5EF4-FFF2-40B4-BE49-F238E27FC236}">
                <a16:creationId xmlns:a16="http://schemas.microsoft.com/office/drawing/2014/main" id="{91BDA01E-5382-965E-24E6-7B1FE9DA75F1}"/>
              </a:ext>
            </a:extLst>
          </p:cNvPr>
          <p:cNvSpPr>
            <a:spLocks noGrp="1"/>
          </p:cNvSpPr>
          <p:nvPr>
            <p:ph type="sldNum" sz="quarter" idx="12"/>
          </p:nvPr>
        </p:nvSpPr>
        <p:spPr/>
        <p:txBody>
          <a:bodyPr/>
          <a:lstStyle/>
          <a:p>
            <a:fld id="{7AE184E0-0BD4-4705-A12B-9B71DDE63301}" type="slidenum">
              <a:rPr lang="en-GB" noProof="0" smtClean="0"/>
              <a:t>56</a:t>
            </a:fld>
            <a:endParaRPr lang="en-GB" noProof="0" dirty="0"/>
          </a:p>
        </p:txBody>
      </p:sp>
      <p:sp>
        <p:nvSpPr>
          <p:cNvPr id="5" name="Tijdelijke aanduiding voor inhoud 4">
            <a:extLst>
              <a:ext uri="{FF2B5EF4-FFF2-40B4-BE49-F238E27FC236}">
                <a16:creationId xmlns:a16="http://schemas.microsoft.com/office/drawing/2014/main" id="{A5DB652F-5421-62B5-3BE2-2FD8C45D89C9}"/>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252827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1D3861-2F4C-DF06-6A7A-2379174F8DEE}"/>
              </a:ext>
            </a:extLst>
          </p:cNvPr>
          <p:cNvSpPr>
            <a:spLocks noGrp="1"/>
          </p:cNvSpPr>
          <p:nvPr>
            <p:ph type="title"/>
          </p:nvPr>
        </p:nvSpPr>
        <p:spPr/>
        <p:txBody>
          <a:bodyPr/>
          <a:lstStyle/>
          <a:p>
            <a:r>
              <a:rPr lang="nl-NL" dirty="0"/>
              <a:t>EXAMEN</a:t>
            </a:r>
          </a:p>
        </p:txBody>
      </p:sp>
      <p:sp>
        <p:nvSpPr>
          <p:cNvPr id="3" name="Tijdelijke aanduiding voor inhoud 2">
            <a:extLst>
              <a:ext uri="{FF2B5EF4-FFF2-40B4-BE49-F238E27FC236}">
                <a16:creationId xmlns:a16="http://schemas.microsoft.com/office/drawing/2014/main" id="{1EA5A502-C8E6-0EC3-F51E-7D9CF97316C1}"/>
              </a:ext>
            </a:extLst>
          </p:cNvPr>
          <p:cNvSpPr>
            <a:spLocks noGrp="1"/>
          </p:cNvSpPr>
          <p:nvPr>
            <p:ph idx="1"/>
          </p:nvPr>
        </p:nvSpPr>
        <p:spPr/>
        <p:txBody>
          <a:bodyPr/>
          <a:lstStyle/>
          <a:p>
            <a:r>
              <a:rPr lang="nl-NL" b="1" u="sng" dirty="0"/>
              <a:t>KWALITATIEF LUIK </a:t>
            </a:r>
            <a:r>
              <a:rPr lang="nl-NL" b="1" u="sng" dirty="0">
                <a:sym typeface="Wingdings" panose="05000000000000000000" pitchFamily="2" charset="2"/>
              </a:rPr>
              <a:t> examenopdracht</a:t>
            </a:r>
          </a:p>
          <a:p>
            <a:pPr marL="86400" indent="0">
              <a:buNone/>
            </a:pPr>
            <a:endParaRPr lang="nl-NL" b="1" u="sng" dirty="0">
              <a:sym typeface="Wingdings" panose="05000000000000000000" pitchFamily="2" charset="2"/>
            </a:endParaRPr>
          </a:p>
          <a:p>
            <a:r>
              <a:rPr lang="nl-NL" b="1" dirty="0">
                <a:sym typeface="Wingdings" panose="05000000000000000000" pitchFamily="2" charset="2"/>
              </a:rPr>
              <a:t>Geen apart schriftelijk examen</a:t>
            </a:r>
          </a:p>
          <a:p>
            <a:endParaRPr lang="nl-NL" b="1" dirty="0">
              <a:sym typeface="Wingdings" panose="05000000000000000000" pitchFamily="2" charset="2"/>
            </a:endParaRPr>
          </a:p>
          <a:p>
            <a:pPr marL="86400" indent="0">
              <a:buNone/>
            </a:pPr>
            <a:r>
              <a:rPr lang="nl-NL" b="1" dirty="0">
                <a:highlight>
                  <a:srgbClr val="FFFF00"/>
                </a:highlight>
                <a:sym typeface="Wingdings" panose="05000000000000000000" pitchFamily="2" charset="2"/>
              </a:rPr>
              <a:t>TOTAAL: 50% (op 10 punten)</a:t>
            </a:r>
          </a:p>
          <a:p>
            <a:endParaRPr lang="nl-NL" b="1" u="sng" dirty="0">
              <a:sym typeface="Wingdings" panose="05000000000000000000" pitchFamily="2" charset="2"/>
            </a:endParaRPr>
          </a:p>
          <a:p>
            <a:r>
              <a:rPr lang="nl-NL" b="1" u="sng" dirty="0">
                <a:sym typeface="Wingdings" panose="05000000000000000000" pitchFamily="2" charset="2"/>
              </a:rPr>
              <a:t>KWANTITATIEF LUIK  multiple </a:t>
            </a:r>
            <a:r>
              <a:rPr lang="nl-NL" b="1" u="sng" dirty="0" err="1">
                <a:sym typeface="Wingdings" panose="05000000000000000000" pitchFamily="2" charset="2"/>
              </a:rPr>
              <a:t>choice</a:t>
            </a:r>
            <a:r>
              <a:rPr lang="nl-NL" b="1" u="sng" dirty="0">
                <a:sym typeface="Wingdings" panose="05000000000000000000" pitchFamily="2" charset="2"/>
              </a:rPr>
              <a:t> examen (100% MCE)</a:t>
            </a:r>
          </a:p>
          <a:p>
            <a:endParaRPr lang="nl-NL" b="1" u="sng" dirty="0">
              <a:sym typeface="Wingdings" panose="05000000000000000000" pitchFamily="2" charset="2"/>
            </a:endParaRPr>
          </a:p>
          <a:p>
            <a:r>
              <a:rPr lang="nl-NL" b="1" dirty="0">
                <a:sym typeface="Wingdings" panose="05000000000000000000" pitchFamily="2" charset="2"/>
              </a:rPr>
              <a:t>40 MCE die peilen naar vaardigheden van studenten om kwantitatieve data te analyseren en de resultaten te rapporteren en interpreteren</a:t>
            </a:r>
          </a:p>
          <a:p>
            <a:endParaRPr lang="nl-NL" b="1" dirty="0">
              <a:sym typeface="Wingdings" panose="05000000000000000000" pitchFamily="2" charset="2"/>
            </a:endParaRPr>
          </a:p>
          <a:p>
            <a:pPr marL="86400" indent="0">
              <a:buNone/>
            </a:pPr>
            <a:r>
              <a:rPr lang="nl-NL" b="1" dirty="0">
                <a:highlight>
                  <a:srgbClr val="FFFF00"/>
                </a:highlight>
                <a:sym typeface="Wingdings" panose="05000000000000000000" pitchFamily="2" charset="2"/>
              </a:rPr>
              <a:t>TOTAAL: 50% (op 10 punten)</a:t>
            </a:r>
          </a:p>
          <a:p>
            <a:endParaRPr lang="nl-NL" dirty="0">
              <a:sym typeface="Wingdings" panose="05000000000000000000" pitchFamily="2" charset="2"/>
            </a:endParaRPr>
          </a:p>
        </p:txBody>
      </p:sp>
      <p:sp>
        <p:nvSpPr>
          <p:cNvPr id="4" name="Tijdelijke aanduiding voor dianummer 3">
            <a:extLst>
              <a:ext uri="{FF2B5EF4-FFF2-40B4-BE49-F238E27FC236}">
                <a16:creationId xmlns:a16="http://schemas.microsoft.com/office/drawing/2014/main" id="{AEFD5FCE-5126-24D4-3017-017853322879}"/>
              </a:ext>
            </a:extLst>
          </p:cNvPr>
          <p:cNvSpPr>
            <a:spLocks noGrp="1"/>
          </p:cNvSpPr>
          <p:nvPr>
            <p:ph type="sldNum" sz="quarter" idx="12"/>
          </p:nvPr>
        </p:nvSpPr>
        <p:spPr/>
        <p:txBody>
          <a:bodyPr/>
          <a:lstStyle/>
          <a:p>
            <a:fld id="{7AE184E0-0BD4-4705-A12B-9B71DDE63301}" type="slidenum">
              <a:rPr lang="en-GB" noProof="0" smtClean="0"/>
              <a:t>57</a:t>
            </a:fld>
            <a:endParaRPr lang="en-GB" noProof="0" dirty="0"/>
          </a:p>
        </p:txBody>
      </p:sp>
      <p:sp>
        <p:nvSpPr>
          <p:cNvPr id="5" name="Tijdelijke aanduiding voor inhoud 4">
            <a:extLst>
              <a:ext uri="{FF2B5EF4-FFF2-40B4-BE49-F238E27FC236}">
                <a16:creationId xmlns:a16="http://schemas.microsoft.com/office/drawing/2014/main" id="{A3207A06-2771-30CD-0F17-95BAA062492D}"/>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5115815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4D9451-3938-8382-9EB7-EDBC74930C3C}"/>
              </a:ext>
            </a:extLst>
          </p:cNvPr>
          <p:cNvSpPr>
            <a:spLocks noGrp="1"/>
          </p:cNvSpPr>
          <p:nvPr>
            <p:ph type="title"/>
          </p:nvPr>
        </p:nvSpPr>
        <p:spPr/>
        <p:txBody>
          <a:bodyPr/>
          <a:lstStyle/>
          <a:p>
            <a:r>
              <a:rPr lang="nl-NL" dirty="0"/>
              <a:t>MC-examen</a:t>
            </a:r>
          </a:p>
        </p:txBody>
      </p:sp>
      <p:sp>
        <p:nvSpPr>
          <p:cNvPr id="3" name="Tijdelijke aanduiding voor inhoud 2">
            <a:extLst>
              <a:ext uri="{FF2B5EF4-FFF2-40B4-BE49-F238E27FC236}">
                <a16:creationId xmlns:a16="http://schemas.microsoft.com/office/drawing/2014/main" id="{38C413AD-7064-614F-A55D-EE319F788294}"/>
              </a:ext>
            </a:extLst>
          </p:cNvPr>
          <p:cNvSpPr>
            <a:spLocks noGrp="1"/>
          </p:cNvSpPr>
          <p:nvPr>
            <p:ph idx="1"/>
          </p:nvPr>
        </p:nvSpPr>
        <p:spPr/>
        <p:txBody>
          <a:bodyPr/>
          <a:lstStyle/>
          <a:p>
            <a:r>
              <a:rPr lang="nl-NL" dirty="0"/>
              <a:t>Het pc-examen zal bestaan uit:</a:t>
            </a:r>
          </a:p>
          <a:p>
            <a:endParaRPr lang="nl-NL" dirty="0"/>
          </a:p>
          <a:p>
            <a:r>
              <a:rPr lang="nl-NL" dirty="0"/>
              <a:t>+/- Tien kennisvragen met betrekking tot de geziene leerstof (basis: handboek + slides)</a:t>
            </a:r>
          </a:p>
          <a:p>
            <a:r>
              <a:rPr lang="nl-NL" dirty="0"/>
              <a:t>+/- Vijftien SPSS-</a:t>
            </a:r>
            <a:r>
              <a:rPr lang="nl-NL" dirty="0" err="1"/>
              <a:t>outputs</a:t>
            </a:r>
            <a:r>
              <a:rPr lang="nl-NL" dirty="0"/>
              <a:t>, die ter beschikking zullen worden gesteld</a:t>
            </a:r>
          </a:p>
          <a:p>
            <a:r>
              <a:rPr lang="nl-NL" dirty="0"/>
              <a:t>+/- Vijftien vragen die opgelost worden op basis van databestanden die ter beschikking worden gesteld.</a:t>
            </a:r>
          </a:p>
          <a:p>
            <a:endParaRPr lang="nl-NL" dirty="0"/>
          </a:p>
          <a:p>
            <a:endParaRPr lang="nl-NL" dirty="0"/>
          </a:p>
        </p:txBody>
      </p:sp>
      <p:sp>
        <p:nvSpPr>
          <p:cNvPr id="4" name="Tijdelijke aanduiding voor dianummer 3">
            <a:extLst>
              <a:ext uri="{FF2B5EF4-FFF2-40B4-BE49-F238E27FC236}">
                <a16:creationId xmlns:a16="http://schemas.microsoft.com/office/drawing/2014/main" id="{D134F91A-B399-00DB-F45B-06E2885EB1F0}"/>
              </a:ext>
            </a:extLst>
          </p:cNvPr>
          <p:cNvSpPr>
            <a:spLocks noGrp="1"/>
          </p:cNvSpPr>
          <p:nvPr>
            <p:ph type="sldNum" sz="quarter" idx="12"/>
          </p:nvPr>
        </p:nvSpPr>
        <p:spPr/>
        <p:txBody>
          <a:bodyPr/>
          <a:lstStyle/>
          <a:p>
            <a:fld id="{7AE184E0-0BD4-4705-A12B-9B71DDE63301}" type="slidenum">
              <a:rPr lang="en-GB" noProof="0" smtClean="0"/>
              <a:t>58</a:t>
            </a:fld>
            <a:endParaRPr lang="en-GB" noProof="0" dirty="0"/>
          </a:p>
        </p:txBody>
      </p:sp>
      <p:sp>
        <p:nvSpPr>
          <p:cNvPr id="5" name="Tijdelijke aanduiding voor inhoud 4">
            <a:extLst>
              <a:ext uri="{FF2B5EF4-FFF2-40B4-BE49-F238E27FC236}">
                <a16:creationId xmlns:a16="http://schemas.microsoft.com/office/drawing/2014/main" id="{B7302416-90AA-348F-66FB-7A8529E8FF1F}"/>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9792842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211C06-4F5D-EBB7-B030-76021BA8668B}"/>
              </a:ext>
            </a:extLst>
          </p:cNvPr>
          <p:cNvSpPr>
            <a:spLocks noGrp="1"/>
          </p:cNvSpPr>
          <p:nvPr>
            <p:ph type="title"/>
          </p:nvPr>
        </p:nvSpPr>
        <p:spPr/>
        <p:txBody>
          <a:bodyPr/>
          <a:lstStyle/>
          <a:p>
            <a:r>
              <a:rPr lang="nl-NL" dirty="0"/>
              <a:t>MC-examenvraag</a:t>
            </a:r>
          </a:p>
        </p:txBody>
      </p:sp>
      <p:sp>
        <p:nvSpPr>
          <p:cNvPr id="3" name="Tijdelijke aanduiding voor inhoud 2">
            <a:extLst>
              <a:ext uri="{FF2B5EF4-FFF2-40B4-BE49-F238E27FC236}">
                <a16:creationId xmlns:a16="http://schemas.microsoft.com/office/drawing/2014/main" id="{CA2D0523-1AA0-53B7-3F31-7E81F9FC071E}"/>
              </a:ext>
            </a:extLst>
          </p:cNvPr>
          <p:cNvSpPr>
            <a:spLocks noGrp="1"/>
          </p:cNvSpPr>
          <p:nvPr>
            <p:ph idx="1"/>
          </p:nvPr>
        </p:nvSpPr>
        <p:spPr/>
        <p:txBody>
          <a:bodyPr/>
          <a:lstStyle/>
          <a:p>
            <a:r>
              <a:rPr lang="nl-BE" dirty="0"/>
              <a:t>Wat moet je kunnen/kennen?</a:t>
            </a:r>
          </a:p>
          <a:p>
            <a:endParaRPr lang="nl-BE" dirty="0"/>
          </a:p>
          <a:p>
            <a:pPr>
              <a:buFontTx/>
              <a:buChar char="-"/>
            </a:pPr>
            <a:r>
              <a:rPr lang="nl-BE" dirty="0"/>
              <a:t>PPT-slides uit de hoor- en werkcolleges zijn de basis van de te kennen stof.</a:t>
            </a:r>
          </a:p>
          <a:p>
            <a:pPr>
              <a:buFontTx/>
              <a:buChar char="-"/>
            </a:pPr>
            <a:endParaRPr lang="nl-BE" dirty="0"/>
          </a:p>
          <a:p>
            <a:pPr>
              <a:buFontTx/>
              <a:buChar char="-"/>
            </a:pPr>
            <a:r>
              <a:rPr lang="nl-BE" dirty="0"/>
              <a:t>Het handboek om de leerstof verder in te studeren en vooral om oefeningen te maken.</a:t>
            </a:r>
          </a:p>
          <a:p>
            <a:pPr lvl="3">
              <a:buFontTx/>
              <a:buChar char="-"/>
            </a:pPr>
            <a:r>
              <a:rPr lang="nl-BE" b="1" dirty="0"/>
              <a:t>Statistische methoden die niet werden behandeld in de hoor- en/of werkcolleges moeten niet gekend zijn!</a:t>
            </a:r>
          </a:p>
          <a:p>
            <a:pPr lvl="3">
              <a:buFontTx/>
              <a:buChar char="-"/>
            </a:pPr>
            <a:endParaRPr lang="nl-BE" b="1" dirty="0"/>
          </a:p>
          <a:p>
            <a:pPr algn="ctr"/>
            <a:r>
              <a:rPr lang="nl-NL" b="1" dirty="0">
                <a:solidFill>
                  <a:srgbClr val="C00000"/>
                </a:solidFill>
                <a:highlight>
                  <a:srgbClr val="FFFF00"/>
                </a:highlight>
              </a:rPr>
              <a:t>GEEN REKENMACHINE MEEBRENGEN</a:t>
            </a:r>
          </a:p>
          <a:p>
            <a:pPr algn="ctr"/>
            <a:r>
              <a:rPr lang="nl-NL" b="1" dirty="0">
                <a:solidFill>
                  <a:srgbClr val="C00000"/>
                </a:solidFill>
                <a:highlight>
                  <a:srgbClr val="FFFF00"/>
                </a:highlight>
              </a:rPr>
              <a:t>Gebruik het rekenmachine op het bureaublad van de desktop</a:t>
            </a:r>
          </a:p>
        </p:txBody>
      </p:sp>
      <p:sp>
        <p:nvSpPr>
          <p:cNvPr id="4" name="Tijdelijke aanduiding voor dianummer 3">
            <a:extLst>
              <a:ext uri="{FF2B5EF4-FFF2-40B4-BE49-F238E27FC236}">
                <a16:creationId xmlns:a16="http://schemas.microsoft.com/office/drawing/2014/main" id="{04417C34-8FD5-8617-FFDA-C325E04781F4}"/>
              </a:ext>
            </a:extLst>
          </p:cNvPr>
          <p:cNvSpPr>
            <a:spLocks noGrp="1"/>
          </p:cNvSpPr>
          <p:nvPr>
            <p:ph type="sldNum" sz="quarter" idx="12"/>
          </p:nvPr>
        </p:nvSpPr>
        <p:spPr/>
        <p:txBody>
          <a:bodyPr/>
          <a:lstStyle/>
          <a:p>
            <a:fld id="{7AE184E0-0BD4-4705-A12B-9B71DDE63301}" type="slidenum">
              <a:rPr lang="en-GB" noProof="0" smtClean="0"/>
              <a:t>59</a:t>
            </a:fld>
            <a:endParaRPr lang="en-GB" noProof="0" dirty="0"/>
          </a:p>
        </p:txBody>
      </p:sp>
      <p:sp>
        <p:nvSpPr>
          <p:cNvPr id="5" name="Tijdelijke aanduiding voor inhoud 4">
            <a:extLst>
              <a:ext uri="{FF2B5EF4-FFF2-40B4-BE49-F238E27FC236}">
                <a16:creationId xmlns:a16="http://schemas.microsoft.com/office/drawing/2014/main" id="{763EB76B-7C8A-53E5-FC3B-D90DDFD27D34}"/>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7258116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1D5042-6E3B-41F5-5900-633464AD3698}"/>
              </a:ext>
            </a:extLst>
          </p:cNvPr>
          <p:cNvSpPr>
            <a:spLocks noGrp="1"/>
          </p:cNvSpPr>
          <p:nvPr>
            <p:ph type="title"/>
          </p:nvPr>
        </p:nvSpPr>
        <p:spPr/>
        <p:txBody>
          <a:bodyPr/>
          <a:lstStyle/>
          <a:p>
            <a:endParaRPr lang="nl-NL"/>
          </a:p>
        </p:txBody>
      </p:sp>
      <p:pic>
        <p:nvPicPr>
          <p:cNvPr id="6" name="Tijdelijke aanduiding voor inhoud 5">
            <a:extLst>
              <a:ext uri="{FF2B5EF4-FFF2-40B4-BE49-F238E27FC236}">
                <a16:creationId xmlns:a16="http://schemas.microsoft.com/office/drawing/2014/main" id="{42D50192-18B1-0208-22D4-6C98847F17B9}"/>
              </a:ext>
            </a:extLst>
          </p:cNvPr>
          <p:cNvPicPr>
            <a:picLocks noGrp="1" noChangeAspect="1"/>
          </p:cNvPicPr>
          <p:nvPr>
            <p:ph idx="1"/>
          </p:nvPr>
        </p:nvPicPr>
        <p:blipFill>
          <a:blip r:embed="rId3"/>
          <a:stretch>
            <a:fillRect/>
          </a:stretch>
        </p:blipFill>
        <p:spPr>
          <a:xfrm>
            <a:off x="2388593" y="1590715"/>
            <a:ext cx="11856573" cy="6872793"/>
          </a:xfrm>
          <a:prstGeom prst="rect">
            <a:avLst/>
          </a:prstGeom>
        </p:spPr>
      </p:pic>
      <p:sp>
        <p:nvSpPr>
          <p:cNvPr id="4" name="Tijdelijke aanduiding voor dianummer 3">
            <a:extLst>
              <a:ext uri="{FF2B5EF4-FFF2-40B4-BE49-F238E27FC236}">
                <a16:creationId xmlns:a16="http://schemas.microsoft.com/office/drawing/2014/main" id="{5EB6E0BF-34AA-F562-AAD9-518D1837C8E2}"/>
              </a:ext>
            </a:extLst>
          </p:cNvPr>
          <p:cNvSpPr>
            <a:spLocks noGrp="1"/>
          </p:cNvSpPr>
          <p:nvPr>
            <p:ph type="sldNum" sz="quarter" idx="12"/>
          </p:nvPr>
        </p:nvSpPr>
        <p:spPr/>
        <p:txBody>
          <a:bodyPr/>
          <a:lstStyle/>
          <a:p>
            <a:fld id="{7AE184E0-0BD4-4705-A12B-9B71DDE63301}" type="slidenum">
              <a:rPr lang="en-GB" noProof="0" smtClean="0"/>
              <a:t>60</a:t>
            </a:fld>
            <a:endParaRPr lang="en-GB" noProof="0" dirty="0"/>
          </a:p>
        </p:txBody>
      </p:sp>
      <p:sp>
        <p:nvSpPr>
          <p:cNvPr id="5" name="Tijdelijke aanduiding voor inhoud 4">
            <a:extLst>
              <a:ext uri="{FF2B5EF4-FFF2-40B4-BE49-F238E27FC236}">
                <a16:creationId xmlns:a16="http://schemas.microsoft.com/office/drawing/2014/main" id="{9EEC0B23-6095-F46C-5155-2E895DB99C46}"/>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450849369"/>
      </p:ext>
    </p:extLst>
  </p:cSld>
  <p:clrMapOvr>
    <a:masterClrMapping/>
  </p:clrMapOvr>
</p:sld>
</file>

<file path=ppt/theme/theme1.xml><?xml version="1.0" encoding="utf-8"?>
<a:theme xmlns:a="http://schemas.openxmlformats.org/drawingml/2006/main" name="Powerpoint_UGent_EN_PS">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headEnd type="triangle" w="lg" len="lg"/>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120000"/>
          </a:lnSpc>
          <a:defRPr sz="2500" smtClean="0"/>
        </a:defPPr>
      </a:lstStyle>
    </a:txDef>
  </a:objectDefaults>
  <a:extraClrSchemeLst/>
  <a:extLst>
    <a:ext uri="{05A4C25C-085E-4340-85A3-A5531E510DB2}">
      <thm15:themeFamily xmlns:thm15="http://schemas.microsoft.com/office/thememl/2012/main" name="Presentation-UK-LW_1_0_13.potx" id="{3201E771-F791-46B7-8648-80514AB81F54}" vid="{1858D3B1-E83B-4AD4-AB74-FC64152F8D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Powerpoint_UGent_EN_PS</Template>
  <TotalTime>12035</TotalTime>
  <Words>2744</Words>
  <Application>Microsoft Office PowerPoint</Application>
  <PresentationFormat>Aangepast</PresentationFormat>
  <Paragraphs>454</Paragraphs>
  <Slides>60</Slides>
  <Notes>48</Notes>
  <HiddenSlides>0</HiddenSlides>
  <MMClips>0</MMClips>
  <ScaleCrop>false</ScaleCrop>
  <HeadingPairs>
    <vt:vector size="8" baseType="variant">
      <vt:variant>
        <vt:lpstr>Gebruikte lettertypen</vt:lpstr>
      </vt:variant>
      <vt:variant>
        <vt:i4>8</vt:i4>
      </vt:variant>
      <vt:variant>
        <vt:lpstr>Thema</vt:lpstr>
      </vt:variant>
      <vt:variant>
        <vt:i4>1</vt:i4>
      </vt:variant>
      <vt:variant>
        <vt:lpstr>Ingesloten OLE-bronprogramma's</vt:lpstr>
      </vt:variant>
      <vt:variant>
        <vt:i4>1</vt:i4>
      </vt:variant>
      <vt:variant>
        <vt:lpstr>Diatitels</vt:lpstr>
      </vt:variant>
      <vt:variant>
        <vt:i4>60</vt:i4>
      </vt:variant>
    </vt:vector>
  </HeadingPairs>
  <TitlesOfParts>
    <vt:vector size="70" baseType="lpstr">
      <vt:lpstr>Aptos</vt:lpstr>
      <vt:lpstr>Arial</vt:lpstr>
      <vt:lpstr>Calibri</vt:lpstr>
      <vt:lpstr>Cambria Math</vt:lpstr>
      <vt:lpstr>Symbol</vt:lpstr>
      <vt:lpstr>Times New Roman</vt:lpstr>
      <vt:lpstr>Verdana</vt:lpstr>
      <vt:lpstr>Wingdings</vt:lpstr>
      <vt:lpstr>Powerpoint_UGent_EN_PS</vt:lpstr>
      <vt:lpstr>Document</vt:lpstr>
      <vt:lpstr>Factoranalyse</vt:lpstr>
      <vt:lpstr>Rechten en plichten</vt:lpstr>
      <vt:lpstr>Inhoudstafel </vt:lpstr>
      <vt:lpstr>Introductie factoranalyse (fa)</vt:lpstr>
      <vt:lpstr>Introductie factoranalyse (fa)</vt:lpstr>
      <vt:lpstr>Introductie factoranalyse (fa)</vt:lpstr>
      <vt:lpstr>Introductie factoranalyse (fa)</vt:lpstr>
      <vt:lpstr>Principale componentenanalyse (pca) en factoranalyse (fa)</vt:lpstr>
      <vt:lpstr>Principale componentenanalyse (pca) en factoranalyse (fa)</vt:lpstr>
      <vt:lpstr>Principale componentenanalyse (pca) en factoranalyse (fa)</vt:lpstr>
      <vt:lpstr>Principale componentenanalyse (pca) en factoranalyse (fa)</vt:lpstr>
      <vt:lpstr>Principale componentenanalyse (pca) en factoranalyse (fa)</vt:lpstr>
      <vt:lpstr>visuele voorstelling van verschillen tussen pca en fa</vt:lpstr>
      <vt:lpstr>visuele voorstelling van verschillen tussen pca en fa</vt:lpstr>
      <vt:lpstr>Inhoudstafel </vt:lpstr>
      <vt:lpstr>FA plenaire oefening</vt:lpstr>
      <vt:lpstr>FA plenaire oefening</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Factoranalyse in spss</vt:lpstr>
      <vt:lpstr>Betrouwbaarheidsanalyse: Cronbach’s Alpha</vt:lpstr>
      <vt:lpstr>betrouwbaarheidsanalyse</vt:lpstr>
      <vt:lpstr>betrouwbaarheidsanalyse in spss</vt:lpstr>
      <vt:lpstr>betrouwbaarheidsanalyse</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in spss</vt:lpstr>
      <vt:lpstr>Betrouwbaarheidsanalyse: Cronbach’s Alpha</vt:lpstr>
      <vt:lpstr>Zeker onthouden</vt:lpstr>
      <vt:lpstr>Inhoudstafel </vt:lpstr>
      <vt:lpstr>Individuele oefening: FA en multidimensionaliteit</vt:lpstr>
      <vt:lpstr>Individuele oefening</vt:lpstr>
      <vt:lpstr>Individuele oefening (extra oefening)</vt:lpstr>
      <vt:lpstr>PC-EXAMEN: 29 januari 2025 – 13u00 – 16u30</vt:lpstr>
      <vt:lpstr>EXAMEN</vt:lpstr>
      <vt:lpstr>MC-examen</vt:lpstr>
      <vt:lpstr>MC-examenvraag</vt:lpstr>
      <vt:lpstr>PowerPoint-presentatie</vt:lpstr>
    </vt:vector>
  </TitlesOfParts>
  <Company>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Ponnet</dc:creator>
  <cp:lastModifiedBy>Ann De Buck</cp:lastModifiedBy>
  <cp:revision>330</cp:revision>
  <cp:lastPrinted>2022-09-25T19:30:31Z</cp:lastPrinted>
  <dcterms:created xsi:type="dcterms:W3CDTF">2016-09-23T07:15:13Z</dcterms:created>
  <dcterms:modified xsi:type="dcterms:W3CDTF">2024-12-09T19:06:55Z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1.0</vt:lpwstr>
  </property>
  <property fmtid="{D5CDD505-2E9C-101B-9397-08002B2CF9AE}" pid="4" name="Date">
    <vt:filetime>2016-09-20T22:00:00Z</vt:filetime>
  </property>
  <property fmtid="{D5CDD505-2E9C-101B-9397-08002B2CF9AE}" pid="5" name="Build">
    <vt:i4>13</vt:i4>
  </property>
  <property fmtid="{D5CDD505-2E9C-101B-9397-08002B2CF9AE}" pid="6" name="Cmt 1">
    <vt:lpwstr>create</vt:lpwstr>
  </property>
  <property fmtid="{D5CDD505-2E9C-101B-9397-08002B2CF9AE}" pid="7" name="Cmt 2">
    <vt:lpwstr>1st draft</vt:lpwstr>
  </property>
  <property fmtid="{D5CDD505-2E9C-101B-9397-08002B2CF9AE}" pid="8" name="Cmt 3">
    <vt:lpwstr>Corporate splitt off</vt:lpwstr>
  </property>
  <property fmtid="{D5CDD505-2E9C-101B-9397-08002B2CF9AE}" pid="9" name="Cmt 4">
    <vt:lpwstr>2nd draft</vt:lpwstr>
  </property>
  <property fmtid="{D5CDD505-2E9C-101B-9397-08002B2CF9AE}" pid="10" name="Cmt 5">
    <vt:lpwstr>set text box and shape defaults</vt:lpwstr>
  </property>
  <property fmtid="{D5CDD505-2E9C-101B-9397-08002B2CF9AE}" pid="11" name="Cmt 6">
    <vt:lpwstr>end slide text acc. to letter</vt:lpwstr>
  </property>
  <property fmtid="{D5CDD505-2E9C-101B-9397-08002B2CF9AE}" pid="12" name="Cmt 7">
    <vt:lpwstr>logo opening slide sharpened</vt:lpwstr>
  </property>
  <property fmtid="{D5CDD505-2E9C-101B-9397-08002B2CF9AE}" pid="13" name="Cmt 8-9">
    <vt:lpwstr>comments 19-9-2016</vt:lpwstr>
  </property>
  <property fmtid="{D5CDD505-2E9C-101B-9397-08002B2CF9AE}" pid="14" name="Cmt 10">
    <vt:lpwstr>social media data redesigned</vt:lpwstr>
  </property>
  <property fmtid="{D5CDD505-2E9C-101B-9397-08002B2CF9AE}" pid="15" name="Cmt 11">
    <vt:lpwstr>Title Slide renamed to TitleSlide</vt:lpwstr>
  </property>
  <property fmtid="{D5CDD505-2E9C-101B-9397-08002B2CF9AE}" pid="16" name="Cmt 12">
    <vt:lpwstr>Title and text size</vt:lpwstr>
  </property>
  <property fmtid="{D5CDD505-2E9C-101B-9397-08002B2CF9AE}" pid="17" name="Cmt 13">
    <vt:lpwstr>socmed pictos &gt; normal view</vt:lpwstr>
  </property>
</Properties>
</file>