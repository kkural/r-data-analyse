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9" r:id="rId5"/>
    <p:sldId id="1721" r:id="rId6"/>
    <p:sldId id="2028" r:id="rId7"/>
    <p:sldId id="2029" r:id="rId8"/>
    <p:sldId id="2027" r:id="rId9"/>
    <p:sldId id="1769" r:id="rId10"/>
    <p:sldId id="2044" r:id="rId11"/>
    <p:sldId id="2070" r:id="rId12"/>
    <p:sldId id="2030" r:id="rId13"/>
    <p:sldId id="1680" r:id="rId14"/>
    <p:sldId id="2067" r:id="rId15"/>
    <p:sldId id="2089" r:id="rId16"/>
    <p:sldId id="1614" r:id="rId17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FA01C38F-A97F-4656-9E40-FE98D775CC1A}">
          <p14:sldIdLst>
            <p14:sldId id="259"/>
            <p14:sldId id="1721"/>
            <p14:sldId id="2028"/>
            <p14:sldId id="2029"/>
            <p14:sldId id="2027"/>
            <p14:sldId id="1769"/>
            <p14:sldId id="2044"/>
            <p14:sldId id="2070"/>
            <p14:sldId id="2030"/>
            <p14:sldId id="1680"/>
            <p14:sldId id="2067"/>
            <p14:sldId id="2089"/>
            <p14:sldId id="16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2ED5F-A5E0-77FD-249A-9FC48669DA58}" name="Fauve Duprez" initials="FD" userId="S::Fauve.Duprez@UGent.be::59fdc1fb-507d-4cdb-a31c-e3fd651e0a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js Hauspie" initials="TH" lastIdx="3" clrIdx="0">
    <p:extLst>
      <p:ext uri="{19B8F6BF-5375-455C-9EA6-DF929625EA0E}">
        <p15:presenceInfo xmlns:p15="http://schemas.microsoft.com/office/powerpoint/2012/main" userId="S-1-5-21-4030456262-320625612-449655040-2815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BBE2"/>
    <a:srgbClr val="DC8621"/>
    <a:srgbClr val="003366"/>
    <a:srgbClr val="80C0E0"/>
    <a:srgbClr val="4472C4"/>
    <a:srgbClr val="5D9CC7"/>
    <a:srgbClr val="5B9BD5"/>
    <a:srgbClr val="008000"/>
    <a:srgbClr val="008CBB"/>
    <a:srgbClr val="44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2464" autoAdjust="0"/>
  </p:normalViewPr>
  <p:slideViewPr>
    <p:cSldViewPr snapToGrid="0" showGuides="1">
      <p:cViewPr varScale="1">
        <p:scale>
          <a:sx n="54" d="100"/>
          <a:sy n="54" d="100"/>
        </p:scale>
        <p:origin x="1070" y="86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02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ve Duprez" userId="59fdc1fb-507d-4cdb-a31c-e3fd651e0acf" providerId="ADAL" clId="{17D09D44-F639-49C5-9955-C65578684DBA}"/>
    <pc:docChg chg="modSld">
      <pc:chgData name="Fauve Duprez" userId="59fdc1fb-507d-4cdb-a31c-e3fd651e0acf" providerId="ADAL" clId="{17D09D44-F639-49C5-9955-C65578684DBA}" dt="2024-08-06T11:34:39.551" v="20" actId="20577"/>
      <pc:docMkLst>
        <pc:docMk/>
      </pc:docMkLst>
      <pc:sldChg chg="modSp mod">
        <pc:chgData name="Fauve Duprez" userId="59fdc1fb-507d-4cdb-a31c-e3fd651e0acf" providerId="ADAL" clId="{17D09D44-F639-49C5-9955-C65578684DBA}" dt="2024-08-06T11:34:15.182" v="15" actId="20577"/>
        <pc:sldMkLst>
          <pc:docMk/>
          <pc:sldMk cId="4162507869" sldId="259"/>
        </pc:sldMkLst>
        <pc:spChg chg="mod">
          <ac:chgData name="Fauve Duprez" userId="59fdc1fb-507d-4cdb-a31c-e3fd651e0acf" providerId="ADAL" clId="{17D09D44-F639-49C5-9955-C65578684DBA}" dt="2024-08-06T11:34:15.182" v="15" actId="20577"/>
          <ac:spMkLst>
            <pc:docMk/>
            <pc:sldMk cId="4162507869" sldId="259"/>
            <ac:spMk id="3" creationId="{70FE6360-0905-4150-BEDD-4BF877AD22CF}"/>
          </ac:spMkLst>
        </pc:spChg>
      </pc:sldChg>
      <pc:sldChg chg="modSp mod">
        <pc:chgData name="Fauve Duprez" userId="59fdc1fb-507d-4cdb-a31c-e3fd651e0acf" providerId="ADAL" clId="{17D09D44-F639-49C5-9955-C65578684DBA}" dt="2024-08-06T11:34:18.963" v="16" actId="20577"/>
        <pc:sldMkLst>
          <pc:docMk/>
          <pc:sldMk cId="4021574165" sldId="1721"/>
        </pc:sldMkLst>
        <pc:spChg chg="mod">
          <ac:chgData name="Fauve Duprez" userId="59fdc1fb-507d-4cdb-a31c-e3fd651e0acf" providerId="ADAL" clId="{17D09D44-F639-49C5-9955-C65578684DBA}" dt="2024-08-06T11:34:18.963" v="16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17D09D44-F639-49C5-9955-C65578684DBA}" dt="2024-08-06T11:34:26.424" v="17" actId="20577"/>
        <pc:sldMkLst>
          <pc:docMk/>
          <pc:sldMk cId="2357406962" sldId="1769"/>
        </pc:sldMkLst>
        <pc:spChg chg="mod">
          <ac:chgData name="Fauve Duprez" userId="59fdc1fb-507d-4cdb-a31c-e3fd651e0acf" providerId="ADAL" clId="{17D09D44-F639-49C5-9955-C65578684DBA}" dt="2024-08-06T11:34:26.424" v="17" actId="20577"/>
          <ac:spMkLst>
            <pc:docMk/>
            <pc:sldMk cId="2357406962" sldId="1769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17D09D44-F639-49C5-9955-C65578684DBA}" dt="2024-08-06T11:34:32.403" v="18" actId="20577"/>
        <pc:sldMkLst>
          <pc:docMk/>
          <pc:sldMk cId="238202101" sldId="2030"/>
        </pc:sldMkLst>
        <pc:spChg chg="mod">
          <ac:chgData name="Fauve Duprez" userId="59fdc1fb-507d-4cdb-a31c-e3fd651e0acf" providerId="ADAL" clId="{17D09D44-F639-49C5-9955-C65578684DBA}" dt="2024-08-06T11:34:32.403" v="18" actId="20577"/>
          <ac:spMkLst>
            <pc:docMk/>
            <pc:sldMk cId="238202101" sldId="2030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17D09D44-F639-49C5-9955-C65578684DBA}" dt="2024-08-06T11:34:39.551" v="20" actId="20577"/>
        <pc:sldMkLst>
          <pc:docMk/>
          <pc:sldMk cId="3377217503" sldId="2067"/>
        </pc:sldMkLst>
        <pc:spChg chg="mod">
          <ac:chgData name="Fauve Duprez" userId="59fdc1fb-507d-4cdb-a31c-e3fd651e0acf" providerId="ADAL" clId="{17D09D44-F639-49C5-9955-C65578684DBA}" dt="2024-08-06T11:34:39.551" v="20" actId="20577"/>
          <ac:spMkLst>
            <pc:docMk/>
            <pc:sldMk cId="3377217503" sldId="2067"/>
            <ac:spMk id="4" creationId="{AFADBEE7-7DB1-4468-A19F-EE1EC696AF82}"/>
          </ac:spMkLst>
        </pc:spChg>
      </pc:sldChg>
    </pc:docChg>
  </pc:docChgLst>
  <pc:docChgLst>
    <pc:chgData name="Fauve Duprez" userId="59fdc1fb-507d-4cdb-a31c-e3fd651e0acf" providerId="ADAL" clId="{1404662C-13AF-4A46-BDAE-25EA0C907C0D}"/>
    <pc:docChg chg="custSel modSld">
      <pc:chgData name="Fauve Duprez" userId="59fdc1fb-507d-4cdb-a31c-e3fd651e0acf" providerId="ADAL" clId="{1404662C-13AF-4A46-BDAE-25EA0C907C0D}" dt="2024-11-26T10:14:42.672" v="56" actId="20577"/>
      <pc:docMkLst>
        <pc:docMk/>
      </pc:docMkLst>
      <pc:sldChg chg="modSp mod">
        <pc:chgData name="Fauve Duprez" userId="59fdc1fb-507d-4cdb-a31c-e3fd651e0acf" providerId="ADAL" clId="{1404662C-13AF-4A46-BDAE-25EA0C907C0D}" dt="2024-11-26T10:04:54.773" v="5" actId="20577"/>
        <pc:sldMkLst>
          <pc:docMk/>
          <pc:sldMk cId="4162507869" sldId="259"/>
        </pc:sldMkLst>
        <pc:spChg chg="mod">
          <ac:chgData name="Fauve Duprez" userId="59fdc1fb-507d-4cdb-a31c-e3fd651e0acf" providerId="ADAL" clId="{1404662C-13AF-4A46-BDAE-25EA0C907C0D}" dt="2024-11-26T10:04:54.773" v="5" actId="20577"/>
          <ac:spMkLst>
            <pc:docMk/>
            <pc:sldMk cId="4162507869" sldId="259"/>
            <ac:spMk id="2" creationId="{1D528B7A-3168-440C-A60C-A036931164EC}"/>
          </ac:spMkLst>
        </pc:spChg>
      </pc:sldChg>
      <pc:sldChg chg="delSp mod">
        <pc:chgData name="Fauve Duprez" userId="59fdc1fb-507d-4cdb-a31c-e3fd651e0acf" providerId="ADAL" clId="{1404662C-13AF-4A46-BDAE-25EA0C907C0D}" dt="2024-11-26T10:05:14.678" v="7" actId="478"/>
        <pc:sldMkLst>
          <pc:docMk/>
          <pc:sldMk cId="103995283" sldId="1614"/>
        </pc:sldMkLst>
        <pc:spChg chg="del">
          <ac:chgData name="Fauve Duprez" userId="59fdc1fb-507d-4cdb-a31c-e3fd651e0acf" providerId="ADAL" clId="{1404662C-13AF-4A46-BDAE-25EA0C907C0D}" dt="2024-11-26T10:05:14.678" v="7" actId="478"/>
          <ac:spMkLst>
            <pc:docMk/>
            <pc:sldMk cId="103995283" sldId="1614"/>
            <ac:spMk id="5" creationId="{C3F45861-86AC-4251-8F68-78CC9A0DF34D}"/>
          </ac:spMkLst>
        </pc:spChg>
      </pc:sldChg>
      <pc:sldChg chg="delSp mod">
        <pc:chgData name="Fauve Duprez" userId="59fdc1fb-507d-4cdb-a31c-e3fd651e0acf" providerId="ADAL" clId="{1404662C-13AF-4A46-BDAE-25EA0C907C0D}" dt="2024-11-26T10:05:02.461" v="6" actId="478"/>
        <pc:sldMkLst>
          <pc:docMk/>
          <pc:sldMk cId="1487761844" sldId="2028"/>
        </pc:sldMkLst>
        <pc:spChg chg="del">
          <ac:chgData name="Fauve Duprez" userId="59fdc1fb-507d-4cdb-a31c-e3fd651e0acf" providerId="ADAL" clId="{1404662C-13AF-4A46-BDAE-25EA0C907C0D}" dt="2024-11-26T10:05:02.461" v="6" actId="478"/>
          <ac:spMkLst>
            <pc:docMk/>
            <pc:sldMk cId="1487761844" sldId="2028"/>
            <ac:spMk id="6" creationId="{A2987B71-2BDD-4742-8E61-1BFEDD9BA27B}"/>
          </ac:spMkLst>
        </pc:spChg>
      </pc:sldChg>
      <pc:sldChg chg="modSp mod">
        <pc:chgData name="Fauve Duprez" userId="59fdc1fb-507d-4cdb-a31c-e3fd651e0acf" providerId="ADAL" clId="{1404662C-13AF-4A46-BDAE-25EA0C907C0D}" dt="2024-11-26T10:05:27.172" v="24" actId="20577"/>
        <pc:sldMkLst>
          <pc:docMk/>
          <pc:sldMk cId="3377217503" sldId="2067"/>
        </pc:sldMkLst>
        <pc:spChg chg="mod">
          <ac:chgData name="Fauve Duprez" userId="59fdc1fb-507d-4cdb-a31c-e3fd651e0acf" providerId="ADAL" clId="{1404662C-13AF-4A46-BDAE-25EA0C907C0D}" dt="2024-11-26T10:05:27.172" v="24" actId="20577"/>
          <ac:spMkLst>
            <pc:docMk/>
            <pc:sldMk cId="3377217503" sldId="2067"/>
            <ac:spMk id="2" creationId="{1D528B7A-3168-440C-A60C-A036931164EC}"/>
          </ac:spMkLst>
        </pc:spChg>
      </pc:sldChg>
      <pc:sldChg chg="modSp mod">
        <pc:chgData name="Fauve Duprez" userId="59fdc1fb-507d-4cdb-a31c-e3fd651e0acf" providerId="ADAL" clId="{1404662C-13AF-4A46-BDAE-25EA0C907C0D}" dt="2024-11-26T10:14:42.672" v="56" actId="20577"/>
        <pc:sldMkLst>
          <pc:docMk/>
          <pc:sldMk cId="3914026202" sldId="2070"/>
        </pc:sldMkLst>
        <pc:spChg chg="mod">
          <ac:chgData name="Fauve Duprez" userId="59fdc1fb-507d-4cdb-a31c-e3fd651e0acf" providerId="ADAL" clId="{1404662C-13AF-4A46-BDAE-25EA0C907C0D}" dt="2024-11-26T10:14:42.672" v="56" actId="20577"/>
          <ac:spMkLst>
            <pc:docMk/>
            <pc:sldMk cId="3914026202" sldId="2070"/>
            <ac:spMk id="3" creationId="{AFA9732D-AB41-4AF6-9647-B5196F5786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2FC35-6E1B-4E70-B4A8-2E17764112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83509-45F4-4A33-B377-E4DC335B0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31CA1-EEC8-4E8D-8F53-590E0F575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E2CA-99BE-4DC0-9A95-E0C0A0CA930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6104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8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6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624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20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644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765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26/11/2024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 dirty="0"/>
              <a:t>Click to add subtitle / presenter / date [</a:t>
            </a:r>
            <a:r>
              <a:rPr lang="en-GB" noProof="0" dirty="0" err="1"/>
              <a:t>dd</a:t>
            </a:r>
            <a:r>
              <a:rPr lang="en-GB" noProof="0" dirty="0"/>
              <a:t>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 dirty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 dirty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8233FCF-C78E-47A1-9466-4CB05FC00861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Logo Large EN">
            <a:extLst>
              <a:ext uri="{FF2B5EF4-FFF2-40B4-BE49-F238E27FC236}">
                <a16:creationId xmlns:a16="http://schemas.microsoft.com/office/drawing/2014/main" id="{DD11DB78-BA8F-4D35-9786-54E14B77F9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541393E-7C09-4F12-9A9E-C6211FF6E487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/>
          <p:nvPr userDrawn="1"/>
        </p:nvCxnSpPr>
        <p:spPr>
          <a:xfrm>
            <a:off x="225469" y="1445550"/>
            <a:ext cx="168433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pic>
        <p:nvPicPr>
          <p:cNvPr id="12" name="Logo Large EN">
            <a:extLst>
              <a:ext uri="{FF2B5EF4-FFF2-40B4-BE49-F238E27FC236}">
                <a16:creationId xmlns:a16="http://schemas.microsoft.com/office/drawing/2014/main" id="{5277E93A-7FD9-4EF3-905C-6DF250A2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7FFFB7AB-BA76-46AF-8C93-349C899E640D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Logo Large EN">
            <a:extLst>
              <a:ext uri="{FF2B5EF4-FFF2-40B4-BE49-F238E27FC236}">
                <a16:creationId xmlns:a16="http://schemas.microsoft.com/office/drawing/2014/main" id="{493A8D34-0286-4693-9124-6D5814F04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36025"/>
            <a:ext cx="15323820" cy="1062772"/>
          </a:xfrm>
        </p:spPr>
        <p:txBody>
          <a:bodyPr/>
          <a:lstStyle>
            <a:lvl1pPr>
              <a:defRPr sz="3400" b="1" u="none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26/11/2024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E4AD1-092F-4246-B8DF-50863AA501DE}"/>
              </a:ext>
            </a:extLst>
          </p:cNvPr>
          <p:cNvCxnSpPr/>
          <p:nvPr userDrawn="1"/>
        </p:nvCxnSpPr>
        <p:spPr>
          <a:xfrm>
            <a:off x="225469" y="1422400"/>
            <a:ext cx="16843331" cy="0"/>
          </a:xfrm>
          <a:prstGeom prst="line">
            <a:avLst/>
          </a:prstGeom>
          <a:ln w="317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C3CC51D8-D8AC-457C-9F02-366E63E6A03C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Logo Large EN">
            <a:extLst>
              <a:ext uri="{FF2B5EF4-FFF2-40B4-BE49-F238E27FC236}">
                <a16:creationId xmlns:a16="http://schemas.microsoft.com/office/drawing/2014/main" id="{5641CB9D-E30E-4DBA-83E7-A4B3DBE60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26/11/2024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26/11/2024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15183366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 dirty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1717969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add social media names</a:t>
            </a:r>
            <a:endParaRPr lang="nl-NL" dirty="0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3714979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26/11/2024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8" r:id="rId5"/>
    <p:sldLayoutId id="2147483674" r:id="rId6"/>
    <p:sldLayoutId id="2147483666" r:id="rId7"/>
    <p:sldLayoutId id="2147483675" r:id="rId8"/>
    <p:sldLayoutId id="2147483676" r:id="rId9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34" y="3289819"/>
            <a:ext cx="16023586" cy="2359800"/>
          </a:xfrm>
        </p:spPr>
        <p:txBody>
          <a:bodyPr/>
          <a:lstStyle/>
          <a:p>
            <a:r>
              <a:rPr lang="nl-BE" dirty="0" err="1"/>
              <a:t>Spss</a:t>
            </a:r>
            <a:r>
              <a:rPr lang="nl-BE" dirty="0"/>
              <a:t>-werkcollege 6 (29/11) </a:t>
            </a:r>
            <a:br>
              <a:rPr lang="nl-BE" dirty="0"/>
            </a:b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E6360-0905-4150-BEDD-4BF877AD2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Assistent Fauve Duprez					AJ 2024-2025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Toegepaste data-analyse en rapportage</a:t>
            </a:r>
          </a:p>
        </p:txBody>
      </p:sp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H12 Correlatie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6</a:t>
            </a:r>
          </a:p>
        </p:txBody>
      </p:sp>
    </p:spTree>
    <p:extLst>
      <p:ext uri="{BB962C8B-B14F-4D97-AF65-F5344CB8AC3E}">
        <p14:creationId xmlns:p14="http://schemas.microsoft.com/office/powerpoint/2010/main" val="402157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Tot nu toe:</a:t>
            </a:r>
          </a:p>
          <a:p>
            <a:r>
              <a:rPr lang="nl-BE" b="1" dirty="0">
                <a:solidFill>
                  <a:srgbClr val="C00000"/>
                </a:solidFill>
              </a:rPr>
              <a:t>Numerieke maten binnen </a:t>
            </a:r>
            <a:r>
              <a:rPr lang="nl-BE" b="1" dirty="0" err="1">
                <a:solidFill>
                  <a:srgbClr val="C00000"/>
                </a:solidFill>
              </a:rPr>
              <a:t>univariate</a:t>
            </a:r>
            <a:r>
              <a:rPr lang="nl-BE" b="1" dirty="0">
                <a:solidFill>
                  <a:srgbClr val="C00000"/>
                </a:solidFill>
              </a:rPr>
              <a:t> statistiek</a:t>
            </a:r>
          </a:p>
          <a:p>
            <a:pPr lvl="1"/>
            <a:r>
              <a:rPr lang="nl-BE" dirty="0"/>
              <a:t>Samenvattend kenmerk van gedrag van </a:t>
            </a:r>
            <a:r>
              <a:rPr lang="nl-BE" b="1" dirty="0"/>
              <a:t>één variabele </a:t>
            </a:r>
            <a:r>
              <a:rPr lang="nl-BE" dirty="0"/>
              <a:t>binnen steekproef</a:t>
            </a:r>
          </a:p>
          <a:p>
            <a:pPr lvl="1"/>
            <a:r>
              <a:rPr lang="nl-BE" b="1" dirty="0" err="1">
                <a:solidFill>
                  <a:srgbClr val="002060"/>
                </a:solidFill>
              </a:rPr>
              <a:t>Centraliteitsmaten</a:t>
            </a:r>
            <a:r>
              <a:rPr lang="nl-BE" b="1" dirty="0">
                <a:solidFill>
                  <a:srgbClr val="002060"/>
                </a:solidFill>
              </a:rPr>
              <a:t>, spreidingsmaten en maten van vorm</a:t>
            </a:r>
          </a:p>
          <a:p>
            <a:endParaRPr lang="nl-BE" b="1" dirty="0">
              <a:solidFill>
                <a:srgbClr val="002060"/>
              </a:solidFill>
            </a:endParaRPr>
          </a:p>
          <a:p>
            <a:endParaRPr lang="nl-BE" b="1" dirty="0"/>
          </a:p>
          <a:p>
            <a:pPr lvl="1"/>
            <a:endParaRPr lang="nl-BE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417D12D-3B78-45F4-90AA-0869D5843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878" y="4536836"/>
            <a:ext cx="12966917" cy="397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6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>
                <a:solidFill>
                  <a:srgbClr val="C00000"/>
                </a:solidFill>
              </a:rPr>
              <a:t>H12: Maten van samenhang of associatiematen</a:t>
            </a:r>
          </a:p>
          <a:p>
            <a:r>
              <a:rPr lang="nl-BE" dirty="0"/>
              <a:t>Vierde type numerieke maat, </a:t>
            </a:r>
            <a:r>
              <a:rPr lang="nl-BE" b="1" dirty="0"/>
              <a:t>binnen multivariate statistiek</a:t>
            </a:r>
          </a:p>
          <a:p>
            <a:r>
              <a:rPr lang="nl-BE" b="1" dirty="0"/>
              <a:t>Correlatiecoëfficiënt</a:t>
            </a:r>
          </a:p>
          <a:p>
            <a:pPr lvl="1"/>
            <a:r>
              <a:rPr lang="nl-BE" dirty="0"/>
              <a:t>Meest gebruikte maat van samenhang</a:t>
            </a:r>
          </a:p>
          <a:p>
            <a:pPr lvl="1"/>
            <a:r>
              <a:rPr lang="nl-BE" dirty="0"/>
              <a:t>Samenhang of associatie tussen twee variabelen:</a:t>
            </a:r>
          </a:p>
          <a:p>
            <a:pPr lvl="2"/>
            <a:r>
              <a:rPr lang="nl-BE" b="1" dirty="0"/>
              <a:t>In welke mate sprake van lineair verband?</a:t>
            </a:r>
          </a:p>
          <a:p>
            <a:pPr lvl="1"/>
            <a:r>
              <a:rPr lang="nl-BE" dirty="0"/>
              <a:t>Twee doeleinden:</a:t>
            </a:r>
          </a:p>
          <a:p>
            <a:pPr lvl="2"/>
            <a:r>
              <a:rPr lang="nl-BE" b="1" dirty="0"/>
              <a:t>Descriptief</a:t>
            </a:r>
            <a:r>
              <a:rPr lang="nl-BE" dirty="0"/>
              <a:t>: beschrijft band tussen twee metrische (of ordinale) variabelen</a:t>
            </a:r>
          </a:p>
          <a:p>
            <a:pPr lvl="3"/>
            <a:r>
              <a:rPr lang="nl-BE" dirty="0"/>
              <a:t>Binnen steekproef</a:t>
            </a:r>
          </a:p>
          <a:p>
            <a:pPr lvl="2"/>
            <a:r>
              <a:rPr lang="nl-BE" b="1" dirty="0" err="1"/>
              <a:t>Inferentieel</a:t>
            </a:r>
            <a:r>
              <a:rPr lang="nl-BE" dirty="0"/>
              <a:t>: gebruikt om te toetsen of die band significant is</a:t>
            </a:r>
          </a:p>
          <a:p>
            <a:pPr lvl="3"/>
            <a:r>
              <a:rPr lang="nl-BE" dirty="0"/>
              <a:t>Veralgemenen naar de populatie</a:t>
            </a:r>
          </a:p>
          <a:p>
            <a:pPr marL="1821150" lvl="2" indent="-514350">
              <a:buFont typeface="+mj-lt"/>
              <a:buAutoNum type="arabicPeriod"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64275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4 verschillende correlatietoetsen:</a:t>
            </a:r>
          </a:p>
          <a:p>
            <a:pPr marL="86400" indent="0">
              <a:buNone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>
                <a:solidFill>
                  <a:srgbClr val="002060"/>
                </a:solidFill>
              </a:rPr>
              <a:t>Pearson correlatietoets</a:t>
            </a:r>
          </a:p>
          <a:p>
            <a:pPr lvl="2"/>
            <a:r>
              <a:rPr lang="nl-BE" dirty="0"/>
              <a:t>Parametrische toets</a:t>
            </a:r>
          </a:p>
          <a:p>
            <a:pPr lvl="2"/>
            <a:r>
              <a:rPr lang="nl-BE" dirty="0"/>
              <a:t>Toetst lineair verband tussen twee metrische variabelen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Partiële correlatietoets</a:t>
            </a:r>
          </a:p>
          <a:p>
            <a:pPr lvl="2"/>
            <a:r>
              <a:rPr lang="nl-BE" dirty="0"/>
              <a:t>Pearson correlatietoets, gecontroleerd voor één of meerdere covariaten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Spearman rangcorrelatietoets</a:t>
            </a:r>
          </a:p>
          <a:p>
            <a:pPr lvl="2"/>
            <a:r>
              <a:rPr lang="nl-BE" dirty="0"/>
              <a:t>Non-parametrisch alternatief voor Pearson correlatietoets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 err="1"/>
              <a:t>Kendall’s</a:t>
            </a:r>
            <a:r>
              <a:rPr lang="nl-BE" b="1" dirty="0"/>
              <a:t> </a:t>
            </a:r>
            <a:r>
              <a:rPr lang="nl-BE" b="1" dirty="0" err="1"/>
              <a:t>tau</a:t>
            </a:r>
            <a:r>
              <a:rPr lang="nl-BE" b="1" dirty="0"/>
              <a:t> correlatietoets</a:t>
            </a:r>
          </a:p>
          <a:p>
            <a:pPr lvl="2"/>
            <a:r>
              <a:rPr lang="nl-BE" dirty="0"/>
              <a:t>Alternatieve toets voor Spearman rangcorrelatietoets</a:t>
            </a:r>
          </a:p>
          <a:p>
            <a:pPr lvl="2"/>
            <a:r>
              <a:rPr lang="nl-BE" dirty="0"/>
              <a:t>Bij zeer kleine steekproeven</a:t>
            </a:r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157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6</a:t>
            </a:r>
          </a:p>
        </p:txBody>
      </p:sp>
    </p:spTree>
    <p:extLst>
      <p:ext uri="{BB962C8B-B14F-4D97-AF65-F5344CB8AC3E}">
        <p14:creationId xmlns:p14="http://schemas.microsoft.com/office/powerpoint/2010/main" val="235740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Teamgevoel x Moeilijkheden ouderschap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1A	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het gevoel hebben dat je een team vormt met je partner (W2_QMI5) en het ervaren van onvoorziene moeilijkheden met ouderschap (W2_ParentingStress2), bij ouders die minstens één kind jonger dan 14 bij zich hebben inwonen?</a:t>
            </a: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7808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Teamgevoel x Moeilijkheden ouderschap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1B</a:t>
            </a:r>
            <a:r>
              <a:rPr lang="nl-BE" b="1"/>
              <a:t>	</a:t>
            </a:r>
            <a:endParaRPr lang="nl-BE" b="1" dirty="0"/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het gevoel hebben dat je een team vormt met je partner (W2_QMI5) en het ervaren van onvoorziene moeilijkheden met ouderschap (W2_ParentingStress2), </a:t>
            </a:r>
            <a:r>
              <a:rPr lang="nl-NL" dirty="0">
                <a:solidFill>
                  <a:srgbClr val="FF0000"/>
                </a:solidFill>
              </a:rPr>
              <a:t>bij ouders die minstens drie kinderen jonger dan 14 bij zich hebben inwonen</a:t>
            </a:r>
            <a:r>
              <a:rPr lang="nl-NL" dirty="0"/>
              <a:t>?</a:t>
            </a: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026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6</a:t>
            </a:r>
          </a:p>
        </p:txBody>
      </p:sp>
    </p:spTree>
    <p:extLst>
      <p:ext uri="{BB962C8B-B14F-4D97-AF65-F5344CB8AC3E}">
        <p14:creationId xmlns:p14="http://schemas.microsoft.com/office/powerpoint/2010/main" val="23820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Relstress x Eenzaamheid x CIUS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relatiestress (W2_Relstress1_1 t.e.m. W2_Relstress1_4), eenzaamheid (W2_Eenz1 t.e.m. W2_Eenz3) en compulsief internetgebruik (W2_CIUS1 t.e.m. W2_CIUS5)?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18008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Extra Opgave voor thuis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6</a:t>
            </a:r>
          </a:p>
        </p:txBody>
      </p:sp>
    </p:spTree>
    <p:extLst>
      <p:ext uri="{BB962C8B-B14F-4D97-AF65-F5344CB8AC3E}">
        <p14:creationId xmlns:p14="http://schemas.microsoft.com/office/powerpoint/2010/main" val="337721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bij ouders een significant verband tussen relatiestress (W2_Relstress1_1 t.e.m. W2_Relstress1_4) en eenzaamheid (W2_Eenz1 t.e.m. W2_Eenz3), </a:t>
            </a:r>
            <a:r>
              <a:rPr lang="nl-NL" u="sng" dirty="0"/>
              <a:t>gecontroleerd voor</a:t>
            </a:r>
            <a:r>
              <a:rPr lang="nl-NL" dirty="0"/>
              <a:t> het aantal kinderen in het huishouden (W2_RESID)? </a:t>
            </a:r>
          </a:p>
          <a:p>
            <a:r>
              <a:rPr lang="nl-NL" dirty="0"/>
              <a:t>Filter hiervoor eerst op mensen in een relatie (W2_Relatiestatus = 1), ouders (W2_Ouder = 1) en mensen die niet alleen wonen (W2_RESID01 &gt; 1).</a:t>
            </a:r>
          </a:p>
          <a:p>
            <a:pPr marL="86400" indent="0">
              <a:buNone/>
            </a:pPr>
            <a:endParaRPr lang="nl-BE" sz="2800" dirty="0">
              <a:solidFill>
                <a:srgbClr val="00336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2"/>
            <a:endParaRPr lang="nl-BE" dirty="0">
              <a:solidFill>
                <a:srgbClr val="C00000"/>
              </a:solidFill>
            </a:endParaRP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70228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829EE-E84C-4356-83EA-58A3EC2E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Nog meer 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E490A1-2B9C-4218-B91B-BD1026FC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002060"/>
                </a:solidFill>
              </a:rPr>
              <a:t>Zie handboek en QR-code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A16FA6-05F8-482B-B342-24F3B704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399528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UGent_EN_P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43D96E506A014DBE714040E5AF9AEC" ma:contentTypeVersion="14" ma:contentTypeDescription="Een nieuw document maken." ma:contentTypeScope="" ma:versionID="4db89dd7ed044dc385e9181649206e88">
  <xsd:schema xmlns:xsd="http://www.w3.org/2001/XMLSchema" xmlns:xs="http://www.w3.org/2001/XMLSchema" xmlns:p="http://schemas.microsoft.com/office/2006/metadata/properties" xmlns:ns3="8f55a228-4e6a-4e20-9588-cb37277e13ee" xmlns:ns4="6f55e950-31a6-446f-893a-ec17b70e2fc0" targetNamespace="http://schemas.microsoft.com/office/2006/metadata/properties" ma:root="true" ma:fieldsID="73c8890e8e488906fdb084e1f109c950" ns3:_="" ns4:_="">
    <xsd:import namespace="8f55a228-4e6a-4e20-9588-cb37277e13ee"/>
    <xsd:import namespace="6f55e950-31a6-446f-893a-ec17b70e2f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228-4e6a-4e20-9588-cb37277e1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5e950-31a6-446f-893a-ec17b70e2f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AA655A-7503-4B9C-B60F-332B9CF45D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335687-23C4-4A0C-B05E-C4FB348DC452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6f55e950-31a6-446f-893a-ec17b70e2fc0"/>
    <ds:schemaRef ds:uri="http://schemas.microsoft.com/office/infopath/2007/PartnerControls"/>
    <ds:schemaRef ds:uri="8f55a228-4e6a-4e20-9588-cb37277e13e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038F6D0-C956-4627-8011-D89B0CC117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5a228-4e6a-4e20-9588-cb37277e13ee"/>
    <ds:schemaRef ds:uri="6f55e950-31a6-446f-893a-ec17b70e2f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Powerpoint_UGent_EN_PS</Template>
  <TotalTime>17301</TotalTime>
  <Words>529</Words>
  <Application>Microsoft Office PowerPoint</Application>
  <PresentationFormat>Aangepast</PresentationFormat>
  <Paragraphs>75</Paragraphs>
  <Slides>13</Slides>
  <Notes>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Arial</vt:lpstr>
      <vt:lpstr>Calibri</vt:lpstr>
      <vt:lpstr>Verdana</vt:lpstr>
      <vt:lpstr>Wingdings</vt:lpstr>
      <vt:lpstr>Powerpoint_UGent_EN_PS</vt:lpstr>
      <vt:lpstr>Spss-werkcollege 6 (29/11)  </vt:lpstr>
      <vt:lpstr>H12 Correlatie</vt:lpstr>
      <vt:lpstr>Inleiding</vt:lpstr>
      <vt:lpstr>Inleiding</vt:lpstr>
      <vt:lpstr>Inleiding</vt:lpstr>
      <vt:lpstr>Opgave 1</vt:lpstr>
      <vt:lpstr>Opgave 1: Verband Teamgevoel x Moeilijkheden ouderschap</vt:lpstr>
      <vt:lpstr>Opgave 1: Verband Teamgevoel x Moeilijkheden ouderschap</vt:lpstr>
      <vt:lpstr>Opgave 2</vt:lpstr>
      <vt:lpstr>Opgave 2: Verband Relstress x Eenzaamheid x CIUS</vt:lpstr>
      <vt:lpstr>Extra Opgave voor thuis</vt:lpstr>
      <vt:lpstr>Opgave 3: Gecontroleerd Verband Relstress x Eenzaamheid</vt:lpstr>
      <vt:lpstr>Nog meer oefeningen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Ponnet</dc:creator>
  <cp:lastModifiedBy>Fauve Duprez</cp:lastModifiedBy>
  <cp:revision>485</cp:revision>
  <cp:lastPrinted>2022-09-25T19:30:31Z</cp:lastPrinted>
  <dcterms:created xsi:type="dcterms:W3CDTF">2016-09-23T07:15:13Z</dcterms:created>
  <dcterms:modified xsi:type="dcterms:W3CDTF">2024-11-26T10:14:43Z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1.0</vt:lpwstr>
  </property>
  <property fmtid="{D5CDD505-2E9C-101B-9397-08002B2CF9AE}" pid="4" name="Date">
    <vt:filetime>2016-09-20T22:00:00Z</vt:filetime>
  </property>
  <property fmtid="{D5CDD505-2E9C-101B-9397-08002B2CF9AE}" pid="5" name="Build">
    <vt:i4>13</vt:i4>
  </property>
  <property fmtid="{D5CDD505-2E9C-101B-9397-08002B2CF9AE}" pid="6" name="Cmt 1">
    <vt:lpwstr>create</vt:lpwstr>
  </property>
  <property fmtid="{D5CDD505-2E9C-101B-9397-08002B2CF9AE}" pid="7" name="Cmt 2">
    <vt:lpwstr>1st draft</vt:lpwstr>
  </property>
  <property fmtid="{D5CDD505-2E9C-101B-9397-08002B2CF9AE}" pid="8" name="Cmt 3">
    <vt:lpwstr>Corporate splitt off</vt:lpwstr>
  </property>
  <property fmtid="{D5CDD505-2E9C-101B-9397-08002B2CF9AE}" pid="9" name="Cmt 4">
    <vt:lpwstr>2nd draft</vt:lpwstr>
  </property>
  <property fmtid="{D5CDD505-2E9C-101B-9397-08002B2CF9AE}" pid="10" name="Cmt 5">
    <vt:lpwstr>set text box and shape defaults</vt:lpwstr>
  </property>
  <property fmtid="{D5CDD505-2E9C-101B-9397-08002B2CF9AE}" pid="11" name="Cmt 6">
    <vt:lpwstr>end slide text acc. to letter</vt:lpwstr>
  </property>
  <property fmtid="{D5CDD505-2E9C-101B-9397-08002B2CF9AE}" pid="12" name="Cmt 7">
    <vt:lpwstr>logo opening slide sharpened</vt:lpwstr>
  </property>
  <property fmtid="{D5CDD505-2E9C-101B-9397-08002B2CF9AE}" pid="13" name="Cmt 8-9">
    <vt:lpwstr>comments 19-9-2016</vt:lpwstr>
  </property>
  <property fmtid="{D5CDD505-2E9C-101B-9397-08002B2CF9AE}" pid="14" name="Cmt 10">
    <vt:lpwstr>social media data redesigned</vt:lpwstr>
  </property>
  <property fmtid="{D5CDD505-2E9C-101B-9397-08002B2CF9AE}" pid="15" name="Cmt 11">
    <vt:lpwstr>Title Slide renamed to TitleSlide</vt:lpwstr>
  </property>
  <property fmtid="{D5CDD505-2E9C-101B-9397-08002B2CF9AE}" pid="16" name="Cmt 12">
    <vt:lpwstr>Title and text size</vt:lpwstr>
  </property>
  <property fmtid="{D5CDD505-2E9C-101B-9397-08002B2CF9AE}" pid="17" name="Cmt 13">
    <vt:lpwstr>socmed pictos &gt; normal view</vt:lpwstr>
  </property>
  <property fmtid="{D5CDD505-2E9C-101B-9397-08002B2CF9AE}" pid="18" name="ContentTypeId">
    <vt:lpwstr>0x0101003A43D96E506A014DBE714040E5AF9AEC</vt:lpwstr>
  </property>
</Properties>
</file>