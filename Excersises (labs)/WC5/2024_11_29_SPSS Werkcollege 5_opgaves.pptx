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9" r:id="rId5"/>
    <p:sldId id="1721" r:id="rId6"/>
    <p:sldId id="272" r:id="rId7"/>
    <p:sldId id="1985" r:id="rId8"/>
    <p:sldId id="1731" r:id="rId9"/>
    <p:sldId id="1986" r:id="rId10"/>
    <p:sldId id="1769" r:id="rId11"/>
    <p:sldId id="1680" r:id="rId12"/>
    <p:sldId id="1971" r:id="rId13"/>
    <p:sldId id="1973" r:id="rId14"/>
  </p:sldIdLst>
  <p:sldSz cx="17338675" cy="9753600"/>
  <p:notesSz cx="6858000" cy="9144000"/>
  <p:defaultTextStyle>
    <a:defPPr>
      <a:defRPr lang="en-US"/>
    </a:defPPr>
    <a:lvl1pPr marL="0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1pPr>
    <a:lvl2pPr marL="650184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2pPr>
    <a:lvl3pPr marL="1300368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3pPr>
    <a:lvl4pPr marL="1950552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4pPr>
    <a:lvl5pPr marL="2600736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5pPr>
    <a:lvl6pPr marL="3250921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6pPr>
    <a:lvl7pPr marL="3901105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7pPr>
    <a:lvl8pPr marL="4551289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8pPr>
    <a:lvl9pPr marL="5201473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FA01C38F-A97F-4656-9E40-FE98D775CC1A}">
          <p14:sldIdLst>
            <p14:sldId id="259"/>
            <p14:sldId id="1721"/>
            <p14:sldId id="272"/>
            <p14:sldId id="1985"/>
            <p14:sldId id="1731"/>
            <p14:sldId id="1986"/>
            <p14:sldId id="1769"/>
            <p14:sldId id="1680"/>
            <p14:sldId id="1971"/>
            <p14:sldId id="19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1D2ED5F-A5E0-77FD-249A-9FC48669DA58}" name="Fauve Duprez" initials="FD" userId="S::Fauve.Duprez@UGent.be::59fdc1fb-507d-4cdb-a31c-e3fd651e0ac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js Hauspie" initials="TH" lastIdx="3" clrIdx="0">
    <p:extLst>
      <p:ext uri="{19B8F6BF-5375-455C-9EA6-DF929625EA0E}">
        <p15:presenceInfo xmlns:p15="http://schemas.microsoft.com/office/powerpoint/2012/main" userId="S-1-5-21-4030456262-320625612-449655040-28156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80C0E0"/>
    <a:srgbClr val="4472C4"/>
    <a:srgbClr val="DC8621"/>
    <a:srgbClr val="5D9CC7"/>
    <a:srgbClr val="5B9BD5"/>
    <a:srgbClr val="8FBBE2"/>
    <a:srgbClr val="008000"/>
    <a:srgbClr val="008CBB"/>
    <a:srgbClr val="44C6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73" autoAdjust="0"/>
    <p:restoredTop sz="94796" autoAdjust="0"/>
  </p:normalViewPr>
  <p:slideViewPr>
    <p:cSldViewPr snapToGrid="0" showGuides="1">
      <p:cViewPr varScale="1">
        <p:scale>
          <a:sx n="58" d="100"/>
          <a:sy n="58" d="100"/>
        </p:scale>
        <p:origin x="845" y="106"/>
      </p:cViewPr>
      <p:guideLst>
        <p:guide orient="horz" pos="3072"/>
        <p:guide pos="54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029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uve Duprez" userId="59fdc1fb-507d-4cdb-a31c-e3fd651e0acf" providerId="ADAL" clId="{F0E4E960-47E7-449A-B0F6-6B92FE10829E}"/>
    <pc:docChg chg="modSld">
      <pc:chgData name="Fauve Duprez" userId="59fdc1fb-507d-4cdb-a31c-e3fd651e0acf" providerId="ADAL" clId="{F0E4E960-47E7-449A-B0F6-6B92FE10829E}" dt="2024-08-06T11:35:21.402" v="17" actId="20577"/>
      <pc:docMkLst>
        <pc:docMk/>
      </pc:docMkLst>
      <pc:sldChg chg="modSp mod">
        <pc:chgData name="Fauve Duprez" userId="59fdc1fb-507d-4cdb-a31c-e3fd651e0acf" providerId="ADAL" clId="{F0E4E960-47E7-449A-B0F6-6B92FE10829E}" dt="2024-08-06T11:35:12.053" v="15" actId="20577"/>
        <pc:sldMkLst>
          <pc:docMk/>
          <pc:sldMk cId="4162507869" sldId="259"/>
        </pc:sldMkLst>
        <pc:spChg chg="mod">
          <ac:chgData name="Fauve Duprez" userId="59fdc1fb-507d-4cdb-a31c-e3fd651e0acf" providerId="ADAL" clId="{F0E4E960-47E7-449A-B0F6-6B92FE10829E}" dt="2024-08-06T11:35:12.053" v="15" actId="20577"/>
          <ac:spMkLst>
            <pc:docMk/>
            <pc:sldMk cId="4162507869" sldId="259"/>
            <ac:spMk id="3" creationId="{70FE6360-0905-4150-BEDD-4BF877AD22CF}"/>
          </ac:spMkLst>
        </pc:spChg>
      </pc:sldChg>
      <pc:sldChg chg="modSp mod">
        <pc:chgData name="Fauve Duprez" userId="59fdc1fb-507d-4cdb-a31c-e3fd651e0acf" providerId="ADAL" clId="{F0E4E960-47E7-449A-B0F6-6B92FE10829E}" dt="2024-08-06T11:35:16.088" v="16" actId="20577"/>
        <pc:sldMkLst>
          <pc:docMk/>
          <pc:sldMk cId="4021574165" sldId="1721"/>
        </pc:sldMkLst>
        <pc:spChg chg="mod">
          <ac:chgData name="Fauve Duprez" userId="59fdc1fb-507d-4cdb-a31c-e3fd651e0acf" providerId="ADAL" clId="{F0E4E960-47E7-449A-B0F6-6B92FE10829E}" dt="2024-08-06T11:35:16.088" v="16" actId="20577"/>
          <ac:spMkLst>
            <pc:docMk/>
            <pc:sldMk cId="4021574165" sldId="1721"/>
            <ac:spMk id="4" creationId="{AFADBEE7-7DB1-4468-A19F-EE1EC696AF82}"/>
          </ac:spMkLst>
        </pc:spChg>
      </pc:sldChg>
      <pc:sldChg chg="modSp mod">
        <pc:chgData name="Fauve Duprez" userId="59fdc1fb-507d-4cdb-a31c-e3fd651e0acf" providerId="ADAL" clId="{F0E4E960-47E7-449A-B0F6-6B92FE10829E}" dt="2024-08-06T11:35:21.402" v="17" actId="20577"/>
        <pc:sldMkLst>
          <pc:docMk/>
          <pc:sldMk cId="2357406962" sldId="1769"/>
        </pc:sldMkLst>
        <pc:spChg chg="mod">
          <ac:chgData name="Fauve Duprez" userId="59fdc1fb-507d-4cdb-a31c-e3fd651e0acf" providerId="ADAL" clId="{F0E4E960-47E7-449A-B0F6-6B92FE10829E}" dt="2024-08-06T11:35:21.402" v="17" actId="20577"/>
          <ac:spMkLst>
            <pc:docMk/>
            <pc:sldMk cId="2357406962" sldId="1769"/>
            <ac:spMk id="4" creationId="{AFADBEE7-7DB1-4468-A19F-EE1EC696AF82}"/>
          </ac:spMkLst>
        </pc:spChg>
      </pc:sldChg>
    </pc:docChg>
  </pc:docChgLst>
  <pc:docChgLst>
    <pc:chgData name="Fauve Duprez" userId="59fdc1fb-507d-4cdb-a31c-e3fd651e0acf" providerId="ADAL" clId="{33FD18AF-CD15-4E06-8D98-567C798FCFA1}"/>
    <pc:docChg chg="custSel modSld">
      <pc:chgData name="Fauve Duprez" userId="59fdc1fb-507d-4cdb-a31c-e3fd651e0acf" providerId="ADAL" clId="{33FD18AF-CD15-4E06-8D98-567C798FCFA1}" dt="2024-11-26T10:03:59.463" v="5" actId="478"/>
      <pc:docMkLst>
        <pc:docMk/>
      </pc:docMkLst>
      <pc:sldChg chg="modSp mod modCm">
        <pc:chgData name="Fauve Duprez" userId="59fdc1fb-507d-4cdb-a31c-e3fd651e0acf" providerId="ADAL" clId="{33FD18AF-CD15-4E06-8D98-567C798FCFA1}" dt="2024-11-26T10:03:33.741" v="3" actId="20577"/>
        <pc:sldMkLst>
          <pc:docMk/>
          <pc:sldMk cId="4162507869" sldId="259"/>
        </pc:sldMkLst>
        <pc:spChg chg="mod">
          <ac:chgData name="Fauve Duprez" userId="59fdc1fb-507d-4cdb-a31c-e3fd651e0acf" providerId="ADAL" clId="{33FD18AF-CD15-4E06-8D98-567C798FCFA1}" dt="2024-11-26T10:03:33.741" v="3" actId="20577"/>
          <ac:spMkLst>
            <pc:docMk/>
            <pc:sldMk cId="4162507869" sldId="259"/>
            <ac:spMk id="2" creationId="{1D528B7A-3168-440C-A60C-A036931164EC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auve Duprez" userId="59fdc1fb-507d-4cdb-a31c-e3fd651e0acf" providerId="ADAL" clId="{33FD18AF-CD15-4E06-8D98-567C798FCFA1}" dt="2024-11-26T10:03:33.741" v="3" actId="20577"/>
              <pc2:cmMkLst xmlns:pc2="http://schemas.microsoft.com/office/powerpoint/2019/9/main/command">
                <pc:docMk/>
                <pc:sldMk cId="4162507869" sldId="259"/>
                <pc2:cmMk id="{27177015-3AFE-4D22-8EA5-2B3178A72C4F}"/>
              </pc2:cmMkLst>
            </pc226:cmChg>
          </p:ext>
        </pc:extLst>
      </pc:sldChg>
      <pc:sldChg chg="delSp mod">
        <pc:chgData name="Fauve Duprez" userId="59fdc1fb-507d-4cdb-a31c-e3fd651e0acf" providerId="ADAL" clId="{33FD18AF-CD15-4E06-8D98-567C798FCFA1}" dt="2024-11-26T10:03:53.489" v="4" actId="478"/>
        <pc:sldMkLst>
          <pc:docMk/>
          <pc:sldMk cId="3575049609" sldId="272"/>
        </pc:sldMkLst>
        <pc:spChg chg="del">
          <ac:chgData name="Fauve Duprez" userId="59fdc1fb-507d-4cdb-a31c-e3fd651e0acf" providerId="ADAL" clId="{33FD18AF-CD15-4E06-8D98-567C798FCFA1}" dt="2024-11-26T10:03:53.489" v="4" actId="478"/>
          <ac:spMkLst>
            <pc:docMk/>
            <pc:sldMk cId="3575049609" sldId="272"/>
            <ac:spMk id="5" creationId="{3807F7A6-2B20-426F-A58D-B06A18042E01}"/>
          </ac:spMkLst>
        </pc:spChg>
      </pc:sldChg>
      <pc:sldChg chg="delSp mod">
        <pc:chgData name="Fauve Duprez" userId="59fdc1fb-507d-4cdb-a31c-e3fd651e0acf" providerId="ADAL" clId="{33FD18AF-CD15-4E06-8D98-567C798FCFA1}" dt="2024-11-26T10:03:59.463" v="5" actId="478"/>
        <pc:sldMkLst>
          <pc:docMk/>
          <pc:sldMk cId="3755024087" sldId="1985"/>
        </pc:sldMkLst>
        <pc:spChg chg="del">
          <ac:chgData name="Fauve Duprez" userId="59fdc1fb-507d-4cdb-a31c-e3fd651e0acf" providerId="ADAL" clId="{33FD18AF-CD15-4E06-8D98-567C798FCFA1}" dt="2024-11-26T10:03:59.463" v="5" actId="478"/>
          <ac:spMkLst>
            <pc:docMk/>
            <pc:sldMk cId="3755024087" sldId="1985"/>
            <ac:spMk id="5" creationId="{3807F7A6-2B20-426F-A58D-B06A18042E0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62FC35-6E1B-4E70-B4A8-2E17764112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783509-45F4-4A33-B377-E4DC335B00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31CA1-EEC8-4E8D-8F53-590E0F5759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6E2CA-99BE-4DC0-9A95-E0C0A0CA930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36104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80C0C-85DF-417F-8238-DB0D15743621}" type="datetimeFigureOut">
              <a:rPr lang="en-GB" smtClean="0"/>
              <a:t>26/11/2024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A0A48-EDB1-4AFE-B1B7-10CE2A41649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01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887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464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3200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402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rpora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4F84-246C-4657-8172-1E2969D0F603}" type="datetime1">
              <a:rPr lang="en-GB" smtClean="0"/>
              <a:t>26/11/2024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‹nr.›</a:t>
            </a:fld>
            <a:endParaRPr lang="en-GB"/>
          </a:p>
        </p:txBody>
      </p:sp>
      <p:pic>
        <p:nvPicPr>
          <p:cNvPr id="6" name="Logo Large EN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747" y="2283675"/>
            <a:ext cx="4800610" cy="417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36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295684"/>
            <a:ext cx="17338675" cy="560271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12340" y="2298145"/>
            <a:ext cx="12742426" cy="2359800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4400" b="1" u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283414" y="6874716"/>
            <a:ext cx="15191026" cy="583200"/>
          </a:xfrm>
        </p:spPr>
        <p:txBody>
          <a:bodyPr>
            <a:normAutofit/>
          </a:bodyPr>
          <a:lstStyle>
            <a:lvl1pPr marL="0" indent="0" algn="l">
              <a:lnSpc>
                <a:spcPts val="3600"/>
              </a:lnSpc>
              <a:buNone/>
              <a:defRPr sz="2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50184" indent="0" algn="ctr">
              <a:buNone/>
              <a:defRPr sz="2844"/>
            </a:lvl2pPr>
            <a:lvl3pPr marL="1300368" indent="0" algn="ctr">
              <a:buNone/>
              <a:defRPr sz="2560"/>
            </a:lvl3pPr>
            <a:lvl4pPr marL="1950552" indent="0" algn="ctr">
              <a:buNone/>
              <a:defRPr sz="2275"/>
            </a:lvl4pPr>
            <a:lvl5pPr marL="2600736" indent="0" algn="ctr">
              <a:buNone/>
              <a:defRPr sz="2275"/>
            </a:lvl5pPr>
            <a:lvl6pPr marL="3250921" indent="0" algn="ctr">
              <a:buNone/>
              <a:defRPr sz="2275"/>
            </a:lvl6pPr>
            <a:lvl7pPr marL="3901105" indent="0" algn="ctr">
              <a:buNone/>
              <a:defRPr sz="2275"/>
            </a:lvl7pPr>
            <a:lvl8pPr marL="4551289" indent="0" algn="ctr">
              <a:buNone/>
              <a:defRPr sz="2275"/>
            </a:lvl8pPr>
            <a:lvl9pPr marL="5201473" indent="0" algn="ctr">
              <a:buNone/>
              <a:defRPr sz="2275"/>
            </a:lvl9pPr>
          </a:lstStyle>
          <a:p>
            <a:r>
              <a:rPr lang="en-GB" noProof="0" dirty="0"/>
              <a:t>Click to add subtitle / presenter / date [</a:t>
            </a:r>
            <a:r>
              <a:rPr lang="en-GB" noProof="0" dirty="0" err="1"/>
              <a:t>dd</a:t>
            </a:r>
            <a:r>
              <a:rPr lang="en-GB" noProof="0" dirty="0"/>
              <a:t>-mm-</a:t>
            </a:r>
            <a:r>
              <a:rPr lang="en-GB" noProof="0" dirty="0" err="1"/>
              <a:t>yyyy</a:t>
            </a:r>
            <a:r>
              <a:rPr lang="en-GB" noProof="0" dirty="0"/>
              <a:t>]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6408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ranisation Placeholder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4108537" y="350729"/>
            <a:ext cx="12841549" cy="671961"/>
          </a:xfrm>
        </p:spPr>
        <p:txBody>
          <a:bodyPr anchor="b" anchorCtr="0">
            <a:normAutofit/>
          </a:bodyPr>
          <a:lstStyle>
            <a:lvl1pPr>
              <a:lnSpc>
                <a:spcPts val="1700"/>
              </a:lnSpc>
              <a:defRPr sz="3400" b="1" i="0" u="sng" cap="small" baseline="0">
                <a:solidFill>
                  <a:srgbClr val="003366"/>
                </a:solidFill>
                <a:uFill>
                  <a:solidFill>
                    <a:schemeClr val="bg1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ts val="1700"/>
              </a:lnSpc>
              <a:buNone/>
              <a:defRPr sz="1400" cap="all" baseline="0">
                <a:solidFill>
                  <a:srgbClr val="1E64C8"/>
                </a:solidFill>
              </a:defRPr>
            </a:lvl2pPr>
          </a:lstStyle>
          <a:p>
            <a:pPr lvl="0"/>
            <a:r>
              <a:rPr lang="en-GB" noProof="0" dirty="0"/>
              <a:t>Click to edit organisation styles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9871DE22-9699-4EAF-9087-24565B509F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7" y="-1248325"/>
            <a:ext cx="3312270" cy="467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14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0"/>
            <a:ext cx="16424275" cy="7898400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3246120"/>
            <a:ext cx="15183366" cy="4436316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10000" u="sng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</a:defRPr>
            </a:lvl1pPr>
          </a:lstStyle>
          <a:p>
            <a:r>
              <a:rPr lang="en-GB" noProof="0" dirty="0"/>
              <a:t>Click to add chapter title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7344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9473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B8233FCF-C78E-47A1-9466-4CB05FC00861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2" name="Logo Large EN">
            <a:extLst>
              <a:ext uri="{FF2B5EF4-FFF2-40B4-BE49-F238E27FC236}">
                <a16:creationId xmlns:a16="http://schemas.microsoft.com/office/drawing/2014/main" id="{DD11DB78-BA8F-4D35-9786-54E14B77F9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295" y="123499"/>
            <a:ext cx="14951312" cy="949564"/>
          </a:xfrm>
        </p:spPr>
        <p:txBody>
          <a:bodyPr/>
          <a:lstStyle>
            <a:lvl1pPr>
              <a:defRPr sz="3600" b="1" u="none" cap="small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6864264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 dirty="0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2331721" y="8981161"/>
            <a:ext cx="13722366" cy="475989"/>
          </a:xfrm>
        </p:spPr>
        <p:txBody>
          <a:bodyPr>
            <a:normAutofit/>
          </a:bodyPr>
          <a:lstStyle>
            <a:lvl1pPr marL="86400" indent="0" defTabSz="457200">
              <a:lnSpc>
                <a:spcPct val="120000"/>
              </a:lnSpc>
              <a:buFont typeface="Wingdings" panose="05000000000000000000" pitchFamily="2" charset="2"/>
              <a:buNone/>
              <a:defRPr sz="1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04DC89-525A-4773-B9DF-6BE1A717F802}"/>
              </a:ext>
            </a:extLst>
          </p:cNvPr>
          <p:cNvCxnSpPr>
            <a:cxnSpLocks/>
          </p:cNvCxnSpPr>
          <p:nvPr userDrawn="1"/>
        </p:nvCxnSpPr>
        <p:spPr>
          <a:xfrm>
            <a:off x="327069" y="1445550"/>
            <a:ext cx="16741731" cy="0"/>
          </a:xfrm>
          <a:prstGeom prst="line">
            <a:avLst/>
          </a:prstGeom>
          <a:ln w="3175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Afbeelding 7">
            <a:extLst>
              <a:ext uri="{FF2B5EF4-FFF2-40B4-BE49-F238E27FC236}">
                <a16:creationId xmlns:a16="http://schemas.microsoft.com/office/drawing/2014/main" id="{9811080D-4FB2-4915-B4B2-1D8BF0E329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57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>
            <a:extLst>
              <a:ext uri="{FF2B5EF4-FFF2-40B4-BE49-F238E27FC236}">
                <a16:creationId xmlns:a16="http://schemas.microsoft.com/office/drawing/2014/main" id="{1541393E-7C09-4F12-9A9E-C6211FF6E487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295" y="123499"/>
            <a:ext cx="14951312" cy="949564"/>
          </a:xfrm>
        </p:spPr>
        <p:txBody>
          <a:bodyPr/>
          <a:lstStyle>
            <a:lvl1pPr>
              <a:defRPr sz="3600" b="1" u="none" cap="small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469" y="1816273"/>
            <a:ext cx="16960241" cy="3728000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04DC89-525A-4773-B9DF-6BE1A717F802}"/>
              </a:ext>
            </a:extLst>
          </p:cNvPr>
          <p:cNvCxnSpPr/>
          <p:nvPr userDrawn="1"/>
        </p:nvCxnSpPr>
        <p:spPr>
          <a:xfrm>
            <a:off x="225469" y="1445550"/>
            <a:ext cx="16843331" cy="0"/>
          </a:xfrm>
          <a:prstGeom prst="line">
            <a:avLst/>
          </a:prstGeom>
          <a:ln w="3175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DAFB28A-E25C-4EFF-86F3-CD019B10E7E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984111" y="5790327"/>
            <a:ext cx="11201599" cy="3728000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7DEC767-42CA-4CD2-93FA-ED79D87A32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  <p:pic>
        <p:nvPicPr>
          <p:cNvPr id="12" name="Logo Large EN">
            <a:extLst>
              <a:ext uri="{FF2B5EF4-FFF2-40B4-BE49-F238E27FC236}">
                <a16:creationId xmlns:a16="http://schemas.microsoft.com/office/drawing/2014/main" id="{5277E93A-7FD9-4EF3-905C-6DF250A268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75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7FFFB7AB-BA76-46AF-8C93-349C899E640D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4" name="Logo Large EN">
            <a:extLst>
              <a:ext uri="{FF2B5EF4-FFF2-40B4-BE49-F238E27FC236}">
                <a16:creationId xmlns:a16="http://schemas.microsoft.com/office/drawing/2014/main" id="{493A8D34-0286-4693-9124-6D5814F04F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6900" y="136025"/>
            <a:ext cx="15323820" cy="1062772"/>
          </a:xfrm>
        </p:spPr>
        <p:txBody>
          <a:bodyPr/>
          <a:lstStyle>
            <a:lvl1pPr>
              <a:defRPr sz="3400" b="1" u="none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ADBF0-A618-4E69-83BB-0C41E08702AA}" type="datetime1">
              <a:rPr lang="en-GB" noProof="0" smtClean="0"/>
              <a:t>26/11/2024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0618004" y="1741118"/>
            <a:ext cx="6300000" cy="6450904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Photo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84888" y="1791222"/>
            <a:ext cx="9498148" cy="6412292"/>
          </a:xfrm>
        </p:spPr>
        <p:txBody>
          <a:bodyPr>
            <a:normAutofit/>
          </a:bodyPr>
          <a:lstStyle>
            <a:lvl1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7E4AD1-092F-4246-B8DF-50863AA501DE}"/>
              </a:ext>
            </a:extLst>
          </p:cNvPr>
          <p:cNvCxnSpPr/>
          <p:nvPr userDrawn="1"/>
        </p:nvCxnSpPr>
        <p:spPr>
          <a:xfrm>
            <a:off x="225469" y="1422400"/>
            <a:ext cx="16843331" cy="0"/>
          </a:xfrm>
          <a:prstGeom prst="line">
            <a:avLst/>
          </a:prstGeom>
          <a:ln w="317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Afbeelding 9">
            <a:extLst>
              <a:ext uri="{FF2B5EF4-FFF2-40B4-BE49-F238E27FC236}">
                <a16:creationId xmlns:a16="http://schemas.microsoft.com/office/drawing/2014/main" id="{067956E7-09EC-49DF-8978-D863564898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887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C3CC51D8-D8AC-457C-9F02-366E63E6A03C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9" name="Logo Large EN">
            <a:extLst>
              <a:ext uri="{FF2B5EF4-FFF2-40B4-BE49-F238E27FC236}">
                <a16:creationId xmlns:a16="http://schemas.microsoft.com/office/drawing/2014/main" id="{5641CB9D-E30E-4DBA-83E7-A4B3DBE607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43E58-CDC3-4782-B82C-4D381C795B98}" type="datetime1">
              <a:rPr lang="en-GB" noProof="0" smtClean="0"/>
              <a:t>26/11/2024</a:t>
            </a:fld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952038" y="1371600"/>
            <a:ext cx="15480000" cy="6501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3745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5D1-804F-429B-83CD-3EFA8410E123}" type="datetime1">
              <a:rPr lang="en-GB" smtClean="0"/>
              <a:t>26/11/2024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vering Background"/>
          <p:cNvSpPr/>
          <p:nvPr userDrawn="1"/>
        </p:nvSpPr>
        <p:spPr>
          <a:xfrm>
            <a:off x="-1" y="0"/>
            <a:ext cx="17337600" cy="9753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7337600" cy="9753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949418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1393200"/>
            <a:ext cx="16424275" cy="6505200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1743240"/>
            <a:ext cx="15183366" cy="5769600"/>
          </a:xfrm>
        </p:spPr>
        <p:txBody>
          <a:bodyPr anchor="t" anchorCtr="0">
            <a:noAutofit/>
          </a:bodyPr>
          <a:lstStyle>
            <a:lvl1pPr algn="l">
              <a:lnSpc>
                <a:spcPts val="3500"/>
              </a:lnSpc>
              <a:defRPr sz="2500" u="none" cap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+mn-lt"/>
              </a:defRPr>
            </a:lvl1pPr>
          </a:lstStyle>
          <a:p>
            <a:r>
              <a:rPr lang="en-GB" noProof="0" dirty="0"/>
              <a:t>Click to add presenters contact data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1828800"/>
            <a:ext cx="15012000" cy="599976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ijdelijke aanduiding voor tekst 4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9215999" y="3095999"/>
            <a:ext cx="7257600" cy="1717969"/>
          </a:xfrm>
        </p:spPr>
        <p:txBody>
          <a:bodyPr>
            <a:normAutofit/>
          </a:bodyPr>
          <a:lstStyle>
            <a:lvl1pPr>
              <a:lnSpc>
                <a:spcPts val="35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add social media names</a:t>
            </a:r>
            <a:endParaRPr lang="nl-NL" dirty="0"/>
          </a:p>
        </p:txBody>
      </p:sp>
      <p:pic>
        <p:nvPicPr>
          <p:cNvPr id="16" name="Afbeelding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" y="0"/>
            <a:ext cx="3714979" cy="13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7857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0118" y="136025"/>
            <a:ext cx="15705282" cy="86369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825" y="1194364"/>
            <a:ext cx="15699575" cy="669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72394" y="8948703"/>
            <a:ext cx="229792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BA3CA-1064-434F-B179-AB3B0298C0D6}" type="datetime1">
              <a:rPr lang="en-GB" noProof="0" smtClean="0"/>
              <a:t>26/11/2024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10236" y="8994423"/>
            <a:ext cx="8353564" cy="437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 dirty="0"/>
          </a:p>
        </p:txBody>
      </p:sp>
      <p:sp>
        <p:nvSpPr>
          <p:cNvPr id="7" name="Title positioning box" hidden="1"/>
          <p:cNvSpPr/>
          <p:nvPr/>
        </p:nvSpPr>
        <p:spPr>
          <a:xfrm>
            <a:off x="927265" y="367200"/>
            <a:ext cx="15480000" cy="463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ositoning box" hidden="1"/>
          <p:cNvSpPr/>
          <p:nvPr/>
        </p:nvSpPr>
        <p:spPr>
          <a:xfrm>
            <a:off x="927265" y="1584000"/>
            <a:ext cx="82296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ogo positioning box" hidden="1"/>
          <p:cNvSpPr/>
          <p:nvPr/>
        </p:nvSpPr>
        <p:spPr>
          <a:xfrm flipV="1">
            <a:off x="928800" y="7878842"/>
            <a:ext cx="15478465" cy="141635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ositoning box" hidden="1"/>
          <p:cNvSpPr/>
          <p:nvPr/>
        </p:nvSpPr>
        <p:spPr>
          <a:xfrm>
            <a:off x="9172105" y="1584000"/>
            <a:ext cx="9144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ositoning box" hidden="1"/>
          <p:cNvSpPr/>
          <p:nvPr/>
        </p:nvSpPr>
        <p:spPr>
          <a:xfrm>
            <a:off x="10099369" y="1356360"/>
            <a:ext cx="6307895" cy="6527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Logo EN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909180"/>
            <a:ext cx="2307600" cy="184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8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73" r:id="rId3"/>
    <p:sldLayoutId id="2147483662" r:id="rId4"/>
    <p:sldLayoutId id="2147483678" r:id="rId5"/>
    <p:sldLayoutId id="2147483674" r:id="rId6"/>
    <p:sldLayoutId id="2147483666" r:id="rId7"/>
    <p:sldLayoutId id="2147483675" r:id="rId8"/>
    <p:sldLayoutId id="2147483676" r:id="rId9"/>
  </p:sldLayoutIdLst>
  <p:hf hdr="0" ftr="0" dt="0"/>
  <p:txStyles>
    <p:titleStyle>
      <a:lvl1pPr algn="l" defTabSz="1300368" rtl="0" eaLnBrk="1" latinLnBrk="0" hangingPunct="1">
        <a:lnSpc>
          <a:spcPct val="90000"/>
        </a:lnSpc>
        <a:spcBef>
          <a:spcPct val="0"/>
        </a:spcBef>
        <a:buNone/>
        <a:defRPr sz="5400" u="sng" kern="1200" cap="all" baseline="0">
          <a:solidFill>
            <a:srgbClr val="1E64C8"/>
          </a:solidFill>
          <a:uFill>
            <a:solidFill>
              <a:srgbClr val="1E64C8"/>
            </a:solidFill>
          </a:uFill>
          <a:latin typeface="+mj-lt"/>
          <a:ea typeface="+mj-ea"/>
          <a:cs typeface="+mj-cs"/>
        </a:defRPr>
      </a:lvl1pPr>
    </p:titleStyle>
    <p:bodyStyle>
      <a:lvl1pPr marL="0" indent="0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360000" algn="l" defTabSz="4572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̶"/>
        <a:tabLst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45878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1450" indent="-54133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325" indent="-1158875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6013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197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381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565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184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368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552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736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921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105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289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473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134" y="3289819"/>
            <a:ext cx="16023586" cy="2359800"/>
          </a:xfrm>
        </p:spPr>
        <p:txBody>
          <a:bodyPr/>
          <a:lstStyle/>
          <a:p>
            <a:r>
              <a:rPr lang="nl-BE" dirty="0" err="1"/>
              <a:t>Spss</a:t>
            </a:r>
            <a:r>
              <a:rPr lang="nl-BE" dirty="0"/>
              <a:t>-werkcollege 5 (28/11) </a:t>
            </a:r>
            <a:br>
              <a:rPr lang="nl-BE" dirty="0"/>
            </a:br>
            <a:endParaRPr lang="nl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E6360-0905-4150-BEDD-4BF877AD22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Assistent Fauve Duprez						AJ 2024-2025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Toegepaste data-analyse en rapportage</a:t>
            </a:r>
          </a:p>
        </p:txBody>
      </p:sp>
    </p:spTree>
    <p:extLst>
      <p:ext uri="{BB962C8B-B14F-4D97-AF65-F5344CB8AC3E}">
        <p14:creationId xmlns:p14="http://schemas.microsoft.com/office/powerpoint/2010/main" val="4162507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 dirty="0"/>
              <a:t>H11 twee OF MEER gemiddelden vergelijken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SPSS-WERKCOLLEGE 5</a:t>
            </a:r>
          </a:p>
        </p:txBody>
      </p:sp>
    </p:spTree>
    <p:extLst>
      <p:ext uri="{BB962C8B-B14F-4D97-AF65-F5344CB8AC3E}">
        <p14:creationId xmlns:p14="http://schemas.microsoft.com/office/powerpoint/2010/main" val="4021574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46417C-7983-4933-A24B-130127A2F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79653B5-31CC-4B30-84DF-73319A19B7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7069" y="1816272"/>
                <a:ext cx="16858641" cy="7327727"/>
              </a:xfrm>
            </p:spPr>
            <p:txBody>
              <a:bodyPr>
                <a:normAutofit/>
              </a:bodyPr>
              <a:lstStyle/>
              <a:p>
                <a:pPr marL="86400" indent="0">
                  <a:buNone/>
                </a:pPr>
                <a:r>
                  <a:rPr lang="nl-BE" b="1" dirty="0"/>
                  <a:t>Vorige week: verschil tussen max. </a:t>
                </a:r>
                <a:r>
                  <a:rPr lang="nl-BE" b="1" u="sng" dirty="0"/>
                  <a:t>twee</a:t>
                </a:r>
                <a:r>
                  <a:rPr lang="nl-BE" b="1" dirty="0"/>
                  <a:t> groepen toetsen</a:t>
                </a:r>
              </a:p>
              <a:p>
                <a:r>
                  <a:rPr lang="nl-BE" dirty="0"/>
                  <a:t>t-toetsen</a:t>
                </a:r>
              </a:p>
              <a:p>
                <a:pPr lvl="1"/>
                <a:r>
                  <a:rPr lang="nl-BE" dirty="0"/>
                  <a:t>Twee gemiddelden vergelijken</a:t>
                </a:r>
              </a:p>
              <a:p>
                <a:pPr lvl="1"/>
                <a:r>
                  <a:rPr lang="nl-NL" dirty="0"/>
                  <a:t>Hypothese: 		H</a:t>
                </a:r>
                <a:r>
                  <a:rPr lang="nl-NL" baseline="-25000" dirty="0"/>
                  <a:t>0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nl-BE" baseline="-25000" dirty="0"/>
                  <a:t>1 </a:t>
                </a:r>
                <a:r>
                  <a:rPr lang="nl-NL" dirty="0"/>
                  <a:t>=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nl-BE" baseline="-25000" dirty="0"/>
                  <a:t>2 </a:t>
                </a:r>
                <a:br>
                  <a:rPr lang="nl-BE" baseline="-25000" dirty="0"/>
                </a:br>
                <a:r>
                  <a:rPr lang="nl-NL" dirty="0"/>
                  <a:t>							H</a:t>
                </a:r>
                <a:r>
                  <a:rPr lang="nl-NL" baseline="-25000" dirty="0"/>
                  <a:t>A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nl-BE" baseline="-25000" dirty="0"/>
                  <a:t>1 </a:t>
                </a:r>
                <a:r>
                  <a:rPr lang="nl-NL" dirty="0"/>
                  <a:t>≠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nl-BE" baseline="-25000" dirty="0"/>
                  <a:t>2 </a:t>
                </a:r>
                <a:endParaRPr lang="nl-NL" baseline="-25000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79653B5-31CC-4B30-84DF-73319A19B7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069" y="1816272"/>
                <a:ext cx="16858641" cy="7327727"/>
              </a:xfrm>
              <a:blipFill>
                <a:blip r:embed="rId2"/>
                <a:stretch>
                  <a:fillRect l="-253" t="-49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4374D4C-6505-4CF5-A6BD-81EDD632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75049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46417C-7983-4933-A24B-130127A2F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79653B5-31CC-4B30-84DF-73319A19B7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7069" y="1816272"/>
                <a:ext cx="16858641" cy="7327727"/>
              </a:xfrm>
            </p:spPr>
            <p:txBody>
              <a:bodyPr>
                <a:normAutofit/>
              </a:bodyPr>
              <a:lstStyle/>
              <a:p>
                <a:pPr marL="86400" indent="0">
                  <a:buNone/>
                </a:pPr>
                <a:r>
                  <a:rPr lang="nl-BE" b="1" dirty="0"/>
                  <a:t>Vorige week: verschil tussen max. </a:t>
                </a:r>
                <a:r>
                  <a:rPr lang="nl-BE" b="1" u="sng" dirty="0"/>
                  <a:t>twee</a:t>
                </a:r>
                <a:r>
                  <a:rPr lang="nl-BE" b="1" dirty="0"/>
                  <a:t> groepen toetsen</a:t>
                </a:r>
              </a:p>
              <a:p>
                <a:r>
                  <a:rPr lang="nl-BE" dirty="0"/>
                  <a:t>t-toetsen</a:t>
                </a:r>
              </a:p>
              <a:p>
                <a:pPr lvl="1"/>
                <a:r>
                  <a:rPr lang="nl-BE" dirty="0"/>
                  <a:t>Twee gemiddelden vergelijken</a:t>
                </a:r>
              </a:p>
              <a:p>
                <a:pPr lvl="1"/>
                <a:r>
                  <a:rPr lang="nl-NL" dirty="0"/>
                  <a:t>Hypothese: 		H</a:t>
                </a:r>
                <a:r>
                  <a:rPr lang="nl-NL" baseline="-25000" dirty="0"/>
                  <a:t>0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nl-BE" baseline="-25000" dirty="0"/>
                  <a:t>1 </a:t>
                </a:r>
                <a:r>
                  <a:rPr lang="nl-NL" dirty="0"/>
                  <a:t>=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nl-BE" baseline="-25000" dirty="0"/>
                  <a:t>2 </a:t>
                </a:r>
                <a:br>
                  <a:rPr lang="nl-BE" baseline="-25000" dirty="0"/>
                </a:br>
                <a:r>
                  <a:rPr lang="nl-NL" dirty="0"/>
                  <a:t>							H</a:t>
                </a:r>
                <a:r>
                  <a:rPr lang="nl-NL" baseline="-25000" dirty="0"/>
                  <a:t>A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nl-BE" baseline="-25000" dirty="0"/>
                  <a:t>1 </a:t>
                </a:r>
                <a:r>
                  <a:rPr lang="nl-NL" dirty="0"/>
                  <a:t>≠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nl-BE" baseline="-25000" dirty="0"/>
                  <a:t>2 </a:t>
                </a:r>
                <a:endParaRPr lang="nl-NL" baseline="-25000" dirty="0"/>
              </a:p>
              <a:p>
                <a:pPr marL="86400" indent="0">
                  <a:buNone/>
                </a:pPr>
                <a:r>
                  <a:rPr lang="nl-NL" b="1" dirty="0"/>
                  <a:t>Vandaag: verschil tussen </a:t>
                </a:r>
                <a:r>
                  <a:rPr lang="nl-NL" b="1" u="sng" dirty="0"/>
                  <a:t>twee of meer</a:t>
                </a:r>
                <a:r>
                  <a:rPr lang="nl-NL" b="1" dirty="0"/>
                  <a:t> groepen toetsen</a:t>
                </a:r>
                <a:endParaRPr lang="nl-BE" b="1" dirty="0"/>
              </a:p>
              <a:p>
                <a:r>
                  <a:rPr lang="nl-BE" b="1" dirty="0"/>
                  <a:t>Variantieanalyse of ANOVA (</a:t>
                </a:r>
                <a:r>
                  <a:rPr lang="nl-BE" b="1" u="sng" dirty="0"/>
                  <a:t>An</a:t>
                </a:r>
                <a:r>
                  <a:rPr lang="nl-BE" b="1" dirty="0"/>
                  <a:t>alysis </a:t>
                </a:r>
                <a:r>
                  <a:rPr lang="nl-BE" b="1" u="sng" dirty="0"/>
                  <a:t>O</a:t>
                </a:r>
                <a:r>
                  <a:rPr lang="nl-BE" b="1" dirty="0"/>
                  <a:t>f </a:t>
                </a:r>
                <a:r>
                  <a:rPr lang="nl-BE" b="1" u="sng" dirty="0" err="1"/>
                  <a:t>Va</a:t>
                </a:r>
                <a:r>
                  <a:rPr lang="nl-BE" b="1" dirty="0" err="1"/>
                  <a:t>riance</a:t>
                </a:r>
                <a:r>
                  <a:rPr lang="nl-BE" b="1" dirty="0"/>
                  <a:t>)</a:t>
                </a:r>
              </a:p>
              <a:p>
                <a:pPr lvl="1"/>
                <a:r>
                  <a:rPr lang="nl-BE" dirty="0"/>
                  <a:t>Varianties van twee of meer groepen vergelijken</a:t>
                </a:r>
              </a:p>
              <a:p>
                <a:pPr lvl="2"/>
                <a:r>
                  <a:rPr lang="nl-BE" dirty="0"/>
                  <a:t>Hiermee uitspraken doen over de gemiddelden van die groepen</a:t>
                </a:r>
              </a:p>
              <a:p>
                <a:pPr lvl="1"/>
                <a:r>
                  <a:rPr lang="nl-NL" dirty="0"/>
                  <a:t>Hypothese: 		H</a:t>
                </a:r>
                <a:r>
                  <a:rPr lang="nl-NL" baseline="-25000" dirty="0"/>
                  <a:t>0</a:t>
                </a:r>
                <a:r>
                  <a:rPr lang="nl-NL" dirty="0"/>
                  <a:t>: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nl-BE" baseline="-25000" dirty="0"/>
                  <a:t>1 </a:t>
                </a:r>
                <a:r>
                  <a:rPr lang="nl-NL" dirty="0"/>
                  <a:t>=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nl-BE" baseline="-25000" dirty="0"/>
                  <a:t>2 </a:t>
                </a:r>
                <a:r>
                  <a:rPr lang="nl-NL" dirty="0">
                    <a:sym typeface="Symbol" panose="05050102010706020507" pitchFamily="18" charset="2"/>
                  </a:rPr>
                  <a:t>	= … =</a:t>
                </a:r>
                <a:r>
                  <a:rPr lang="nl-BE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nl-NL" baseline="-25000" dirty="0">
                    <a:sym typeface="Symbol" panose="05050102010706020507" pitchFamily="18" charset="2"/>
                  </a:rPr>
                  <a:t>n</a:t>
                </a:r>
                <a:r>
                  <a:rPr lang="nl-NL" dirty="0">
                    <a:sym typeface="Symbol" panose="05050102010706020507" pitchFamily="18" charset="2"/>
                  </a:rPr>
                  <a:t>		met n = aantal groepen</a:t>
                </a:r>
                <a:endParaRPr lang="nl-NL" baseline="-25000" dirty="0"/>
              </a:p>
              <a:p>
                <a:pPr lvl="2"/>
                <a:endParaRPr lang="nl-NL" baseline="-25000" dirty="0"/>
              </a:p>
              <a:p>
                <a:pPr marL="86400" indent="0">
                  <a:buNone/>
                </a:pPr>
                <a:r>
                  <a:rPr lang="nl-NL" dirty="0"/>
                  <a:t>									H</a:t>
                </a:r>
                <a:r>
                  <a:rPr lang="nl-NL" baseline="-25000" dirty="0"/>
                  <a:t>A</a:t>
                </a:r>
                <a:r>
                  <a:rPr lang="nl-NL" dirty="0"/>
                  <a:t>: </a:t>
                </a:r>
                <a:r>
                  <a:rPr lang="nl-NL" dirty="0">
                    <a:sym typeface="Symbol" panose="05050102010706020507" pitchFamily="18" charset="2"/>
                  </a:rPr>
                  <a:t> Niet alle gemiddelden zijn gelijk aan elkaar</a:t>
                </a:r>
                <a:endParaRPr lang="nl-NL" baseline="-25000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79653B5-31CC-4B30-84DF-73319A19B7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069" y="1816272"/>
                <a:ext cx="16858641" cy="7327727"/>
              </a:xfrm>
              <a:blipFill>
                <a:blip r:embed="rId2"/>
                <a:stretch>
                  <a:fillRect l="-253" t="-49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4374D4C-6505-4CF5-A6BD-81EDD632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4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55024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E63E2F-9678-4766-9681-C369B77D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681660-C845-4247-90A7-CA091A9A7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662526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 err="1"/>
              <a:t>ANOVA’s</a:t>
            </a:r>
            <a:endParaRPr lang="nl-BE" b="1" dirty="0"/>
          </a:p>
          <a:p>
            <a:r>
              <a:rPr lang="nl-BE" dirty="0"/>
              <a:t>Groep analysetechnieken</a:t>
            </a:r>
          </a:p>
          <a:p>
            <a:r>
              <a:rPr lang="nl-BE" b="1" dirty="0"/>
              <a:t>Verschillende types voor specifieke onderzoekssituaties</a:t>
            </a:r>
          </a:p>
          <a:p>
            <a:pPr lvl="1"/>
            <a:r>
              <a:rPr lang="nl-BE" dirty="0"/>
              <a:t>In hoorcollege: 4 types + 2 non-parametrische alternatieven</a:t>
            </a:r>
          </a:p>
          <a:p>
            <a:pPr lvl="1"/>
            <a:r>
              <a:rPr lang="nl-BE" dirty="0"/>
              <a:t>In dit werkcollege: 2 types en hun non-parametrisch alternatief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 err="1"/>
              <a:t>One</a:t>
            </a:r>
            <a:r>
              <a:rPr lang="nl-BE" dirty="0"/>
              <a:t>-way independent ANOVA</a:t>
            </a:r>
          </a:p>
          <a:p>
            <a:pPr marL="2393550" lvl="3" indent="-514350"/>
            <a:r>
              <a:rPr lang="nl-BE" dirty="0"/>
              <a:t>Kruskal-Wallis toets (non-parametrisch)</a:t>
            </a:r>
          </a:p>
          <a:p>
            <a:pPr marL="2393550" lvl="3" indent="-514350"/>
            <a:endParaRPr lang="nl-BE" dirty="0"/>
          </a:p>
          <a:p>
            <a:pPr marL="1821150" lvl="2" indent="-514350">
              <a:buFont typeface="+mj-lt"/>
              <a:buAutoNum type="arabicPeriod"/>
            </a:pPr>
            <a:r>
              <a:rPr lang="nl-BE" dirty="0" err="1"/>
              <a:t>One</a:t>
            </a:r>
            <a:r>
              <a:rPr lang="nl-BE" dirty="0"/>
              <a:t>-way </a:t>
            </a:r>
            <a:r>
              <a:rPr lang="nl-BE" dirty="0" err="1"/>
              <a:t>repeated</a:t>
            </a:r>
            <a:r>
              <a:rPr lang="nl-BE" dirty="0"/>
              <a:t> </a:t>
            </a:r>
            <a:r>
              <a:rPr lang="nl-BE" dirty="0" err="1"/>
              <a:t>measures</a:t>
            </a:r>
            <a:r>
              <a:rPr lang="nl-BE" dirty="0"/>
              <a:t> ANOVA</a:t>
            </a:r>
          </a:p>
          <a:p>
            <a:pPr marL="2393550" lvl="3" indent="-514350"/>
            <a:r>
              <a:rPr lang="nl-BE" dirty="0"/>
              <a:t>Friedman toets (non-parametrisch)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842D0B7-574A-49F6-9B15-0D588A4A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5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66250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E63E2F-9678-4766-9681-C369B77D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681660-C845-4247-90A7-CA091A9A7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662526"/>
          </a:xfrm>
        </p:spPr>
        <p:txBody>
          <a:bodyPr>
            <a:normAutofit lnSpcReduction="10000"/>
          </a:bodyPr>
          <a:lstStyle/>
          <a:p>
            <a:pPr marL="86400" indent="0">
              <a:buNone/>
            </a:pPr>
            <a:r>
              <a:rPr lang="nl-BE" b="1" dirty="0" err="1"/>
              <a:t>ANOVA’s</a:t>
            </a:r>
            <a:endParaRPr lang="nl-BE" b="1" dirty="0"/>
          </a:p>
          <a:p>
            <a:r>
              <a:rPr lang="nl-BE" dirty="0"/>
              <a:t>Groep analysetechnieken</a:t>
            </a:r>
          </a:p>
          <a:p>
            <a:r>
              <a:rPr lang="nl-BE" b="1" dirty="0"/>
              <a:t>Verschillende types voor specifieke onderzoekssituaties</a:t>
            </a:r>
          </a:p>
          <a:p>
            <a:pPr lvl="1"/>
            <a:r>
              <a:rPr lang="nl-BE" dirty="0"/>
              <a:t>In hoorcollege: 4 types + 2 non-parametrische alternatieven</a:t>
            </a:r>
          </a:p>
          <a:p>
            <a:pPr lvl="1"/>
            <a:r>
              <a:rPr lang="nl-BE" dirty="0"/>
              <a:t>In dit werkcollege: 2 types en hun non-parametrisch alternatief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 err="1"/>
              <a:t>One</a:t>
            </a:r>
            <a:r>
              <a:rPr lang="nl-BE" dirty="0"/>
              <a:t>-way independent ANOVA</a:t>
            </a:r>
          </a:p>
          <a:p>
            <a:pPr marL="2393550" lvl="3" indent="-514350"/>
            <a:r>
              <a:rPr lang="nl-BE" dirty="0"/>
              <a:t>Kruskal-Wallis toets (non-parametrisch)</a:t>
            </a:r>
          </a:p>
          <a:p>
            <a:pPr marL="2393550" lvl="3" indent="-514350"/>
            <a:endParaRPr lang="nl-BE" dirty="0"/>
          </a:p>
          <a:p>
            <a:pPr marL="1821150" lvl="2" indent="-514350">
              <a:buFont typeface="+mj-lt"/>
              <a:buAutoNum type="arabicPeriod"/>
            </a:pPr>
            <a:r>
              <a:rPr lang="nl-BE" dirty="0" err="1"/>
              <a:t>One</a:t>
            </a:r>
            <a:r>
              <a:rPr lang="nl-BE" dirty="0"/>
              <a:t>-way </a:t>
            </a:r>
            <a:r>
              <a:rPr lang="nl-BE" dirty="0" err="1"/>
              <a:t>repeated</a:t>
            </a:r>
            <a:r>
              <a:rPr lang="nl-BE" dirty="0"/>
              <a:t> </a:t>
            </a:r>
            <a:r>
              <a:rPr lang="nl-BE" dirty="0" err="1"/>
              <a:t>measures</a:t>
            </a:r>
            <a:r>
              <a:rPr lang="nl-BE" dirty="0"/>
              <a:t> ANOVA</a:t>
            </a:r>
          </a:p>
          <a:p>
            <a:pPr marL="2393550" lvl="3" indent="-514350"/>
            <a:r>
              <a:rPr lang="nl-BE" dirty="0"/>
              <a:t>Friedman toets (non-parametrisch)</a:t>
            </a:r>
          </a:p>
          <a:p>
            <a:pPr marL="600750" indent="-514350"/>
            <a:endParaRPr lang="nl-BE" b="1" dirty="0"/>
          </a:p>
          <a:p>
            <a:pPr marL="600750" indent="-514350"/>
            <a:r>
              <a:rPr lang="nl-BE" b="1" dirty="0"/>
              <a:t>Eigenlijk heel gelijkaardig aan vorige week</a:t>
            </a:r>
            <a:r>
              <a:rPr lang="nl-BE" dirty="0"/>
              <a:t>: </a:t>
            </a:r>
            <a:br>
              <a:rPr lang="nl-BE" dirty="0"/>
            </a:br>
            <a:r>
              <a:rPr lang="nl-BE" dirty="0"/>
              <a:t>2 soorten t-toetsen (voor onafhankelijke en afhankelijke groepen) </a:t>
            </a:r>
            <a:br>
              <a:rPr lang="nl-BE" dirty="0"/>
            </a:br>
            <a:r>
              <a:rPr lang="nl-BE" dirty="0"/>
              <a:t>en hun non-parametrisch alternatief.</a:t>
            </a:r>
          </a:p>
          <a:p>
            <a:pPr marL="600750" indent="-514350"/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842D0B7-574A-49F6-9B15-0D588A4A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6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49782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 dirty="0"/>
              <a:t>Opgave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SPSS-WERKCOLLEGE 5</a:t>
            </a:r>
          </a:p>
        </p:txBody>
      </p:sp>
    </p:spTree>
    <p:extLst>
      <p:ext uri="{BB962C8B-B14F-4D97-AF65-F5344CB8AC3E}">
        <p14:creationId xmlns:p14="http://schemas.microsoft.com/office/powerpoint/2010/main" val="2357406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3200" dirty="0"/>
              <a:t>Opgave 1: Verband Leefsituatie x Compulsief Internetgebruik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1</a:t>
            </a:r>
          </a:p>
          <a:p>
            <a:r>
              <a:rPr lang="nl-BE" dirty="0"/>
              <a:t>Open ‘DATA_WAVE2_CenW.sav’. </a:t>
            </a:r>
            <a:r>
              <a:rPr lang="nl-NL" dirty="0"/>
              <a:t>Is er een verschil tussen respondenten die voltijds, </a:t>
            </a:r>
            <a:r>
              <a:rPr lang="nl-NL" dirty="0" err="1"/>
              <a:t>deeltijs</a:t>
            </a:r>
            <a:r>
              <a:rPr lang="nl-NL" dirty="0"/>
              <a:t> of niet samenwonen met hun partner (W2_Leefsit) op vlak van compulsief internetgebruik (W2_CIUS1 t.e.m. W2_CIUS5)?</a:t>
            </a:r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8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18008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 dirty="0"/>
              <a:t>Opgave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SPSS-WERKCOLLEGE 5 (24/11)</a:t>
            </a:r>
          </a:p>
        </p:txBody>
      </p:sp>
    </p:spTree>
    <p:extLst>
      <p:ext uri="{BB962C8B-B14F-4D97-AF65-F5344CB8AC3E}">
        <p14:creationId xmlns:p14="http://schemas.microsoft.com/office/powerpoint/2010/main" val="3732328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2: Verband Tijd x Financiële stress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2</a:t>
            </a:r>
          </a:p>
          <a:p>
            <a:r>
              <a:rPr lang="nl-BE" dirty="0"/>
              <a:t>Open ‘DATA_WAVE1_WAVE2_CenW.sav’. Van de respondenten die zowel aan Wave 1 als Wave 2 deelgenomen hebben, hebben we drie keer de mate van financiële stress gemeten: </a:t>
            </a:r>
          </a:p>
          <a:p>
            <a:pPr lvl="1"/>
            <a:r>
              <a:rPr lang="nl-BE" dirty="0"/>
              <a:t>(1) de financiële stress tijdens Wave 1 (W1_FINSTRESS1 tot en met W1_FINSTRESS3); </a:t>
            </a:r>
          </a:p>
          <a:p>
            <a:pPr lvl="1"/>
            <a:r>
              <a:rPr lang="nl-BE" dirty="0"/>
              <a:t>(2) de financiële stress tijdens Wave 2 (W2_FINSTRESS1 tot en met W2_FINSTRESS3); </a:t>
            </a:r>
          </a:p>
          <a:p>
            <a:pPr lvl="1"/>
            <a:r>
              <a:rPr lang="nl-BE" dirty="0"/>
              <a:t>(3) de financiële stress die men heeft voor de toekomst (W2_FINSTRESS4 tot en met W2_FINSTRESS6). </a:t>
            </a:r>
          </a:p>
          <a:p>
            <a:r>
              <a:rPr lang="nl-BE" dirty="0"/>
              <a:t>Is er een verschil in de gemiddelde financiële stress voor de drie tijdsperiodes?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10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47559384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_UGent_EN_P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Universiteit Ge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1750">
          <a:solidFill>
            <a:srgbClr val="1E64C8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>
          <a:solidFill>
            <a:srgbClr val="1E64C8"/>
          </a:solidFill>
          <a:headEnd type="triangle" w="lg" len="lg"/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25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-UK-LW_1_0_13.potx" id="{3201E771-F791-46B7-8648-80514AB81F54}" vid="{1858D3B1-E83B-4AD4-AB74-FC64152F8D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43D96E506A014DBE714040E5AF9AEC" ma:contentTypeVersion="14" ma:contentTypeDescription="Een nieuw document maken." ma:contentTypeScope="" ma:versionID="4db89dd7ed044dc385e9181649206e88">
  <xsd:schema xmlns:xsd="http://www.w3.org/2001/XMLSchema" xmlns:xs="http://www.w3.org/2001/XMLSchema" xmlns:p="http://schemas.microsoft.com/office/2006/metadata/properties" xmlns:ns3="8f55a228-4e6a-4e20-9588-cb37277e13ee" xmlns:ns4="6f55e950-31a6-446f-893a-ec17b70e2fc0" targetNamespace="http://schemas.microsoft.com/office/2006/metadata/properties" ma:root="true" ma:fieldsID="73c8890e8e488906fdb084e1f109c950" ns3:_="" ns4:_="">
    <xsd:import namespace="8f55a228-4e6a-4e20-9588-cb37277e13ee"/>
    <xsd:import namespace="6f55e950-31a6-446f-893a-ec17b70e2fc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55a228-4e6a-4e20-9588-cb37277e13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55e950-31a6-446f-893a-ec17b70e2fc0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335687-23C4-4A0C-B05E-C4FB348DC452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  <ds:schemaRef ds:uri="6f55e950-31a6-446f-893a-ec17b70e2fc0"/>
    <ds:schemaRef ds:uri="http://schemas.microsoft.com/office/infopath/2007/PartnerControls"/>
    <ds:schemaRef ds:uri="8f55a228-4e6a-4e20-9588-cb37277e13e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038F6D0-C956-4627-8011-D89B0CC117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55a228-4e6a-4e20-9588-cb37277e13ee"/>
    <ds:schemaRef ds:uri="6f55e950-31a6-446f-893a-ec17b70e2f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8AA655A-7503-4B9C-B60F-332B9CF45DD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Powerpoint_UGent_EN_PS</Template>
  <TotalTime>14876</TotalTime>
  <Words>506</Words>
  <Application>Microsoft Office PowerPoint</Application>
  <PresentationFormat>Aangepast</PresentationFormat>
  <Paragraphs>70</Paragraphs>
  <Slides>10</Slides>
  <Notes>4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 Math</vt:lpstr>
      <vt:lpstr>Symbol</vt:lpstr>
      <vt:lpstr>Verdana</vt:lpstr>
      <vt:lpstr>Wingdings</vt:lpstr>
      <vt:lpstr>Powerpoint_UGent_EN_PS</vt:lpstr>
      <vt:lpstr>Spss-werkcollege 5 (28/11)  </vt:lpstr>
      <vt:lpstr>H11 twee OF MEER gemiddelden vergelijken</vt:lpstr>
      <vt:lpstr>Inleiding</vt:lpstr>
      <vt:lpstr>Inleiding</vt:lpstr>
      <vt:lpstr>Inleiding</vt:lpstr>
      <vt:lpstr>Inleiding</vt:lpstr>
      <vt:lpstr>Opgave 1</vt:lpstr>
      <vt:lpstr>Opgave 1: Verband Leefsituatie x Compulsief Internetgebruik</vt:lpstr>
      <vt:lpstr>Opgave 2</vt:lpstr>
      <vt:lpstr>Opgave 2: Verband Tijd x Financiële stress</vt:lpstr>
    </vt:vector>
  </TitlesOfParts>
  <Company>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Ponnet</dc:creator>
  <cp:lastModifiedBy>Fauve Duprez</cp:lastModifiedBy>
  <cp:revision>484</cp:revision>
  <cp:lastPrinted>2022-09-25T19:30:31Z</cp:lastPrinted>
  <dcterms:created xsi:type="dcterms:W3CDTF">2016-09-23T07:15:13Z</dcterms:created>
  <dcterms:modified xsi:type="dcterms:W3CDTF">2024-11-26T10:04:05Z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censed to">
    <vt:lpwstr>Ghent University</vt:lpwstr>
  </property>
  <property fmtid="{D5CDD505-2E9C-101B-9397-08002B2CF9AE}" pid="3" name="Version">
    <vt:lpwstr>1.0</vt:lpwstr>
  </property>
  <property fmtid="{D5CDD505-2E9C-101B-9397-08002B2CF9AE}" pid="4" name="Date">
    <vt:filetime>2016-09-20T22:00:00Z</vt:filetime>
  </property>
  <property fmtid="{D5CDD505-2E9C-101B-9397-08002B2CF9AE}" pid="5" name="Build">
    <vt:i4>13</vt:i4>
  </property>
  <property fmtid="{D5CDD505-2E9C-101B-9397-08002B2CF9AE}" pid="6" name="Cmt 1">
    <vt:lpwstr>create</vt:lpwstr>
  </property>
  <property fmtid="{D5CDD505-2E9C-101B-9397-08002B2CF9AE}" pid="7" name="Cmt 2">
    <vt:lpwstr>1st draft</vt:lpwstr>
  </property>
  <property fmtid="{D5CDD505-2E9C-101B-9397-08002B2CF9AE}" pid="8" name="Cmt 3">
    <vt:lpwstr>Corporate splitt off</vt:lpwstr>
  </property>
  <property fmtid="{D5CDD505-2E9C-101B-9397-08002B2CF9AE}" pid="9" name="Cmt 4">
    <vt:lpwstr>2nd draft</vt:lpwstr>
  </property>
  <property fmtid="{D5CDD505-2E9C-101B-9397-08002B2CF9AE}" pid="10" name="Cmt 5">
    <vt:lpwstr>set text box and shape defaults</vt:lpwstr>
  </property>
  <property fmtid="{D5CDD505-2E9C-101B-9397-08002B2CF9AE}" pid="11" name="Cmt 6">
    <vt:lpwstr>end slide text acc. to letter</vt:lpwstr>
  </property>
  <property fmtid="{D5CDD505-2E9C-101B-9397-08002B2CF9AE}" pid="12" name="Cmt 7">
    <vt:lpwstr>logo opening slide sharpened</vt:lpwstr>
  </property>
  <property fmtid="{D5CDD505-2E9C-101B-9397-08002B2CF9AE}" pid="13" name="Cmt 8-9">
    <vt:lpwstr>comments 19-9-2016</vt:lpwstr>
  </property>
  <property fmtid="{D5CDD505-2E9C-101B-9397-08002B2CF9AE}" pid="14" name="Cmt 10">
    <vt:lpwstr>social media data redesigned</vt:lpwstr>
  </property>
  <property fmtid="{D5CDD505-2E9C-101B-9397-08002B2CF9AE}" pid="15" name="Cmt 11">
    <vt:lpwstr>Title Slide renamed to TitleSlide</vt:lpwstr>
  </property>
  <property fmtid="{D5CDD505-2E9C-101B-9397-08002B2CF9AE}" pid="16" name="Cmt 12">
    <vt:lpwstr>Title and text size</vt:lpwstr>
  </property>
  <property fmtid="{D5CDD505-2E9C-101B-9397-08002B2CF9AE}" pid="17" name="Cmt 13">
    <vt:lpwstr>socmed pictos &gt; normal view</vt:lpwstr>
  </property>
  <property fmtid="{D5CDD505-2E9C-101B-9397-08002B2CF9AE}" pid="18" name="ContentTypeId">
    <vt:lpwstr>0x0101003A43D96E506A014DBE714040E5AF9AEC</vt:lpwstr>
  </property>
</Properties>
</file>